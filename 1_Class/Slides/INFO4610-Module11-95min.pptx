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daniels-logo-horizontal-white.png"/>
          <p:cNvPicPr>
            <a:picLocks noChangeAspect="1"/>
          </p:cNvPicPr>
          <p:nvPr/>
        </p:nvPicPr>
        <p:blipFill>
          <a:blip r:embed="rId2"/>
          <a:stretch>
            <a:fillRect/>
          </a:stretch>
        </p:blipFill>
        <p:spPr>
          <a:xfrm>
            <a:off x="640080" y="685800"/>
            <a:ext cx="2286000" cy="306324"/>
          </a:xfrm>
          <a:prstGeom prst="rect">
            <a:avLst/>
          </a:prstGeom>
        </p:spPr>
      </p:pic>
      <p:sp>
        <p:nvSpPr>
          <p:cNvPr id="4" name="TextBox 3"/>
          <p:cNvSpPr txBox="1"/>
          <p:nvPr/>
        </p:nvSpPr>
        <p:spPr>
          <a:xfrm>
            <a:off x="640080" y="1965960"/>
            <a:ext cx="9601200" cy="2103120"/>
          </a:xfrm>
          <a:prstGeom prst="rect">
            <a:avLst/>
          </a:prstGeom>
          <a:noFill/>
        </p:spPr>
        <p:txBody>
          <a:bodyPr wrap="square" lIns="0" rIns="0" tIns="0" bIns="0" anchor="t">
            <a:spAutoFit/>
          </a:bodyPr>
          <a:lstStyle/>
          <a:p>
            <a:pPr algn="l">
              <a:lnSpc>
                <a:spcPts val="5400"/>
              </a:lnSpc>
            </a:pPr>
            <a:r>
              <a:rPr sz="4800" b="1" i="0">
                <a:solidFill>
                  <a:srgbClr val="FFFFFF"/>
                </a:solidFill>
                <a:latin typeface="Cambria"/>
              </a:rPr>
              <a:t>Using AI on a Real</a:t>
            </a:r>
          </a:p>
          <a:p>
            <a:pPr algn="l">
              <a:lnSpc>
                <a:spcPts val="5400"/>
              </a:lnSpc>
            </a:pPr>
            <a:r>
              <a:rPr sz="4800" b="1" i="0">
                <a:solidFill>
                  <a:srgbClr val="FFFFFF"/>
                </a:solidFill>
                <a:latin typeface="Cambria"/>
              </a:rPr>
              <a:t>Business Decision</a:t>
            </a:r>
          </a:p>
        </p:txBody>
      </p:sp>
      <p:sp>
        <p:nvSpPr>
          <p:cNvPr id="5" name="TextBox 4"/>
          <p:cNvSpPr txBox="1"/>
          <p:nvPr/>
        </p:nvSpPr>
        <p:spPr>
          <a:xfrm>
            <a:off x="640080" y="4160520"/>
            <a:ext cx="9601200" cy="365760"/>
          </a:xfrm>
          <a:prstGeom prst="rect">
            <a:avLst/>
          </a:prstGeom>
          <a:noFill/>
        </p:spPr>
        <p:txBody>
          <a:bodyPr wrap="square" lIns="0" rIns="0" tIns="0" bIns="0" anchor="t">
            <a:spAutoFit/>
          </a:bodyPr>
          <a:lstStyle/>
          <a:p>
            <a:pPr algn="l"/>
            <a:r>
              <a:rPr sz="1800" b="0" i="0">
                <a:solidFill>
                  <a:srgbClr val="D5D2C5"/>
                </a:solidFill>
                <a:latin typeface="Calibri"/>
              </a:rPr>
              <a:t>One session  |  Frame it, build it, and make someone act on it</a:t>
            </a:r>
          </a:p>
        </p:txBody>
      </p:sp>
      <p:sp>
        <p:nvSpPr>
          <p:cNvPr id="6" name="Rectangle 5"/>
          <p:cNvSpPr/>
          <p:nvPr/>
        </p:nvSpPr>
        <p:spPr>
          <a:xfrm>
            <a:off x="640080" y="4892040"/>
            <a:ext cx="1005840" cy="32004"/>
          </a:xfrm>
          <a:prstGeom prst="rect">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5138928"/>
            <a:ext cx="9144000" cy="274320"/>
          </a:xfrm>
          <a:prstGeom prst="rect">
            <a:avLst/>
          </a:prstGeom>
          <a:noFill/>
        </p:spPr>
        <p:txBody>
          <a:bodyPr wrap="square" lIns="0" rIns="0" tIns="0" bIns="0" anchor="t">
            <a:spAutoFit/>
          </a:bodyPr>
          <a:lstStyle/>
          <a:p>
            <a:pPr algn="l"/>
            <a:r>
              <a:rPr sz="1300" b="0" i="0">
                <a:solidFill>
                  <a:srgbClr val="FFFFFF"/>
                </a:solidFill>
                <a:latin typeface="Calibri"/>
              </a:rPr>
              <a:t>INFO 4610  |  Business Analytics  |  95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AGENDA</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Tonight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783080"/>
            <a:ext cx="868680" cy="292608"/>
          </a:xfrm>
          <a:prstGeom prst="rect">
            <a:avLst/>
          </a:prstGeom>
          <a:noFill/>
        </p:spPr>
        <p:txBody>
          <a:bodyPr wrap="square" lIns="0" rIns="0" tIns="0" bIns="0" anchor="t">
            <a:spAutoFit/>
          </a:bodyPr>
          <a:lstStyle/>
          <a:p>
            <a:pPr algn="l"/>
            <a:r>
              <a:rPr sz="1500" b="1" i="0">
                <a:solidFill>
                  <a:srgbClr val="BA0C2F"/>
                </a:solidFill>
                <a:latin typeface="Calibri"/>
              </a:rPr>
              <a:t>6:00</a:t>
            </a:r>
          </a:p>
        </p:txBody>
      </p:sp>
      <p:sp>
        <p:nvSpPr>
          <p:cNvPr id="6" name="TextBox 5"/>
          <p:cNvSpPr txBox="1"/>
          <p:nvPr/>
        </p:nvSpPr>
        <p:spPr>
          <a:xfrm>
            <a:off x="1554480" y="1783080"/>
            <a:ext cx="6035040" cy="292608"/>
          </a:xfrm>
          <a:prstGeom prst="rect">
            <a:avLst/>
          </a:prstGeom>
          <a:noFill/>
        </p:spPr>
        <p:txBody>
          <a:bodyPr wrap="square" lIns="0" rIns="0" tIns="0" bIns="0" anchor="t">
            <a:spAutoFit/>
          </a:bodyPr>
          <a:lstStyle/>
          <a:p>
            <a:pPr algn="l"/>
            <a:r>
              <a:rPr sz="1500" b="1" i="0">
                <a:solidFill>
                  <a:srgbClr val="17151A"/>
                </a:solidFill>
                <a:latin typeface="Calibri"/>
              </a:rPr>
              <a:t>Frame the decision</a:t>
            </a:r>
          </a:p>
        </p:txBody>
      </p:sp>
      <p:sp>
        <p:nvSpPr>
          <p:cNvPr id="7" name="TextBox 6"/>
          <p:cNvSpPr txBox="1"/>
          <p:nvPr/>
        </p:nvSpPr>
        <p:spPr>
          <a:xfrm>
            <a:off x="7772400" y="1819656"/>
            <a:ext cx="914400" cy="256032"/>
          </a:xfrm>
          <a:prstGeom prst="rect">
            <a:avLst/>
          </a:prstGeom>
          <a:noFill/>
        </p:spPr>
        <p:txBody>
          <a:bodyPr wrap="square" lIns="0" rIns="0" tIns="0" bIns="0" anchor="t">
            <a:spAutoFit/>
          </a:bodyPr>
          <a:lstStyle/>
          <a:p>
            <a:pPr algn="l"/>
            <a:r>
              <a:rPr sz="1100" b="0" i="0">
                <a:solidFill>
                  <a:srgbClr val="54565B"/>
                </a:solidFill>
                <a:latin typeface="Calibri"/>
              </a:rPr>
              <a:t>25 min</a:t>
            </a:r>
          </a:p>
        </p:txBody>
      </p:sp>
      <p:sp>
        <p:nvSpPr>
          <p:cNvPr id="8" name="TextBox 7"/>
          <p:cNvSpPr txBox="1"/>
          <p:nvPr/>
        </p:nvSpPr>
        <p:spPr>
          <a:xfrm>
            <a:off x="1554480" y="2093976"/>
            <a:ext cx="9144000" cy="274320"/>
          </a:xfrm>
          <a:prstGeom prst="rect">
            <a:avLst/>
          </a:prstGeom>
          <a:noFill/>
        </p:spPr>
        <p:txBody>
          <a:bodyPr wrap="square" lIns="0" rIns="0" tIns="0" bIns="0" anchor="t">
            <a:spAutoFit/>
          </a:bodyPr>
          <a:lstStyle/>
          <a:p>
            <a:pPr algn="l"/>
            <a:r>
              <a:rPr sz="1200" b="0" i="0">
                <a:solidFill>
                  <a:srgbClr val="54565B"/>
                </a:solidFill>
                <a:latin typeface="Calibri"/>
              </a:rPr>
              <a:t>The question, who owns it, and what would actually change their mind.</a:t>
            </a:r>
          </a:p>
        </p:txBody>
      </p:sp>
      <p:sp>
        <p:nvSpPr>
          <p:cNvPr id="9" name="TextBox 8"/>
          <p:cNvSpPr txBox="1"/>
          <p:nvPr/>
        </p:nvSpPr>
        <p:spPr>
          <a:xfrm>
            <a:off x="640080" y="2532888"/>
            <a:ext cx="868680" cy="292608"/>
          </a:xfrm>
          <a:prstGeom prst="rect">
            <a:avLst/>
          </a:prstGeom>
          <a:noFill/>
        </p:spPr>
        <p:txBody>
          <a:bodyPr wrap="square" lIns="0" rIns="0" tIns="0" bIns="0" anchor="t">
            <a:spAutoFit/>
          </a:bodyPr>
          <a:lstStyle/>
          <a:p>
            <a:pPr algn="l"/>
            <a:r>
              <a:rPr sz="1500" b="1" i="0">
                <a:solidFill>
                  <a:srgbClr val="BA0C2F"/>
                </a:solidFill>
                <a:latin typeface="Calibri"/>
              </a:rPr>
              <a:t>6:25</a:t>
            </a:r>
          </a:p>
        </p:txBody>
      </p:sp>
      <p:sp>
        <p:nvSpPr>
          <p:cNvPr id="10" name="TextBox 9"/>
          <p:cNvSpPr txBox="1"/>
          <p:nvPr/>
        </p:nvSpPr>
        <p:spPr>
          <a:xfrm>
            <a:off x="1554480" y="2532888"/>
            <a:ext cx="6035040" cy="292608"/>
          </a:xfrm>
          <a:prstGeom prst="rect">
            <a:avLst/>
          </a:prstGeom>
          <a:noFill/>
        </p:spPr>
        <p:txBody>
          <a:bodyPr wrap="square" lIns="0" rIns="0" tIns="0" bIns="0" anchor="t">
            <a:spAutoFit/>
          </a:bodyPr>
          <a:lstStyle/>
          <a:p>
            <a:pPr algn="l"/>
            <a:r>
              <a:rPr sz="1500" b="1" i="0">
                <a:solidFill>
                  <a:srgbClr val="17151A"/>
                </a:solidFill>
                <a:latin typeface="Calibri"/>
              </a:rPr>
              <a:t>Work: frame yours, then read-outs</a:t>
            </a:r>
          </a:p>
        </p:txBody>
      </p:sp>
      <p:sp>
        <p:nvSpPr>
          <p:cNvPr id="11" name="TextBox 10"/>
          <p:cNvSpPr txBox="1"/>
          <p:nvPr/>
        </p:nvSpPr>
        <p:spPr>
          <a:xfrm>
            <a:off x="7772400" y="2569464"/>
            <a:ext cx="914400" cy="256032"/>
          </a:xfrm>
          <a:prstGeom prst="rect">
            <a:avLst/>
          </a:prstGeom>
          <a:noFill/>
        </p:spPr>
        <p:txBody>
          <a:bodyPr wrap="square" lIns="0" rIns="0" tIns="0" bIns="0" anchor="t">
            <a:spAutoFit/>
          </a:bodyPr>
          <a:lstStyle/>
          <a:p>
            <a:pPr algn="l"/>
            <a:r>
              <a:rPr sz="1100" b="0" i="0">
                <a:solidFill>
                  <a:srgbClr val="54565B"/>
                </a:solidFill>
                <a:latin typeface="Calibri"/>
              </a:rPr>
              <a:t>24 min</a:t>
            </a:r>
          </a:p>
        </p:txBody>
      </p:sp>
      <p:sp>
        <p:nvSpPr>
          <p:cNvPr id="12" name="TextBox 11"/>
          <p:cNvSpPr txBox="1"/>
          <p:nvPr/>
        </p:nvSpPr>
        <p:spPr>
          <a:xfrm>
            <a:off x="1554480" y="2843784"/>
            <a:ext cx="9144000" cy="274320"/>
          </a:xfrm>
          <a:prstGeom prst="rect">
            <a:avLst/>
          </a:prstGeom>
          <a:noFill/>
        </p:spPr>
        <p:txBody>
          <a:bodyPr wrap="square" lIns="0" rIns="0" tIns="0" bIns="0" anchor="t">
            <a:spAutoFit/>
          </a:bodyPr>
          <a:lstStyle/>
          <a:p>
            <a:pPr algn="l"/>
            <a:r>
              <a:rPr sz="1200" b="0" i="0">
                <a:solidFill>
                  <a:srgbClr val="54565B"/>
                </a:solidFill>
                <a:latin typeface="Calibri"/>
              </a:rPr>
              <a:t>Your own decision, in your own words, then we hear a few aloud.</a:t>
            </a:r>
          </a:p>
        </p:txBody>
      </p:sp>
      <p:sp>
        <p:nvSpPr>
          <p:cNvPr id="13" name="TextBox 12"/>
          <p:cNvSpPr txBox="1"/>
          <p:nvPr/>
        </p:nvSpPr>
        <p:spPr>
          <a:xfrm>
            <a:off x="640080" y="3282696"/>
            <a:ext cx="868680" cy="292608"/>
          </a:xfrm>
          <a:prstGeom prst="rect">
            <a:avLst/>
          </a:prstGeom>
          <a:noFill/>
        </p:spPr>
        <p:txBody>
          <a:bodyPr wrap="square" lIns="0" rIns="0" tIns="0" bIns="0" anchor="t">
            <a:spAutoFit/>
          </a:bodyPr>
          <a:lstStyle/>
          <a:p>
            <a:pPr algn="l"/>
            <a:r>
              <a:rPr sz="1500" b="1" i="0">
                <a:solidFill>
                  <a:srgbClr val="BA0C2F"/>
                </a:solidFill>
                <a:latin typeface="Calibri"/>
              </a:rPr>
              <a:t>6:49</a:t>
            </a:r>
          </a:p>
        </p:txBody>
      </p:sp>
      <p:sp>
        <p:nvSpPr>
          <p:cNvPr id="14" name="TextBox 13"/>
          <p:cNvSpPr txBox="1"/>
          <p:nvPr/>
        </p:nvSpPr>
        <p:spPr>
          <a:xfrm>
            <a:off x="1554480" y="3282696"/>
            <a:ext cx="6035040" cy="292608"/>
          </a:xfrm>
          <a:prstGeom prst="rect">
            <a:avLst/>
          </a:prstGeom>
          <a:noFill/>
        </p:spPr>
        <p:txBody>
          <a:bodyPr wrap="square" lIns="0" rIns="0" tIns="0" bIns="0" anchor="t">
            <a:spAutoFit/>
          </a:bodyPr>
          <a:lstStyle/>
          <a:p>
            <a:pPr algn="l"/>
            <a:r>
              <a:rPr sz="1500" b="1" i="0">
                <a:solidFill>
                  <a:srgbClr val="17151A"/>
                </a:solidFill>
                <a:latin typeface="Calibri"/>
              </a:rPr>
              <a:t>Can your data carry it?</a:t>
            </a:r>
          </a:p>
        </p:txBody>
      </p:sp>
      <p:sp>
        <p:nvSpPr>
          <p:cNvPr id="15" name="TextBox 14"/>
          <p:cNvSpPr txBox="1"/>
          <p:nvPr/>
        </p:nvSpPr>
        <p:spPr>
          <a:xfrm>
            <a:off x="7772400" y="3319272"/>
            <a:ext cx="914400" cy="256032"/>
          </a:xfrm>
          <a:prstGeom prst="rect">
            <a:avLst/>
          </a:prstGeom>
          <a:noFill/>
        </p:spPr>
        <p:txBody>
          <a:bodyPr wrap="square" lIns="0" rIns="0" tIns="0" bIns="0" anchor="t">
            <a:spAutoFit/>
          </a:bodyPr>
          <a:lstStyle/>
          <a:p>
            <a:pPr algn="l"/>
            <a:r>
              <a:rPr sz="1100" b="0" i="0">
                <a:solidFill>
                  <a:srgbClr val="54565B"/>
                </a:solidFill>
                <a:latin typeface="Calibri"/>
              </a:rPr>
              <a:t>13 min</a:t>
            </a:r>
          </a:p>
        </p:txBody>
      </p:sp>
      <p:sp>
        <p:nvSpPr>
          <p:cNvPr id="16" name="TextBox 15"/>
          <p:cNvSpPr txBox="1"/>
          <p:nvPr/>
        </p:nvSpPr>
        <p:spPr>
          <a:xfrm>
            <a:off x="1554480" y="3593591"/>
            <a:ext cx="9144000" cy="274320"/>
          </a:xfrm>
          <a:prstGeom prst="rect">
            <a:avLst/>
          </a:prstGeom>
          <a:noFill/>
        </p:spPr>
        <p:txBody>
          <a:bodyPr wrap="square" lIns="0" rIns="0" tIns="0" bIns="0" anchor="t">
            <a:spAutoFit/>
          </a:bodyPr>
          <a:lstStyle/>
          <a:p>
            <a:pPr algn="l"/>
            <a:r>
              <a:rPr sz="1200" b="0" i="0">
                <a:solidFill>
                  <a:srgbClr val="54565B"/>
                </a:solidFill>
                <a:latin typeface="Calibri"/>
              </a:rPr>
              <a:t>Two rules, two traps, and the honesty you owe every number.</a:t>
            </a:r>
          </a:p>
        </p:txBody>
      </p:sp>
      <p:sp>
        <p:nvSpPr>
          <p:cNvPr id="17" name="TextBox 16"/>
          <p:cNvSpPr txBox="1"/>
          <p:nvPr/>
        </p:nvSpPr>
        <p:spPr>
          <a:xfrm>
            <a:off x="640080" y="4032504"/>
            <a:ext cx="868680" cy="292608"/>
          </a:xfrm>
          <a:prstGeom prst="rect">
            <a:avLst/>
          </a:prstGeom>
          <a:noFill/>
        </p:spPr>
        <p:txBody>
          <a:bodyPr wrap="square" lIns="0" rIns="0" tIns="0" bIns="0" anchor="t">
            <a:spAutoFit/>
          </a:bodyPr>
          <a:lstStyle/>
          <a:p>
            <a:pPr algn="l"/>
            <a:r>
              <a:rPr sz="1500" b="1" i="0">
                <a:solidFill>
                  <a:srgbClr val="BA0C2F"/>
                </a:solidFill>
                <a:latin typeface="Calibri"/>
              </a:rPr>
              <a:t>7:02</a:t>
            </a:r>
          </a:p>
        </p:txBody>
      </p:sp>
      <p:sp>
        <p:nvSpPr>
          <p:cNvPr id="18" name="TextBox 17"/>
          <p:cNvSpPr txBox="1"/>
          <p:nvPr/>
        </p:nvSpPr>
        <p:spPr>
          <a:xfrm>
            <a:off x="1554480" y="4032504"/>
            <a:ext cx="6035040" cy="292608"/>
          </a:xfrm>
          <a:prstGeom prst="rect">
            <a:avLst/>
          </a:prstGeom>
          <a:noFill/>
        </p:spPr>
        <p:txBody>
          <a:bodyPr wrap="square" lIns="0" rIns="0" tIns="0" bIns="0" anchor="t">
            <a:spAutoFit/>
          </a:bodyPr>
          <a:lstStyle/>
          <a:p>
            <a:pPr algn="l"/>
            <a:r>
              <a:rPr sz="1500" b="1" i="0">
                <a:solidFill>
                  <a:srgbClr val="17151A"/>
                </a:solidFill>
                <a:latin typeface="Calibri"/>
              </a:rPr>
              <a:t>Work: build one thing</a:t>
            </a:r>
          </a:p>
        </p:txBody>
      </p:sp>
      <p:sp>
        <p:nvSpPr>
          <p:cNvPr id="19" name="TextBox 18"/>
          <p:cNvSpPr txBox="1"/>
          <p:nvPr/>
        </p:nvSpPr>
        <p:spPr>
          <a:xfrm>
            <a:off x="7772400" y="4069080"/>
            <a:ext cx="914400" cy="256032"/>
          </a:xfrm>
          <a:prstGeom prst="rect">
            <a:avLst/>
          </a:prstGeom>
          <a:noFill/>
        </p:spPr>
        <p:txBody>
          <a:bodyPr wrap="square" lIns="0" rIns="0" tIns="0" bIns="0" anchor="t">
            <a:spAutoFit/>
          </a:bodyPr>
          <a:lstStyle/>
          <a:p>
            <a:pPr algn="l"/>
            <a:r>
              <a:rPr sz="1100" b="0" i="0">
                <a:solidFill>
                  <a:srgbClr val="54565B"/>
                </a:solidFill>
                <a:latin typeface="Calibri"/>
              </a:rPr>
              <a:t>18 min</a:t>
            </a:r>
          </a:p>
        </p:txBody>
      </p:sp>
      <p:sp>
        <p:nvSpPr>
          <p:cNvPr id="20" name="TextBox 19"/>
          <p:cNvSpPr txBox="1"/>
          <p:nvPr/>
        </p:nvSpPr>
        <p:spPr>
          <a:xfrm>
            <a:off x="1554480" y="4343400"/>
            <a:ext cx="9144000" cy="274320"/>
          </a:xfrm>
          <a:prstGeom prst="rect">
            <a:avLst/>
          </a:prstGeom>
          <a:noFill/>
        </p:spPr>
        <p:txBody>
          <a:bodyPr wrap="square" lIns="0" rIns="0" tIns="0" bIns="0" anchor="t">
            <a:spAutoFit/>
          </a:bodyPr>
          <a:lstStyle/>
          <a:p>
            <a:pPr algn="l"/>
            <a:r>
              <a:rPr sz="1200" b="0" i="0">
                <a:solidFill>
                  <a:srgbClr val="54565B"/>
                </a:solidFill>
                <a:latin typeface="Calibri"/>
              </a:rPr>
              <a:t>One use case, properly. Not three, half finished.</a:t>
            </a:r>
          </a:p>
        </p:txBody>
      </p:sp>
      <p:sp>
        <p:nvSpPr>
          <p:cNvPr id="21" name="TextBox 20"/>
          <p:cNvSpPr txBox="1"/>
          <p:nvPr/>
        </p:nvSpPr>
        <p:spPr>
          <a:xfrm>
            <a:off x="640080" y="4782312"/>
            <a:ext cx="868680" cy="292608"/>
          </a:xfrm>
          <a:prstGeom prst="rect">
            <a:avLst/>
          </a:prstGeom>
          <a:noFill/>
        </p:spPr>
        <p:txBody>
          <a:bodyPr wrap="square" lIns="0" rIns="0" tIns="0" bIns="0" anchor="t">
            <a:spAutoFit/>
          </a:bodyPr>
          <a:lstStyle/>
          <a:p>
            <a:pPr algn="l"/>
            <a:r>
              <a:rPr sz="1500" b="1" i="0">
                <a:solidFill>
                  <a:srgbClr val="BA0C2F"/>
                </a:solidFill>
                <a:latin typeface="Calibri"/>
              </a:rPr>
              <a:t>7:20</a:t>
            </a:r>
          </a:p>
        </p:txBody>
      </p:sp>
      <p:sp>
        <p:nvSpPr>
          <p:cNvPr id="22" name="TextBox 21"/>
          <p:cNvSpPr txBox="1"/>
          <p:nvPr/>
        </p:nvSpPr>
        <p:spPr>
          <a:xfrm>
            <a:off x="1554480" y="4782312"/>
            <a:ext cx="6035040" cy="292608"/>
          </a:xfrm>
          <a:prstGeom prst="rect">
            <a:avLst/>
          </a:prstGeom>
          <a:noFill/>
        </p:spPr>
        <p:txBody>
          <a:bodyPr wrap="square" lIns="0" rIns="0" tIns="0" bIns="0" anchor="t">
            <a:spAutoFit/>
          </a:bodyPr>
          <a:lstStyle/>
          <a:p>
            <a:pPr algn="l"/>
            <a:r>
              <a:rPr sz="1500" b="1" i="0">
                <a:solidFill>
                  <a:srgbClr val="17151A"/>
                </a:solidFill>
                <a:latin typeface="Calibri"/>
              </a:rPr>
              <a:t>Make someone act on it</a:t>
            </a:r>
          </a:p>
        </p:txBody>
      </p:sp>
      <p:sp>
        <p:nvSpPr>
          <p:cNvPr id="23" name="TextBox 22"/>
          <p:cNvSpPr txBox="1"/>
          <p:nvPr/>
        </p:nvSpPr>
        <p:spPr>
          <a:xfrm>
            <a:off x="7772400" y="4818888"/>
            <a:ext cx="914400" cy="256032"/>
          </a:xfrm>
          <a:prstGeom prst="rect">
            <a:avLst/>
          </a:prstGeom>
          <a:noFill/>
        </p:spPr>
        <p:txBody>
          <a:bodyPr wrap="square" lIns="0" rIns="0" tIns="0" bIns="0" anchor="t">
            <a:spAutoFit/>
          </a:bodyPr>
          <a:lstStyle/>
          <a:p>
            <a:pPr algn="l"/>
            <a:r>
              <a:rPr sz="1100" b="0" i="0">
                <a:solidFill>
                  <a:srgbClr val="54565B"/>
                </a:solidFill>
                <a:latin typeface="Calibri"/>
              </a:rPr>
              <a:t>11 min</a:t>
            </a:r>
          </a:p>
        </p:txBody>
      </p:sp>
      <p:sp>
        <p:nvSpPr>
          <p:cNvPr id="24" name="TextBox 23"/>
          <p:cNvSpPr txBox="1"/>
          <p:nvPr/>
        </p:nvSpPr>
        <p:spPr>
          <a:xfrm>
            <a:off x="1554480" y="5093208"/>
            <a:ext cx="9144000" cy="274320"/>
          </a:xfrm>
          <a:prstGeom prst="rect">
            <a:avLst/>
          </a:prstGeom>
          <a:noFill/>
        </p:spPr>
        <p:txBody>
          <a:bodyPr wrap="square" lIns="0" rIns="0" tIns="0" bIns="0" anchor="t">
            <a:spAutoFit/>
          </a:bodyPr>
          <a:lstStyle/>
          <a:p>
            <a:pPr algn="l"/>
            <a:r>
              <a:rPr sz="1200" b="0" i="0">
                <a:solidFill>
                  <a:srgbClr val="54565B"/>
                </a:solidFill>
                <a:latin typeface="Calibri"/>
              </a:rPr>
              <a:t>Bottom line up front, and the opening paragraph that carries it.</a:t>
            </a:r>
          </a:p>
        </p:txBody>
      </p:sp>
      <p:sp>
        <p:nvSpPr>
          <p:cNvPr id="25" name="TextBox 24"/>
          <p:cNvSpPr txBox="1"/>
          <p:nvPr/>
        </p:nvSpPr>
        <p:spPr>
          <a:xfrm>
            <a:off x="640080" y="5532120"/>
            <a:ext cx="868680" cy="292608"/>
          </a:xfrm>
          <a:prstGeom prst="rect">
            <a:avLst/>
          </a:prstGeom>
          <a:noFill/>
        </p:spPr>
        <p:txBody>
          <a:bodyPr wrap="square" lIns="0" rIns="0" tIns="0" bIns="0" anchor="t">
            <a:spAutoFit/>
          </a:bodyPr>
          <a:lstStyle/>
          <a:p>
            <a:pPr algn="l"/>
            <a:r>
              <a:rPr sz="1500" b="1" i="0">
                <a:solidFill>
                  <a:srgbClr val="BA0C2F"/>
                </a:solidFill>
                <a:latin typeface="Calibri"/>
              </a:rPr>
              <a:t>7:31</a:t>
            </a:r>
          </a:p>
        </p:txBody>
      </p:sp>
      <p:sp>
        <p:nvSpPr>
          <p:cNvPr id="26" name="TextBox 25"/>
          <p:cNvSpPr txBox="1"/>
          <p:nvPr/>
        </p:nvSpPr>
        <p:spPr>
          <a:xfrm>
            <a:off x="1554480" y="5532120"/>
            <a:ext cx="6035040" cy="292608"/>
          </a:xfrm>
          <a:prstGeom prst="rect">
            <a:avLst/>
          </a:prstGeom>
          <a:noFill/>
        </p:spPr>
        <p:txBody>
          <a:bodyPr wrap="square" lIns="0" rIns="0" tIns="0" bIns="0" anchor="t">
            <a:spAutoFit/>
          </a:bodyPr>
          <a:lstStyle/>
          <a:p>
            <a:pPr algn="l"/>
            <a:r>
              <a:rPr sz="1500" b="1" i="0">
                <a:solidFill>
                  <a:srgbClr val="17151A"/>
                </a:solidFill>
                <a:latin typeface="Calibri"/>
              </a:rPr>
              <a:t>Close</a:t>
            </a:r>
          </a:p>
        </p:txBody>
      </p:sp>
      <p:sp>
        <p:nvSpPr>
          <p:cNvPr id="27" name="TextBox 26"/>
          <p:cNvSpPr txBox="1"/>
          <p:nvPr/>
        </p:nvSpPr>
        <p:spPr>
          <a:xfrm>
            <a:off x="7772400" y="5568696"/>
            <a:ext cx="914400" cy="256032"/>
          </a:xfrm>
          <a:prstGeom prst="rect">
            <a:avLst/>
          </a:prstGeom>
          <a:noFill/>
        </p:spPr>
        <p:txBody>
          <a:bodyPr wrap="square" lIns="0" rIns="0" tIns="0" bIns="0" anchor="t">
            <a:spAutoFit/>
          </a:bodyPr>
          <a:lstStyle/>
          <a:p>
            <a:pPr algn="l"/>
            <a:r>
              <a:rPr sz="1100" b="0" i="0">
                <a:solidFill>
                  <a:srgbClr val="54565B"/>
                </a:solidFill>
                <a:latin typeface="Calibri"/>
              </a:rPr>
              <a:t>4 min</a:t>
            </a:r>
          </a:p>
        </p:txBody>
      </p:sp>
      <p:sp>
        <p:nvSpPr>
          <p:cNvPr id="28" name="TextBox 27"/>
          <p:cNvSpPr txBox="1"/>
          <p:nvPr/>
        </p:nvSpPr>
        <p:spPr>
          <a:xfrm>
            <a:off x="1554480" y="5843016"/>
            <a:ext cx="9144000" cy="274320"/>
          </a:xfrm>
          <a:prstGeom prst="rect">
            <a:avLst/>
          </a:prstGeom>
          <a:noFill/>
        </p:spPr>
        <p:txBody>
          <a:bodyPr wrap="square" lIns="0" rIns="0" tIns="0" bIns="0" anchor="t">
            <a:spAutoFit/>
          </a:bodyPr>
          <a:lstStyle/>
          <a:p>
            <a:pPr algn="l"/>
            <a:r>
              <a:rPr sz="1200" b="0" i="0">
                <a:solidFill>
                  <a:srgbClr val="54565B"/>
                </a:solidFill>
                <a:latin typeface="Calibri"/>
              </a:rPr>
              <a:t>What to take back to work, and what is waiting in the repo.</a:t>
            </a:r>
          </a:p>
        </p:txBody>
      </p:sp>
      <p:sp>
        <p:nvSpPr>
          <p:cNvPr id="29" name="Rectangle 28"/>
          <p:cNvSpPr/>
          <p:nvPr/>
        </p:nvSpPr>
        <p:spPr>
          <a:xfrm>
            <a:off x="640080" y="6263640"/>
            <a:ext cx="10911535" cy="18288"/>
          </a:xfrm>
          <a:prstGeom prst="rect">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THE PROMISE</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What you leave with tonight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874519"/>
            <a:ext cx="3429000" cy="251460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2176272"/>
            <a:ext cx="420624" cy="42062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932688" y="2761488"/>
            <a:ext cx="2880360" cy="411480"/>
          </a:xfrm>
          <a:prstGeom prst="rect">
            <a:avLst/>
          </a:prstGeom>
          <a:noFill/>
        </p:spPr>
        <p:txBody>
          <a:bodyPr wrap="square" lIns="0" rIns="0" tIns="0" bIns="0" anchor="t">
            <a:spAutoFit/>
          </a:bodyPr>
          <a:lstStyle/>
          <a:p>
            <a:pPr algn="l"/>
            <a:r>
              <a:rPr sz="1800" b="1" i="0">
                <a:solidFill>
                  <a:srgbClr val="17151A"/>
                </a:solidFill>
                <a:latin typeface="Cambria"/>
              </a:rPr>
              <a:t>A decision</a:t>
            </a:r>
          </a:p>
        </p:txBody>
      </p:sp>
      <p:sp>
        <p:nvSpPr>
          <p:cNvPr id="8" name="TextBox 7"/>
          <p:cNvSpPr txBox="1"/>
          <p:nvPr/>
        </p:nvSpPr>
        <p:spPr>
          <a:xfrm>
            <a:off x="932688" y="3218688"/>
            <a:ext cx="2880360" cy="1051560"/>
          </a:xfrm>
          <a:prstGeom prst="rect">
            <a:avLst/>
          </a:prstGeom>
          <a:noFill/>
        </p:spPr>
        <p:txBody>
          <a:bodyPr wrap="square" lIns="0" rIns="0" tIns="0" bIns="0" anchor="t">
            <a:spAutoFit/>
          </a:bodyPr>
          <a:lstStyle/>
          <a:p>
            <a:pPr algn="l"/>
            <a:r>
              <a:rPr sz="1300" b="0" i="0">
                <a:solidFill>
                  <a:srgbClr val="54565B"/>
                </a:solidFill>
                <a:latin typeface="Calibri"/>
              </a:rPr>
              <a:t>Written down, with an owner and a deadline, specific enough to be wrong.</a:t>
            </a:r>
          </a:p>
        </p:txBody>
      </p:sp>
      <p:sp>
        <p:nvSpPr>
          <p:cNvPr id="9" name="Rounded Rectangle 8"/>
          <p:cNvSpPr/>
          <p:nvPr/>
        </p:nvSpPr>
        <p:spPr>
          <a:xfrm>
            <a:off x="4343400" y="1874519"/>
            <a:ext cx="3429000" cy="251460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36008" y="2176272"/>
            <a:ext cx="420624" cy="42062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1" name="TextBox 10"/>
          <p:cNvSpPr txBox="1"/>
          <p:nvPr/>
        </p:nvSpPr>
        <p:spPr>
          <a:xfrm>
            <a:off x="4636008" y="2761488"/>
            <a:ext cx="2880360" cy="411480"/>
          </a:xfrm>
          <a:prstGeom prst="rect">
            <a:avLst/>
          </a:prstGeom>
          <a:noFill/>
        </p:spPr>
        <p:txBody>
          <a:bodyPr wrap="square" lIns="0" rIns="0" tIns="0" bIns="0" anchor="t">
            <a:spAutoFit/>
          </a:bodyPr>
          <a:lstStyle/>
          <a:p>
            <a:pPr algn="l"/>
            <a:r>
              <a:rPr sz="1800" b="1" i="0">
                <a:solidFill>
                  <a:srgbClr val="17151A"/>
                </a:solidFill>
                <a:latin typeface="Cambria"/>
              </a:rPr>
              <a:t>A verdict on your data</a:t>
            </a:r>
          </a:p>
        </p:txBody>
      </p:sp>
      <p:sp>
        <p:nvSpPr>
          <p:cNvPr id="12" name="TextBox 11"/>
          <p:cNvSpPr txBox="1"/>
          <p:nvPr/>
        </p:nvSpPr>
        <p:spPr>
          <a:xfrm>
            <a:off x="4636008" y="3218688"/>
            <a:ext cx="2880360" cy="1051560"/>
          </a:xfrm>
          <a:prstGeom prst="rect">
            <a:avLst/>
          </a:prstGeom>
          <a:noFill/>
        </p:spPr>
        <p:txBody>
          <a:bodyPr wrap="square" lIns="0" rIns="0" tIns="0" bIns="0" anchor="t">
            <a:spAutoFit/>
          </a:bodyPr>
          <a:lstStyle/>
          <a:p>
            <a:pPr algn="l"/>
            <a:r>
              <a:rPr sz="1300" b="0" i="0">
                <a:solidFill>
                  <a:srgbClr val="54565B"/>
                </a:solidFill>
                <a:latin typeface="Calibri"/>
              </a:rPr>
              <a:t>What it can support, what it can support with caveats, and what it cannot.</a:t>
            </a:r>
          </a:p>
        </p:txBody>
      </p:sp>
      <p:sp>
        <p:nvSpPr>
          <p:cNvPr id="13" name="Rounded Rectangle 12"/>
          <p:cNvSpPr/>
          <p:nvPr/>
        </p:nvSpPr>
        <p:spPr>
          <a:xfrm>
            <a:off x="8046719" y="1874519"/>
            <a:ext cx="3429000" cy="251460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39327" y="2176272"/>
            <a:ext cx="420624" cy="42062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5" name="TextBox 14"/>
          <p:cNvSpPr txBox="1"/>
          <p:nvPr/>
        </p:nvSpPr>
        <p:spPr>
          <a:xfrm>
            <a:off x="8339327" y="2761488"/>
            <a:ext cx="2880360" cy="411480"/>
          </a:xfrm>
          <a:prstGeom prst="rect">
            <a:avLst/>
          </a:prstGeom>
          <a:noFill/>
        </p:spPr>
        <p:txBody>
          <a:bodyPr wrap="square" lIns="0" rIns="0" tIns="0" bIns="0" anchor="t">
            <a:spAutoFit/>
          </a:bodyPr>
          <a:lstStyle/>
          <a:p>
            <a:pPr algn="l"/>
            <a:r>
              <a:rPr sz="1800" b="1" i="0">
                <a:solidFill>
                  <a:srgbClr val="17151A"/>
                </a:solidFill>
                <a:latin typeface="Cambria"/>
              </a:rPr>
              <a:t>A cleaning log</a:t>
            </a:r>
          </a:p>
        </p:txBody>
      </p:sp>
      <p:sp>
        <p:nvSpPr>
          <p:cNvPr id="16" name="TextBox 15"/>
          <p:cNvSpPr txBox="1"/>
          <p:nvPr/>
        </p:nvSpPr>
        <p:spPr>
          <a:xfrm>
            <a:off x="8339327" y="3218688"/>
            <a:ext cx="2880360" cy="1051560"/>
          </a:xfrm>
          <a:prstGeom prst="rect">
            <a:avLst/>
          </a:prstGeom>
          <a:noFill/>
        </p:spPr>
        <p:txBody>
          <a:bodyPr wrap="square" lIns="0" rIns="0" tIns="0" bIns="0" anchor="t">
            <a:spAutoFit/>
          </a:bodyPr>
          <a:lstStyle/>
          <a:p>
            <a:pPr algn="l"/>
            <a:r>
              <a:rPr sz="1300" b="0" i="0">
                <a:solidFill>
                  <a:srgbClr val="54565B"/>
                </a:solidFill>
                <a:latin typeface="Calibri"/>
              </a:rPr>
              <a:t>Every change you made and why. This is what you pull up when someone challenges a number.</a:t>
            </a:r>
          </a:p>
        </p:txBody>
      </p:sp>
      <p:sp>
        <p:nvSpPr>
          <p:cNvPr id="17" name="TextBox 16"/>
          <p:cNvSpPr txBox="1"/>
          <p:nvPr/>
        </p:nvSpPr>
        <p:spPr>
          <a:xfrm>
            <a:off x="640080" y="4846320"/>
            <a:ext cx="10515600" cy="365760"/>
          </a:xfrm>
          <a:prstGeom prst="rect">
            <a:avLst/>
          </a:prstGeom>
          <a:noFill/>
        </p:spPr>
        <p:txBody>
          <a:bodyPr wrap="square" lIns="0" rIns="0" tIns="0" bIns="0" anchor="t">
            <a:spAutoFit/>
          </a:bodyPr>
          <a:lstStyle/>
          <a:p>
            <a:pPr algn="l"/>
            <a:r>
              <a:rPr sz="1600" b="0" i="1">
                <a:solidFill>
                  <a:srgbClr val="BA0C2F"/>
                </a:solidFill>
                <a:latin typeface="Calibri"/>
              </a:rPr>
              <a:t>None of these require you to bring a single row of company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WHERE THIS CONNECTS</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You already know the statistics</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572768"/>
            <a:ext cx="10515600" cy="320040"/>
          </a:xfrm>
          <a:prstGeom prst="rect">
            <a:avLst/>
          </a:prstGeom>
          <a:noFill/>
        </p:spPr>
        <p:txBody>
          <a:bodyPr wrap="square" lIns="0" rIns="0" tIns="0" bIns="0" anchor="t">
            <a:spAutoFit/>
          </a:bodyPr>
          <a:lstStyle/>
          <a:p>
            <a:pPr algn="l"/>
            <a:r>
              <a:rPr sz="1500" b="0" i="0">
                <a:solidFill>
                  <a:srgbClr val="54565B"/>
                </a:solidFill>
                <a:latin typeface="Calibri"/>
              </a:rPr>
              <a:t>Every use case you can build tonight is a module you have already finished.</a:t>
            </a:r>
          </a:p>
        </p:txBody>
      </p:sp>
      <p:sp>
        <p:nvSpPr>
          <p:cNvPr id="6" name="TextBox 5"/>
          <p:cNvSpPr txBox="1"/>
          <p:nvPr/>
        </p:nvSpPr>
        <p:spPr>
          <a:xfrm>
            <a:off x="640080" y="2103120"/>
            <a:ext cx="3931920" cy="292608"/>
          </a:xfrm>
          <a:prstGeom prst="rect">
            <a:avLst/>
          </a:prstGeom>
          <a:noFill/>
        </p:spPr>
        <p:txBody>
          <a:bodyPr wrap="square" lIns="0" rIns="0" tIns="0" bIns="0" anchor="t">
            <a:spAutoFit/>
          </a:bodyPr>
          <a:lstStyle/>
          <a:p>
            <a:pPr algn="l"/>
            <a:r>
              <a:rPr sz="1500" b="1" i="0">
                <a:solidFill>
                  <a:srgbClr val="17151A"/>
                </a:solidFill>
                <a:latin typeface="Calibri"/>
              </a:rPr>
              <a:t>Executive KPI dashboard</a:t>
            </a:r>
          </a:p>
        </p:txBody>
      </p:sp>
      <p:sp>
        <p:nvSpPr>
          <p:cNvPr id="7" name="TextBox 6"/>
          <p:cNvSpPr txBox="1"/>
          <p:nvPr/>
        </p:nvSpPr>
        <p:spPr>
          <a:xfrm>
            <a:off x="4754880" y="2103120"/>
            <a:ext cx="1737360" cy="292608"/>
          </a:xfrm>
          <a:prstGeom prst="rect">
            <a:avLst/>
          </a:prstGeom>
          <a:noFill/>
        </p:spPr>
        <p:txBody>
          <a:bodyPr wrap="square" lIns="0" rIns="0" tIns="0" bIns="0" anchor="t">
            <a:spAutoFit/>
          </a:bodyPr>
          <a:lstStyle/>
          <a:p>
            <a:pPr algn="l"/>
            <a:r>
              <a:rPr sz="1400" b="1" i="0">
                <a:solidFill>
                  <a:srgbClr val="375060"/>
                </a:solidFill>
                <a:latin typeface="Calibri"/>
              </a:rPr>
              <a:t>Module 01</a:t>
            </a:r>
          </a:p>
        </p:txBody>
      </p:sp>
      <p:sp>
        <p:nvSpPr>
          <p:cNvPr id="8" name="TextBox 7"/>
          <p:cNvSpPr txBox="1"/>
          <p:nvPr/>
        </p:nvSpPr>
        <p:spPr>
          <a:xfrm>
            <a:off x="6675120" y="2103120"/>
            <a:ext cx="4754880" cy="292608"/>
          </a:xfrm>
          <a:prstGeom prst="rect">
            <a:avLst/>
          </a:prstGeom>
          <a:noFill/>
        </p:spPr>
        <p:txBody>
          <a:bodyPr wrap="square" lIns="0" rIns="0" tIns="0" bIns="0" anchor="t">
            <a:spAutoFit/>
          </a:bodyPr>
          <a:lstStyle/>
          <a:p>
            <a:pPr algn="l"/>
            <a:r>
              <a:rPr sz="1400" b="0" i="0">
                <a:solidFill>
                  <a:srgbClr val="54565B"/>
                </a:solidFill>
                <a:latin typeface="Calibri"/>
              </a:rPr>
              <a:t>Descriptive statistics</a:t>
            </a:r>
          </a:p>
        </p:txBody>
      </p:sp>
      <p:sp>
        <p:nvSpPr>
          <p:cNvPr id="9" name="TextBox 8"/>
          <p:cNvSpPr txBox="1"/>
          <p:nvPr/>
        </p:nvSpPr>
        <p:spPr>
          <a:xfrm>
            <a:off x="640080" y="2724912"/>
            <a:ext cx="3931920" cy="292608"/>
          </a:xfrm>
          <a:prstGeom prst="rect">
            <a:avLst/>
          </a:prstGeom>
          <a:noFill/>
        </p:spPr>
        <p:txBody>
          <a:bodyPr wrap="square" lIns="0" rIns="0" tIns="0" bIns="0" anchor="t">
            <a:spAutoFit/>
          </a:bodyPr>
          <a:lstStyle/>
          <a:p>
            <a:pPr algn="l"/>
            <a:r>
              <a:rPr sz="1500" b="1" i="0">
                <a:solidFill>
                  <a:srgbClr val="17151A"/>
                </a:solidFill>
                <a:latin typeface="Calibri"/>
              </a:rPr>
              <a:t>A/B test readout</a:t>
            </a:r>
          </a:p>
        </p:txBody>
      </p:sp>
      <p:sp>
        <p:nvSpPr>
          <p:cNvPr id="10" name="TextBox 9"/>
          <p:cNvSpPr txBox="1"/>
          <p:nvPr/>
        </p:nvSpPr>
        <p:spPr>
          <a:xfrm>
            <a:off x="4754880" y="2724912"/>
            <a:ext cx="1737360" cy="292608"/>
          </a:xfrm>
          <a:prstGeom prst="rect">
            <a:avLst/>
          </a:prstGeom>
          <a:noFill/>
        </p:spPr>
        <p:txBody>
          <a:bodyPr wrap="square" lIns="0" rIns="0" tIns="0" bIns="0" anchor="t">
            <a:spAutoFit/>
          </a:bodyPr>
          <a:lstStyle/>
          <a:p>
            <a:pPr algn="l"/>
            <a:r>
              <a:rPr sz="1400" b="1" i="0">
                <a:solidFill>
                  <a:srgbClr val="375060"/>
                </a:solidFill>
                <a:latin typeface="Calibri"/>
              </a:rPr>
              <a:t>Modules 04-06</a:t>
            </a:r>
          </a:p>
        </p:txBody>
      </p:sp>
      <p:sp>
        <p:nvSpPr>
          <p:cNvPr id="11" name="TextBox 10"/>
          <p:cNvSpPr txBox="1"/>
          <p:nvPr/>
        </p:nvSpPr>
        <p:spPr>
          <a:xfrm>
            <a:off x="6675120" y="2724912"/>
            <a:ext cx="4754880" cy="292608"/>
          </a:xfrm>
          <a:prstGeom prst="rect">
            <a:avLst/>
          </a:prstGeom>
          <a:noFill/>
        </p:spPr>
        <p:txBody>
          <a:bodyPr wrap="square" lIns="0" rIns="0" tIns="0" bIns="0" anchor="t">
            <a:spAutoFit/>
          </a:bodyPr>
          <a:lstStyle/>
          <a:p>
            <a:pPr algn="l"/>
            <a:r>
              <a:rPr sz="1400" b="0" i="0">
                <a:solidFill>
                  <a:srgbClr val="54565B"/>
                </a:solidFill>
                <a:latin typeface="Calibri"/>
              </a:rPr>
              <a:t>Hypothesis testing, ANOVA, chi-square</a:t>
            </a:r>
          </a:p>
        </p:txBody>
      </p:sp>
      <p:sp>
        <p:nvSpPr>
          <p:cNvPr id="12" name="TextBox 11"/>
          <p:cNvSpPr txBox="1"/>
          <p:nvPr/>
        </p:nvSpPr>
        <p:spPr>
          <a:xfrm>
            <a:off x="640080" y="3346704"/>
            <a:ext cx="3931920" cy="292608"/>
          </a:xfrm>
          <a:prstGeom prst="rect">
            <a:avLst/>
          </a:prstGeom>
          <a:noFill/>
        </p:spPr>
        <p:txBody>
          <a:bodyPr wrap="square" lIns="0" rIns="0" tIns="0" bIns="0" anchor="t">
            <a:spAutoFit/>
          </a:bodyPr>
          <a:lstStyle/>
          <a:p>
            <a:pPr algn="l"/>
            <a:r>
              <a:rPr sz="1500" b="1" i="0">
                <a:solidFill>
                  <a:srgbClr val="17151A"/>
                </a:solidFill>
                <a:latin typeface="Calibri"/>
              </a:rPr>
              <a:t>Forecast with uncertainty</a:t>
            </a:r>
          </a:p>
        </p:txBody>
      </p:sp>
      <p:sp>
        <p:nvSpPr>
          <p:cNvPr id="13" name="TextBox 12"/>
          <p:cNvSpPr txBox="1"/>
          <p:nvPr/>
        </p:nvSpPr>
        <p:spPr>
          <a:xfrm>
            <a:off x="4754880" y="3346704"/>
            <a:ext cx="1737360" cy="292608"/>
          </a:xfrm>
          <a:prstGeom prst="rect">
            <a:avLst/>
          </a:prstGeom>
          <a:noFill/>
        </p:spPr>
        <p:txBody>
          <a:bodyPr wrap="square" lIns="0" rIns="0" tIns="0" bIns="0" anchor="t">
            <a:spAutoFit/>
          </a:bodyPr>
          <a:lstStyle/>
          <a:p>
            <a:pPr algn="l"/>
            <a:r>
              <a:rPr sz="1400" b="1" i="0">
                <a:solidFill>
                  <a:srgbClr val="375060"/>
                </a:solidFill>
                <a:latin typeface="Calibri"/>
              </a:rPr>
              <a:t>Module 09</a:t>
            </a:r>
          </a:p>
        </p:txBody>
      </p:sp>
      <p:sp>
        <p:nvSpPr>
          <p:cNvPr id="14" name="TextBox 13"/>
          <p:cNvSpPr txBox="1"/>
          <p:nvPr/>
        </p:nvSpPr>
        <p:spPr>
          <a:xfrm>
            <a:off x="6675120" y="3346704"/>
            <a:ext cx="4754880" cy="292608"/>
          </a:xfrm>
          <a:prstGeom prst="rect">
            <a:avLst/>
          </a:prstGeom>
          <a:noFill/>
        </p:spPr>
        <p:txBody>
          <a:bodyPr wrap="square" lIns="0" rIns="0" tIns="0" bIns="0" anchor="t">
            <a:spAutoFit/>
          </a:bodyPr>
          <a:lstStyle/>
          <a:p>
            <a:pPr algn="l"/>
            <a:r>
              <a:rPr sz="1400" b="0" i="0">
                <a:solidFill>
                  <a:srgbClr val="54565B"/>
                </a:solidFill>
                <a:latin typeface="Calibri"/>
              </a:rPr>
              <a:t>Time series</a:t>
            </a:r>
          </a:p>
        </p:txBody>
      </p:sp>
      <p:sp>
        <p:nvSpPr>
          <p:cNvPr id="15" name="TextBox 14"/>
          <p:cNvSpPr txBox="1"/>
          <p:nvPr/>
        </p:nvSpPr>
        <p:spPr>
          <a:xfrm>
            <a:off x="640080" y="3968496"/>
            <a:ext cx="3931920" cy="292608"/>
          </a:xfrm>
          <a:prstGeom prst="rect">
            <a:avLst/>
          </a:prstGeom>
          <a:noFill/>
        </p:spPr>
        <p:txBody>
          <a:bodyPr wrap="square" lIns="0" rIns="0" tIns="0" bIns="0" anchor="t">
            <a:spAutoFit/>
          </a:bodyPr>
          <a:lstStyle/>
          <a:p>
            <a:pPr algn="l"/>
            <a:r>
              <a:rPr sz="1500" b="1" i="0">
                <a:solidFill>
                  <a:srgbClr val="17151A"/>
                </a:solidFill>
                <a:latin typeface="Calibri"/>
              </a:rPr>
              <a:t>Churn or risk scorer</a:t>
            </a:r>
          </a:p>
        </p:txBody>
      </p:sp>
      <p:sp>
        <p:nvSpPr>
          <p:cNvPr id="16" name="TextBox 15"/>
          <p:cNvSpPr txBox="1"/>
          <p:nvPr/>
        </p:nvSpPr>
        <p:spPr>
          <a:xfrm>
            <a:off x="4754880" y="3968496"/>
            <a:ext cx="1737360" cy="292608"/>
          </a:xfrm>
          <a:prstGeom prst="rect">
            <a:avLst/>
          </a:prstGeom>
          <a:noFill/>
        </p:spPr>
        <p:txBody>
          <a:bodyPr wrap="square" lIns="0" rIns="0" tIns="0" bIns="0" anchor="t">
            <a:spAutoFit/>
          </a:bodyPr>
          <a:lstStyle/>
          <a:p>
            <a:pPr algn="l"/>
            <a:r>
              <a:rPr sz="1400" b="1" i="0">
                <a:solidFill>
                  <a:srgbClr val="375060"/>
                </a:solidFill>
                <a:latin typeface="Calibri"/>
              </a:rPr>
              <a:t>Module 07</a:t>
            </a:r>
          </a:p>
        </p:txBody>
      </p:sp>
      <p:sp>
        <p:nvSpPr>
          <p:cNvPr id="17" name="TextBox 16"/>
          <p:cNvSpPr txBox="1"/>
          <p:nvPr/>
        </p:nvSpPr>
        <p:spPr>
          <a:xfrm>
            <a:off x="6675120" y="3968496"/>
            <a:ext cx="4754880" cy="292608"/>
          </a:xfrm>
          <a:prstGeom prst="rect">
            <a:avLst/>
          </a:prstGeom>
          <a:noFill/>
        </p:spPr>
        <p:txBody>
          <a:bodyPr wrap="square" lIns="0" rIns="0" tIns="0" bIns="0" anchor="t">
            <a:spAutoFit/>
          </a:bodyPr>
          <a:lstStyle/>
          <a:p>
            <a:pPr algn="l"/>
            <a:r>
              <a:rPr sz="1400" b="0" i="0">
                <a:solidFill>
                  <a:srgbClr val="54565B"/>
                </a:solidFill>
                <a:latin typeface="Calibri"/>
              </a:rPr>
              <a:t>Regression</a:t>
            </a:r>
          </a:p>
        </p:txBody>
      </p:sp>
      <p:sp>
        <p:nvSpPr>
          <p:cNvPr id="18" name="TextBox 17"/>
          <p:cNvSpPr txBox="1"/>
          <p:nvPr/>
        </p:nvSpPr>
        <p:spPr>
          <a:xfrm>
            <a:off x="640080" y="4590288"/>
            <a:ext cx="3931920" cy="292608"/>
          </a:xfrm>
          <a:prstGeom prst="rect">
            <a:avLst/>
          </a:prstGeom>
          <a:noFill/>
        </p:spPr>
        <p:txBody>
          <a:bodyPr wrap="square" lIns="0" rIns="0" tIns="0" bIns="0" anchor="t">
            <a:spAutoFit/>
          </a:bodyPr>
          <a:lstStyle/>
          <a:p>
            <a:pPr algn="l"/>
            <a:r>
              <a:rPr sz="1500" b="1" i="0">
                <a:solidFill>
                  <a:srgbClr val="17151A"/>
                </a:solidFill>
                <a:latin typeface="Calibri"/>
              </a:rPr>
              <a:t>What-if scenario calculator</a:t>
            </a:r>
          </a:p>
        </p:txBody>
      </p:sp>
      <p:sp>
        <p:nvSpPr>
          <p:cNvPr id="19" name="TextBox 18"/>
          <p:cNvSpPr txBox="1"/>
          <p:nvPr/>
        </p:nvSpPr>
        <p:spPr>
          <a:xfrm>
            <a:off x="4754880" y="4590288"/>
            <a:ext cx="1737360" cy="292608"/>
          </a:xfrm>
          <a:prstGeom prst="rect">
            <a:avLst/>
          </a:prstGeom>
          <a:noFill/>
        </p:spPr>
        <p:txBody>
          <a:bodyPr wrap="square" lIns="0" rIns="0" tIns="0" bIns="0" anchor="t">
            <a:spAutoFit/>
          </a:bodyPr>
          <a:lstStyle/>
          <a:p>
            <a:pPr algn="l"/>
            <a:r>
              <a:rPr sz="1400" b="1" i="0">
                <a:solidFill>
                  <a:srgbClr val="375060"/>
                </a:solidFill>
                <a:latin typeface="Calibri"/>
              </a:rPr>
              <a:t>Module 08</a:t>
            </a:r>
          </a:p>
        </p:txBody>
      </p:sp>
      <p:sp>
        <p:nvSpPr>
          <p:cNvPr id="20" name="TextBox 19"/>
          <p:cNvSpPr txBox="1"/>
          <p:nvPr/>
        </p:nvSpPr>
        <p:spPr>
          <a:xfrm>
            <a:off x="6675120" y="4590288"/>
            <a:ext cx="4754880" cy="292608"/>
          </a:xfrm>
          <a:prstGeom prst="rect">
            <a:avLst/>
          </a:prstGeom>
          <a:noFill/>
        </p:spPr>
        <p:txBody>
          <a:bodyPr wrap="square" lIns="0" rIns="0" tIns="0" bIns="0" anchor="t">
            <a:spAutoFit/>
          </a:bodyPr>
          <a:lstStyle/>
          <a:p>
            <a:pPr algn="l"/>
            <a:r>
              <a:rPr sz="1400" b="0" i="0">
                <a:solidFill>
                  <a:srgbClr val="54565B"/>
                </a:solidFill>
                <a:latin typeface="Calibri"/>
              </a:rPr>
              <a:t>Optimization</a:t>
            </a:r>
          </a:p>
        </p:txBody>
      </p:sp>
      <p:sp>
        <p:nvSpPr>
          <p:cNvPr id="21" name="Rounded Rectangle 20"/>
          <p:cNvSpPr/>
          <p:nvPr/>
        </p:nvSpPr>
        <p:spPr>
          <a:xfrm>
            <a:off x="530352" y="5138927"/>
            <a:ext cx="11130991" cy="54864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12079"/>
            <a:ext cx="3931920" cy="292608"/>
          </a:xfrm>
          <a:prstGeom prst="rect">
            <a:avLst/>
          </a:prstGeom>
          <a:noFill/>
        </p:spPr>
        <p:txBody>
          <a:bodyPr wrap="square" lIns="0" rIns="0" tIns="0" bIns="0" anchor="t">
            <a:spAutoFit/>
          </a:bodyPr>
          <a:lstStyle/>
          <a:p>
            <a:pPr algn="l"/>
            <a:r>
              <a:rPr sz="1500" b="1" i="0">
                <a:solidFill>
                  <a:srgbClr val="BA0C2F"/>
                </a:solidFill>
                <a:latin typeface="Calibri"/>
              </a:rPr>
              <a:t>Every one of them</a:t>
            </a:r>
          </a:p>
        </p:txBody>
      </p:sp>
      <p:sp>
        <p:nvSpPr>
          <p:cNvPr id="23" name="TextBox 22"/>
          <p:cNvSpPr txBox="1"/>
          <p:nvPr/>
        </p:nvSpPr>
        <p:spPr>
          <a:xfrm>
            <a:off x="4754880" y="5212079"/>
            <a:ext cx="1737360" cy="292608"/>
          </a:xfrm>
          <a:prstGeom prst="rect">
            <a:avLst/>
          </a:prstGeom>
          <a:noFill/>
        </p:spPr>
        <p:txBody>
          <a:bodyPr wrap="square" lIns="0" rIns="0" tIns="0" bIns="0" anchor="t">
            <a:spAutoFit/>
          </a:bodyPr>
          <a:lstStyle/>
          <a:p>
            <a:pPr algn="l"/>
            <a:r>
              <a:rPr sz="1400" b="1" i="0">
                <a:solidFill>
                  <a:srgbClr val="375060"/>
                </a:solidFill>
                <a:latin typeface="Calibri"/>
              </a:rPr>
              <a:t>Module 03</a:t>
            </a:r>
          </a:p>
        </p:txBody>
      </p:sp>
      <p:sp>
        <p:nvSpPr>
          <p:cNvPr id="24" name="TextBox 23"/>
          <p:cNvSpPr txBox="1"/>
          <p:nvPr/>
        </p:nvSpPr>
        <p:spPr>
          <a:xfrm>
            <a:off x="6675120" y="5212079"/>
            <a:ext cx="4754880" cy="292608"/>
          </a:xfrm>
          <a:prstGeom prst="rect">
            <a:avLst/>
          </a:prstGeom>
          <a:noFill/>
        </p:spPr>
        <p:txBody>
          <a:bodyPr wrap="square" lIns="0" rIns="0" tIns="0" bIns="0" anchor="t">
            <a:spAutoFit/>
          </a:bodyPr>
          <a:lstStyle/>
          <a:p>
            <a:pPr algn="l"/>
            <a:r>
              <a:rPr sz="1400" b="0" i="0">
                <a:solidFill>
                  <a:srgbClr val="54565B"/>
                </a:solidFill>
                <a:latin typeface="Calibri"/>
              </a:rPr>
              <a:t>Sampling and confidence intervals</a:t>
            </a:r>
          </a:p>
        </p:txBody>
      </p:sp>
      <p:sp>
        <p:nvSpPr>
          <p:cNvPr id="25" name="TextBox 24"/>
          <p:cNvSpPr txBox="1"/>
          <p:nvPr/>
        </p:nvSpPr>
        <p:spPr>
          <a:xfrm>
            <a:off x="640080" y="5806440"/>
            <a:ext cx="10607040" cy="292608"/>
          </a:xfrm>
          <a:prstGeom prst="rect">
            <a:avLst/>
          </a:prstGeom>
          <a:noFill/>
        </p:spPr>
        <p:txBody>
          <a:bodyPr wrap="square" lIns="0" rIns="0" tIns="0" bIns="0" anchor="t">
            <a:spAutoFit/>
          </a:bodyPr>
          <a:lstStyle/>
          <a:p>
            <a:pPr algn="l"/>
            <a:r>
              <a:rPr sz="1500" b="1" i="0">
                <a:solidFill>
                  <a:srgbClr val="17151A"/>
                </a:solidFill>
                <a:latin typeface="Calibri"/>
              </a:rPr>
              <a:t>What is new tonight is not the statistics. It is choosing what is worth computing,</a:t>
            </a:r>
          </a:p>
        </p:txBody>
      </p:sp>
      <p:sp>
        <p:nvSpPr>
          <p:cNvPr id="26" name="TextBox 25"/>
          <p:cNvSpPr txBox="1"/>
          <p:nvPr/>
        </p:nvSpPr>
        <p:spPr>
          <a:xfrm>
            <a:off x="640080" y="6108192"/>
            <a:ext cx="10607040" cy="292608"/>
          </a:xfrm>
          <a:prstGeom prst="rect">
            <a:avLst/>
          </a:prstGeom>
          <a:noFill/>
        </p:spPr>
        <p:txBody>
          <a:bodyPr wrap="square" lIns="0" rIns="0" tIns="0" bIns="0" anchor="t">
            <a:spAutoFit/>
          </a:bodyPr>
          <a:lstStyle/>
          <a:p>
            <a:pPr algn="l"/>
            <a:r>
              <a:rPr sz="1500" b="1" i="0">
                <a:solidFill>
                  <a:srgbClr val="17151A"/>
                </a:solidFill>
                <a:latin typeface="Calibri"/>
              </a:rPr>
              <a:t>and being able to defend it when someone asks how you know.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40080" y="868680"/>
            <a:ext cx="10911535" cy="507492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1234440"/>
            <a:ext cx="7315200" cy="274320"/>
          </a:xfrm>
          <a:prstGeom prst="rect">
            <a:avLst/>
          </a:prstGeom>
          <a:noFill/>
        </p:spPr>
        <p:txBody>
          <a:bodyPr wrap="square" lIns="0" rIns="0" tIns="0" bIns="0" anchor="t">
            <a:spAutoFit/>
          </a:bodyPr>
          <a:lstStyle/>
          <a:p>
            <a:pPr algn="l"/>
            <a:r>
              <a:rPr sz="1200" b="1" i="0">
                <a:solidFill>
                  <a:srgbClr val="BA0C2F"/>
                </a:solidFill>
                <a:latin typeface="Calibri"/>
              </a:rPr>
              <a:t>YOUR COMPANY'S DATA</a:t>
            </a:r>
          </a:p>
        </p:txBody>
      </p:sp>
      <p:sp>
        <p:nvSpPr>
          <p:cNvPr id="4" name="TextBox 3"/>
          <p:cNvSpPr txBox="1"/>
          <p:nvPr/>
        </p:nvSpPr>
        <p:spPr>
          <a:xfrm>
            <a:off x="1143000" y="1572768"/>
            <a:ext cx="9601200" cy="640080"/>
          </a:xfrm>
          <a:prstGeom prst="rect">
            <a:avLst/>
          </a:prstGeom>
          <a:noFill/>
        </p:spPr>
        <p:txBody>
          <a:bodyPr wrap="square" lIns="0" rIns="0" tIns="0" bIns="0" anchor="t">
            <a:spAutoFit/>
          </a:bodyPr>
          <a:lstStyle/>
          <a:p>
            <a:pPr algn="l"/>
            <a:r>
              <a:rPr sz="3300" b="1" i="0">
                <a:solidFill>
                  <a:srgbClr val="17151A"/>
                </a:solidFill>
                <a:latin typeface="Cambria"/>
              </a:rPr>
              <a:t>You do not need to bring any.</a:t>
            </a:r>
          </a:p>
        </p:txBody>
      </p:sp>
      <p:sp>
        <p:nvSpPr>
          <p:cNvPr id="5" name="Oval 4"/>
          <p:cNvSpPr/>
          <p:nvPr/>
        </p:nvSpPr>
        <p:spPr>
          <a:xfrm>
            <a:off x="1188719" y="2560320"/>
            <a:ext cx="100584" cy="10058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2487168"/>
            <a:ext cx="9326880" cy="384048"/>
          </a:xfrm>
          <a:prstGeom prst="rect">
            <a:avLst/>
          </a:prstGeom>
          <a:noFill/>
        </p:spPr>
        <p:txBody>
          <a:bodyPr wrap="square" lIns="0" rIns="0" tIns="0" bIns="0" anchor="t">
            <a:spAutoFit/>
          </a:bodyPr>
          <a:lstStyle/>
          <a:p>
            <a:pPr algn="l"/>
            <a:r>
              <a:rPr sz="1450" b="0" i="0">
                <a:solidFill>
                  <a:srgbClr val="17151A"/>
                </a:solidFill>
                <a:latin typeface="Calibri"/>
              </a:rPr>
              <a:t>You all have obligations to your employers. Those come first, tonight and always.</a:t>
            </a:r>
          </a:p>
        </p:txBody>
      </p:sp>
      <p:sp>
        <p:nvSpPr>
          <p:cNvPr id="7" name="Oval 6"/>
          <p:cNvSpPr/>
          <p:nvPr/>
        </p:nvSpPr>
        <p:spPr>
          <a:xfrm>
            <a:off x="1188719" y="3200400"/>
            <a:ext cx="100584" cy="10058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3127248"/>
            <a:ext cx="9326880" cy="384048"/>
          </a:xfrm>
          <a:prstGeom prst="rect">
            <a:avLst/>
          </a:prstGeom>
          <a:noFill/>
        </p:spPr>
        <p:txBody>
          <a:bodyPr wrap="square" lIns="0" rIns="0" tIns="0" bIns="0" anchor="t">
            <a:spAutoFit/>
          </a:bodyPr>
          <a:lstStyle/>
          <a:p>
            <a:pPr algn="l"/>
            <a:r>
              <a:rPr sz="1450" b="0" i="0">
                <a:solidFill>
                  <a:srgbClr val="17151A"/>
                </a:solidFill>
                <a:latin typeface="Calibri"/>
              </a:rPr>
              <a:t>If you are unsure whether something can leave your company's systems, it stays there.</a:t>
            </a:r>
          </a:p>
        </p:txBody>
      </p:sp>
      <p:sp>
        <p:nvSpPr>
          <p:cNvPr id="9" name="Oval 8"/>
          <p:cNvSpPr/>
          <p:nvPr/>
        </p:nvSpPr>
        <p:spPr>
          <a:xfrm>
            <a:off x="1188719" y="3840480"/>
            <a:ext cx="100584" cy="10058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3767328"/>
            <a:ext cx="9326880" cy="384048"/>
          </a:xfrm>
          <a:prstGeom prst="rect">
            <a:avLst/>
          </a:prstGeom>
          <a:noFill/>
        </p:spPr>
        <p:txBody>
          <a:bodyPr wrap="square" lIns="0" rIns="0" tIns="0" bIns="0" anchor="t">
            <a:spAutoFit/>
          </a:bodyPr>
          <a:lstStyle/>
          <a:p>
            <a:pPr algn="l"/>
            <a:r>
              <a:rPr sz="1450" b="0" i="0">
                <a:solidFill>
                  <a:srgbClr val="17151A"/>
                </a:solidFill>
                <a:latin typeface="Calibri"/>
              </a:rPr>
              <a:t>The workspace ships with realistic, messy, completely fictional practice data for every exercise.</a:t>
            </a:r>
          </a:p>
        </p:txBody>
      </p:sp>
      <p:sp>
        <p:nvSpPr>
          <p:cNvPr id="11" name="Oval 10"/>
          <p:cNvSpPr/>
          <p:nvPr/>
        </p:nvSpPr>
        <p:spPr>
          <a:xfrm>
            <a:off x="1188719" y="4480560"/>
            <a:ext cx="100584" cy="10058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4407408"/>
            <a:ext cx="9326880" cy="384048"/>
          </a:xfrm>
          <a:prstGeom prst="rect">
            <a:avLst/>
          </a:prstGeom>
          <a:noFill/>
        </p:spPr>
        <p:txBody>
          <a:bodyPr wrap="square" lIns="0" rIns="0" tIns="0" bIns="0" anchor="t">
            <a:spAutoFit/>
          </a:bodyPr>
          <a:lstStyle/>
          <a:p>
            <a:pPr algn="l"/>
            <a:r>
              <a:rPr sz="1450" b="0" i="0">
                <a:solidFill>
                  <a:srgbClr val="17151A"/>
                </a:solidFill>
                <a:latin typeface="Calibri"/>
              </a:rPr>
              <a:t>Build the method here. Point it at your real numbers later, inside your own systems, on your own time.</a:t>
            </a:r>
          </a:p>
        </p:txBody>
      </p:sp>
      <p:sp>
        <p:nvSpPr>
          <p:cNvPr id="13" name="Oval 12"/>
          <p:cNvSpPr/>
          <p:nvPr/>
        </p:nvSpPr>
        <p:spPr>
          <a:xfrm>
            <a:off x="1188719" y="5120640"/>
            <a:ext cx="100584" cy="10058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5047488"/>
            <a:ext cx="9326880" cy="384048"/>
          </a:xfrm>
          <a:prstGeom prst="rect">
            <a:avLst/>
          </a:prstGeom>
          <a:noFill/>
        </p:spPr>
        <p:txBody>
          <a:bodyPr wrap="square" lIns="0" rIns="0" tIns="0" bIns="0" anchor="t">
            <a:spAutoFit/>
          </a:bodyPr>
          <a:lstStyle/>
          <a:p>
            <a:pPr algn="l"/>
            <a:r>
              <a:rPr sz="1450" b="0" i="0">
                <a:solidFill>
                  <a:srgbClr val="17151A"/>
                </a:solidFill>
                <a:latin typeface="Calibri"/>
              </a:rPr>
              <a:t>Using work data anyway? Check your employer's AI policy first. Most have one. Most people have not read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SETUP</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Any of these will work</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828800"/>
            <a:ext cx="2578608" cy="2331720"/>
          </a:xfrm>
          <a:prstGeom prst="roundRect">
            <a:avLst>
              <a:gd name="adj" fmla="val 4000"/>
            </a:avLst>
          </a:prstGeom>
          <a:solidFill>
            <a:srgbClr val="FFFFFF"/>
          </a:solidFill>
          <a:ln w="15875">
            <a:solidFill>
              <a:srgbClr val="D5D2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96112" y="2103120"/>
            <a:ext cx="292608" cy="292608"/>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523744"/>
            <a:ext cx="2194560" cy="292608"/>
          </a:xfrm>
          <a:prstGeom prst="rect">
            <a:avLst/>
          </a:prstGeom>
          <a:noFill/>
        </p:spPr>
        <p:txBody>
          <a:bodyPr wrap="square" lIns="0" rIns="0" tIns="0" bIns="0" anchor="t">
            <a:spAutoFit/>
          </a:bodyPr>
          <a:lstStyle/>
          <a:p>
            <a:pPr algn="l"/>
            <a:r>
              <a:rPr sz="1450" b="1" i="0">
                <a:solidFill>
                  <a:srgbClr val="17151A"/>
                </a:solidFill>
                <a:latin typeface="Calibri"/>
              </a:rPr>
              <a:t>Claude Code</a:t>
            </a:r>
          </a:p>
        </p:txBody>
      </p:sp>
      <p:sp>
        <p:nvSpPr>
          <p:cNvPr id="8" name="TextBox 7"/>
          <p:cNvSpPr txBox="1"/>
          <p:nvPr/>
        </p:nvSpPr>
        <p:spPr>
          <a:xfrm>
            <a:off x="896112" y="2871216"/>
            <a:ext cx="2194560" cy="731520"/>
          </a:xfrm>
          <a:prstGeom prst="rect">
            <a:avLst/>
          </a:prstGeom>
          <a:noFill/>
        </p:spPr>
        <p:txBody>
          <a:bodyPr wrap="square" lIns="0" rIns="0" tIns="0" bIns="0" anchor="t">
            <a:spAutoFit/>
          </a:bodyPr>
          <a:lstStyle/>
          <a:p>
            <a:pPr algn="l"/>
            <a:r>
              <a:rPr sz="1200" b="0" i="0">
                <a:solidFill>
                  <a:srgbClr val="54565B"/>
                </a:solidFill>
                <a:latin typeface="Calibri"/>
              </a:rPr>
              <a:t>Everything, automatic</a:t>
            </a:r>
          </a:p>
        </p:txBody>
      </p:sp>
      <p:sp>
        <p:nvSpPr>
          <p:cNvPr id="9" name="TextBox 8"/>
          <p:cNvSpPr txBox="1"/>
          <p:nvPr/>
        </p:nvSpPr>
        <p:spPr>
          <a:xfrm>
            <a:off x="896112" y="3675887"/>
            <a:ext cx="2194560" cy="274320"/>
          </a:xfrm>
          <a:prstGeom prst="rect">
            <a:avLst/>
          </a:prstGeom>
          <a:noFill/>
        </p:spPr>
        <p:txBody>
          <a:bodyPr wrap="square" lIns="0" rIns="0" tIns="0" bIns="0" anchor="t">
            <a:spAutoFit/>
          </a:bodyPr>
          <a:lstStyle/>
          <a:p>
            <a:pPr algn="l"/>
            <a:r>
              <a:rPr sz="1200" b="1" i="0">
                <a:solidFill>
                  <a:srgbClr val="BA0C2F"/>
                </a:solidFill>
                <a:latin typeface="Calibri"/>
              </a:rPr>
              <a:t>~$20/mo</a:t>
            </a:r>
          </a:p>
        </p:txBody>
      </p:sp>
      <p:sp>
        <p:nvSpPr>
          <p:cNvPr id="10" name="Rounded Rectangle 9"/>
          <p:cNvSpPr/>
          <p:nvPr/>
        </p:nvSpPr>
        <p:spPr>
          <a:xfrm>
            <a:off x="3438144" y="1828800"/>
            <a:ext cx="2578608" cy="2331720"/>
          </a:xfrm>
          <a:prstGeom prst="roundRect">
            <a:avLst>
              <a:gd name="adj" fmla="val 4000"/>
            </a:avLst>
          </a:prstGeom>
          <a:solidFill>
            <a:srgbClr val="FFFFFF"/>
          </a:solidFill>
          <a:ln w="15875">
            <a:solidFill>
              <a:srgbClr val="D5D2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94176" y="2103120"/>
            <a:ext cx="292608" cy="29260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2523744"/>
            <a:ext cx="2194560" cy="292608"/>
          </a:xfrm>
          <a:prstGeom prst="rect">
            <a:avLst/>
          </a:prstGeom>
          <a:noFill/>
        </p:spPr>
        <p:txBody>
          <a:bodyPr wrap="square" lIns="0" rIns="0" tIns="0" bIns="0" anchor="t">
            <a:spAutoFit/>
          </a:bodyPr>
          <a:lstStyle/>
          <a:p>
            <a:pPr algn="l"/>
            <a:r>
              <a:rPr sz="1450" b="1" i="0">
                <a:solidFill>
                  <a:srgbClr val="17151A"/>
                </a:solidFill>
                <a:latin typeface="Calibri"/>
              </a:rPr>
              <a:t>GitHub Copilot</a:t>
            </a:r>
          </a:p>
        </p:txBody>
      </p:sp>
      <p:sp>
        <p:nvSpPr>
          <p:cNvPr id="13" name="TextBox 12"/>
          <p:cNvSpPr txBox="1"/>
          <p:nvPr/>
        </p:nvSpPr>
        <p:spPr>
          <a:xfrm>
            <a:off x="3694176" y="2871216"/>
            <a:ext cx="2194560" cy="731520"/>
          </a:xfrm>
          <a:prstGeom prst="rect">
            <a:avLst/>
          </a:prstGeom>
          <a:noFill/>
        </p:spPr>
        <p:txBody>
          <a:bodyPr wrap="square" lIns="0" rIns="0" tIns="0" bIns="0" anchor="t">
            <a:spAutoFit/>
          </a:bodyPr>
          <a:lstStyle/>
          <a:p>
            <a:pPr algn="l"/>
            <a:r>
              <a:rPr sz="1200" b="0" i="0">
                <a:solidFill>
                  <a:srgbClr val="54565B"/>
                </a:solidFill>
                <a:latin typeface="Calibri"/>
              </a:rPr>
              <a:t>Everything, automatic</a:t>
            </a:r>
          </a:p>
        </p:txBody>
      </p:sp>
      <p:sp>
        <p:nvSpPr>
          <p:cNvPr id="14" name="TextBox 13"/>
          <p:cNvSpPr txBox="1"/>
          <p:nvPr/>
        </p:nvSpPr>
        <p:spPr>
          <a:xfrm>
            <a:off x="3694176" y="3675887"/>
            <a:ext cx="2194560" cy="274320"/>
          </a:xfrm>
          <a:prstGeom prst="rect">
            <a:avLst/>
          </a:prstGeom>
          <a:noFill/>
        </p:spPr>
        <p:txBody>
          <a:bodyPr wrap="square" lIns="0" rIns="0" tIns="0" bIns="0" anchor="t">
            <a:spAutoFit/>
          </a:bodyPr>
          <a:lstStyle/>
          <a:p>
            <a:pPr algn="l"/>
            <a:r>
              <a:rPr sz="1200" b="1" i="0">
                <a:solidFill>
                  <a:srgbClr val="375060"/>
                </a:solidFill>
                <a:latin typeface="Calibri"/>
              </a:rPr>
              <a:t>Free for students</a:t>
            </a:r>
          </a:p>
        </p:txBody>
      </p:sp>
      <p:sp>
        <p:nvSpPr>
          <p:cNvPr id="15" name="Rounded Rectangle 14"/>
          <p:cNvSpPr/>
          <p:nvPr/>
        </p:nvSpPr>
        <p:spPr>
          <a:xfrm>
            <a:off x="6236208" y="1828800"/>
            <a:ext cx="2578608" cy="2331720"/>
          </a:xfrm>
          <a:prstGeom prst="roundRect">
            <a:avLst>
              <a:gd name="adj" fmla="val 4000"/>
            </a:avLst>
          </a:prstGeom>
          <a:solidFill>
            <a:srgbClr val="FFFFFF"/>
          </a:solidFill>
          <a:ln w="15875">
            <a:solidFill>
              <a:srgbClr val="D5D2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92240" y="2103120"/>
            <a:ext cx="292608" cy="292608"/>
          </a:xfrm>
          <a:prstGeom prst="ellipse">
            <a:avLst/>
          </a:prstGeom>
          <a:solidFill>
            <a:srgbClr val="545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2523744"/>
            <a:ext cx="2194560" cy="292608"/>
          </a:xfrm>
          <a:prstGeom prst="rect">
            <a:avLst/>
          </a:prstGeom>
          <a:noFill/>
        </p:spPr>
        <p:txBody>
          <a:bodyPr wrap="square" lIns="0" rIns="0" tIns="0" bIns="0" anchor="t">
            <a:spAutoFit/>
          </a:bodyPr>
          <a:lstStyle/>
          <a:p>
            <a:pPr algn="l"/>
            <a:r>
              <a:rPr sz="1450" b="1" i="0">
                <a:solidFill>
                  <a:srgbClr val="17151A"/>
                </a:solidFill>
                <a:latin typeface="Calibri"/>
              </a:rPr>
              <a:t>ChatGPT / Gemini</a:t>
            </a:r>
          </a:p>
        </p:txBody>
      </p:sp>
      <p:sp>
        <p:nvSpPr>
          <p:cNvPr id="18" name="TextBox 17"/>
          <p:cNvSpPr txBox="1"/>
          <p:nvPr/>
        </p:nvSpPr>
        <p:spPr>
          <a:xfrm>
            <a:off x="6492240" y="2871216"/>
            <a:ext cx="2194560" cy="731520"/>
          </a:xfrm>
          <a:prstGeom prst="rect">
            <a:avLst/>
          </a:prstGeom>
          <a:noFill/>
        </p:spPr>
        <p:txBody>
          <a:bodyPr wrap="square" lIns="0" rIns="0" tIns="0" bIns="0" anchor="t">
            <a:spAutoFit/>
          </a:bodyPr>
          <a:lstStyle/>
          <a:p>
            <a:pPr algn="l"/>
            <a:r>
              <a:rPr sz="1200" b="0" i="0">
                <a:solidFill>
                  <a:srgbClr val="54565B"/>
                </a:solidFill>
                <a:latin typeface="Calibri"/>
              </a:rPr>
              <a:t>All ten use cases,</a:t>
            </a:r>
          </a:p>
          <a:p>
            <a:pPr algn="l"/>
            <a:r>
              <a:rPr sz="1200" b="0" i="0">
                <a:solidFill>
                  <a:srgbClr val="54565B"/>
                </a:solidFill>
                <a:latin typeface="Calibri"/>
              </a:rPr>
              <a:t>more copy and paste</a:t>
            </a:r>
          </a:p>
        </p:txBody>
      </p:sp>
      <p:sp>
        <p:nvSpPr>
          <p:cNvPr id="19" name="TextBox 18"/>
          <p:cNvSpPr txBox="1"/>
          <p:nvPr/>
        </p:nvSpPr>
        <p:spPr>
          <a:xfrm>
            <a:off x="6492240" y="3675887"/>
            <a:ext cx="2194560" cy="274320"/>
          </a:xfrm>
          <a:prstGeom prst="rect">
            <a:avLst/>
          </a:prstGeom>
          <a:noFill/>
        </p:spPr>
        <p:txBody>
          <a:bodyPr wrap="square" lIns="0" rIns="0" tIns="0" bIns="0" anchor="t">
            <a:spAutoFit/>
          </a:bodyPr>
          <a:lstStyle/>
          <a:p>
            <a:pPr algn="l"/>
            <a:r>
              <a:rPr sz="1200" b="1" i="0">
                <a:solidFill>
                  <a:srgbClr val="54565B"/>
                </a:solidFill>
                <a:latin typeface="Calibri"/>
              </a:rPr>
              <a:t>~$20/mo</a:t>
            </a:r>
          </a:p>
        </p:txBody>
      </p:sp>
      <p:sp>
        <p:nvSpPr>
          <p:cNvPr id="20" name="Rounded Rectangle 19"/>
          <p:cNvSpPr/>
          <p:nvPr/>
        </p:nvSpPr>
        <p:spPr>
          <a:xfrm>
            <a:off x="9034272" y="1828800"/>
            <a:ext cx="2578608" cy="2331720"/>
          </a:xfrm>
          <a:prstGeom prst="roundRect">
            <a:avLst>
              <a:gd name="adj" fmla="val 4000"/>
            </a:avLst>
          </a:prstGeom>
          <a:solidFill>
            <a:srgbClr val="FFFFFF"/>
          </a:solidFill>
          <a:ln w="15875">
            <a:solidFill>
              <a:srgbClr val="D5D2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290303" y="2103120"/>
            <a:ext cx="292608" cy="292608"/>
          </a:xfrm>
          <a:prstGeom prst="ellipse">
            <a:avLst/>
          </a:prstGeom>
          <a:solidFill>
            <a:srgbClr val="545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0303" y="2523744"/>
            <a:ext cx="2194560" cy="292608"/>
          </a:xfrm>
          <a:prstGeom prst="rect">
            <a:avLst/>
          </a:prstGeom>
          <a:noFill/>
        </p:spPr>
        <p:txBody>
          <a:bodyPr wrap="square" lIns="0" rIns="0" tIns="0" bIns="0" anchor="t">
            <a:spAutoFit/>
          </a:bodyPr>
          <a:lstStyle/>
          <a:p>
            <a:pPr algn="l"/>
            <a:r>
              <a:rPr sz="1450" b="1" i="0">
                <a:solidFill>
                  <a:srgbClr val="17151A"/>
                </a:solidFill>
                <a:latin typeface="Calibri"/>
              </a:rPr>
              <a:t>A free chat tool</a:t>
            </a:r>
          </a:p>
        </p:txBody>
      </p:sp>
      <p:sp>
        <p:nvSpPr>
          <p:cNvPr id="23" name="TextBox 22"/>
          <p:cNvSpPr txBox="1"/>
          <p:nvPr/>
        </p:nvSpPr>
        <p:spPr>
          <a:xfrm>
            <a:off x="9290303" y="2871216"/>
            <a:ext cx="2194560" cy="731520"/>
          </a:xfrm>
          <a:prstGeom prst="rect">
            <a:avLst/>
          </a:prstGeom>
          <a:noFill/>
        </p:spPr>
        <p:txBody>
          <a:bodyPr wrap="square" lIns="0" rIns="0" tIns="0" bIns="0" anchor="t">
            <a:spAutoFit/>
          </a:bodyPr>
          <a:lstStyle/>
          <a:p>
            <a:pPr algn="l"/>
            <a:r>
              <a:rPr sz="1200" b="0" i="0">
                <a:solidFill>
                  <a:srgbClr val="54565B"/>
                </a:solidFill>
                <a:latin typeface="Calibri"/>
              </a:rPr>
              <a:t>The five non-numeric</a:t>
            </a:r>
          </a:p>
          <a:p>
            <a:pPr algn="l"/>
            <a:r>
              <a:rPr sz="1200" b="0" i="0">
                <a:solidFill>
                  <a:srgbClr val="54565B"/>
                </a:solidFill>
                <a:latin typeface="Calibri"/>
              </a:rPr>
              <a:t>use cases</a:t>
            </a:r>
          </a:p>
        </p:txBody>
      </p:sp>
      <p:sp>
        <p:nvSpPr>
          <p:cNvPr id="24" name="TextBox 23"/>
          <p:cNvSpPr txBox="1"/>
          <p:nvPr/>
        </p:nvSpPr>
        <p:spPr>
          <a:xfrm>
            <a:off x="9290303" y="3675887"/>
            <a:ext cx="2194560" cy="274320"/>
          </a:xfrm>
          <a:prstGeom prst="rect">
            <a:avLst/>
          </a:prstGeom>
          <a:noFill/>
        </p:spPr>
        <p:txBody>
          <a:bodyPr wrap="square" lIns="0" rIns="0" tIns="0" bIns="0" anchor="t">
            <a:spAutoFit/>
          </a:bodyPr>
          <a:lstStyle/>
          <a:p>
            <a:pPr algn="l"/>
            <a:r>
              <a:rPr sz="1200" b="1" i="0">
                <a:solidFill>
                  <a:srgbClr val="54565B"/>
                </a:solidFill>
                <a:latin typeface="Calibri"/>
              </a:rPr>
              <a:t>Free</a:t>
            </a:r>
          </a:p>
        </p:txBody>
      </p:sp>
      <p:sp>
        <p:nvSpPr>
          <p:cNvPr id="25" name="TextBox 24"/>
          <p:cNvSpPr txBox="1"/>
          <p:nvPr/>
        </p:nvSpPr>
        <p:spPr>
          <a:xfrm>
            <a:off x="640080" y="4480560"/>
            <a:ext cx="10515600" cy="320040"/>
          </a:xfrm>
          <a:prstGeom prst="rect">
            <a:avLst/>
          </a:prstGeom>
          <a:noFill/>
        </p:spPr>
        <p:txBody>
          <a:bodyPr wrap="square" lIns="0" rIns="0" tIns="0" bIns="0" anchor="t">
            <a:spAutoFit/>
          </a:bodyPr>
          <a:lstStyle/>
          <a:p>
            <a:pPr algn="l"/>
            <a:r>
              <a:rPr sz="1500" b="0" i="0">
                <a:solidFill>
                  <a:srgbClr val="17151A"/>
                </a:solidFill>
                <a:latin typeface="Calibri"/>
              </a:rPr>
              <a:t>The workspace is plain text files, so it is not tied to one company's product.</a:t>
            </a:r>
          </a:p>
        </p:txBody>
      </p:sp>
      <p:sp>
        <p:nvSpPr>
          <p:cNvPr id="26" name="TextBox 25"/>
          <p:cNvSpPr txBox="1"/>
          <p:nvPr/>
        </p:nvSpPr>
        <p:spPr>
          <a:xfrm>
            <a:off x="640080" y="4800600"/>
            <a:ext cx="10515600" cy="320040"/>
          </a:xfrm>
          <a:prstGeom prst="rect">
            <a:avLst/>
          </a:prstGeom>
          <a:noFill/>
        </p:spPr>
        <p:txBody>
          <a:bodyPr wrap="square" lIns="0" rIns="0" tIns="0" bIns="0" anchor="t">
            <a:spAutoFit/>
          </a:bodyPr>
          <a:lstStyle/>
          <a:p>
            <a:pPr algn="l"/>
            <a:r>
              <a:rPr sz="1500" b="0" i="0">
                <a:solidFill>
                  <a:srgbClr val="54565B"/>
                </a:solidFill>
                <a:latin typeface="Calibri"/>
              </a:rPr>
              <a:t>What changes between tools is how much is automatic, not whether you can do the 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45920"/>
            <a:ext cx="10515600" cy="3017520"/>
          </a:xfrm>
          <a:prstGeom prst="rect">
            <a:avLst/>
          </a:prstGeom>
          <a:noFill/>
        </p:spPr>
        <p:txBody>
          <a:bodyPr wrap="square" lIns="0" rIns="0" tIns="0" bIns="0" anchor="t">
            <a:spAutoFit/>
          </a:bodyPr>
          <a:lstStyle/>
          <a:p>
            <a:pPr algn="l">
              <a:lnSpc>
                <a:spcPts val="6000"/>
              </a:lnSpc>
            </a:pPr>
            <a:r>
              <a:rPr sz="5200" b="1" i="0">
                <a:solidFill>
                  <a:srgbClr val="FFFFFF"/>
                </a:solidFill>
                <a:latin typeface="Cambria"/>
              </a:rPr>
              <a:t>An analysis with no</a:t>
            </a:r>
          </a:p>
          <a:p>
            <a:pPr algn="l">
              <a:lnSpc>
                <a:spcPts val="6000"/>
              </a:lnSpc>
            </a:pPr>
            <a:r>
              <a:rPr sz="5200" b="1" i="0">
                <a:solidFill>
                  <a:srgbClr val="FFFFFF"/>
                </a:solidFill>
                <a:latin typeface="Cambria"/>
              </a:rPr>
              <a:t>decision attached</a:t>
            </a:r>
          </a:p>
          <a:p>
            <a:pPr algn="l">
              <a:lnSpc>
                <a:spcPts val="6000"/>
              </a:lnSpc>
            </a:pPr>
            <a:r>
              <a:rPr sz="5200" b="1" i="0">
                <a:solidFill>
                  <a:srgbClr val="FFFFFF"/>
                </a:solidFill>
                <a:latin typeface="Cambria"/>
              </a:rPr>
              <a:t>is a hobby.</a:t>
            </a:r>
          </a:p>
        </p:txBody>
      </p:sp>
      <p:sp>
        <p:nvSpPr>
          <p:cNvPr id="4" name="Rectangle 3"/>
          <p:cNvSpPr/>
          <p:nvPr/>
        </p:nvSpPr>
        <p:spPr>
          <a:xfrm>
            <a:off x="640080" y="4846320"/>
            <a:ext cx="1005840" cy="32004"/>
          </a:xfrm>
          <a:prstGeom prst="rect">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138928"/>
            <a:ext cx="9692640" cy="685800"/>
          </a:xfrm>
          <a:prstGeom prst="rect">
            <a:avLst/>
          </a:prstGeom>
          <a:noFill/>
        </p:spPr>
        <p:txBody>
          <a:bodyPr wrap="square" lIns="0" rIns="0" tIns="0" bIns="0" anchor="t">
            <a:spAutoFit/>
          </a:bodyPr>
          <a:lstStyle/>
          <a:p>
            <a:pPr algn="l"/>
            <a:r>
              <a:rPr sz="1600" b="0" i="0">
                <a:solidFill>
                  <a:srgbClr val="D5D2C5"/>
                </a:solidFill>
                <a:latin typeface="Calibri"/>
              </a:rPr>
              <a:t>The next thirty minutes are the ones that feel least like progress, and decide whether everything after them is useful.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THE TWO FAILURE MODES</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How analytics projects actually fail</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828800"/>
            <a:ext cx="5294376" cy="269748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21408"/>
            <a:ext cx="4526280" cy="914400"/>
          </a:xfrm>
          <a:prstGeom prst="rect">
            <a:avLst/>
          </a:prstGeom>
          <a:noFill/>
        </p:spPr>
        <p:txBody>
          <a:bodyPr wrap="square" lIns="0" rIns="0" tIns="0" bIns="0" anchor="t">
            <a:spAutoFit/>
          </a:bodyPr>
          <a:lstStyle/>
          <a:p>
            <a:pPr algn="l"/>
            <a:r>
              <a:rPr sz="2100" b="1" i="0">
                <a:solidFill>
                  <a:srgbClr val="BA0C2F"/>
                </a:solidFill>
                <a:latin typeface="Cambria"/>
              </a:rPr>
              <a:t>It answers a question</a:t>
            </a:r>
          </a:p>
          <a:p>
            <a:pPr algn="l"/>
            <a:r>
              <a:rPr sz="2100" b="1" i="0">
                <a:solidFill>
                  <a:srgbClr val="BA0C2F"/>
                </a:solidFill>
                <a:latin typeface="Cambria"/>
              </a:rPr>
              <a:t>nobody asked</a:t>
            </a:r>
          </a:p>
        </p:txBody>
      </p:sp>
      <p:sp>
        <p:nvSpPr>
          <p:cNvPr id="7" name="TextBox 6"/>
          <p:cNvSpPr txBox="1"/>
          <p:nvPr/>
        </p:nvSpPr>
        <p:spPr>
          <a:xfrm>
            <a:off x="1051560" y="3127248"/>
            <a:ext cx="4526280" cy="1234440"/>
          </a:xfrm>
          <a:prstGeom prst="rect">
            <a:avLst/>
          </a:prstGeom>
          <a:noFill/>
        </p:spPr>
        <p:txBody>
          <a:bodyPr wrap="square" lIns="0" rIns="0" tIns="0" bIns="0" anchor="t">
            <a:spAutoFit/>
          </a:bodyPr>
          <a:lstStyle/>
          <a:p>
            <a:pPr algn="l"/>
            <a:r>
              <a:rPr sz="1400" b="0" i="0">
                <a:solidFill>
                  <a:srgbClr val="17151A"/>
                </a:solidFill>
                <a:latin typeface="Calibri"/>
              </a:rPr>
              <a:t>The analyst started from the data that was available instead of the choice that was pending. The math is flawless and nobody uses it.</a:t>
            </a:r>
          </a:p>
        </p:txBody>
      </p:sp>
      <p:sp>
        <p:nvSpPr>
          <p:cNvPr id="8" name="Rounded Rectangle 7"/>
          <p:cNvSpPr/>
          <p:nvPr/>
        </p:nvSpPr>
        <p:spPr>
          <a:xfrm>
            <a:off x="6190488" y="1828800"/>
            <a:ext cx="5294376" cy="269748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1968" y="2121408"/>
            <a:ext cx="4526280" cy="914400"/>
          </a:xfrm>
          <a:prstGeom prst="rect">
            <a:avLst/>
          </a:prstGeom>
          <a:noFill/>
        </p:spPr>
        <p:txBody>
          <a:bodyPr wrap="square" lIns="0" rIns="0" tIns="0" bIns="0" anchor="t">
            <a:spAutoFit/>
          </a:bodyPr>
          <a:lstStyle/>
          <a:p>
            <a:pPr algn="l"/>
            <a:r>
              <a:rPr sz="2100" b="1" i="0">
                <a:solidFill>
                  <a:srgbClr val="BA0C2F"/>
                </a:solidFill>
                <a:latin typeface="Cambria"/>
              </a:rPr>
              <a:t>It rests on data that</a:t>
            </a:r>
          </a:p>
          <a:p>
            <a:pPr algn="l"/>
            <a:r>
              <a:rPr sz="2100" b="1" i="0">
                <a:solidFill>
                  <a:srgbClr val="BA0C2F"/>
                </a:solidFill>
                <a:latin typeface="Cambria"/>
              </a:rPr>
              <a:t>cannot hold it</a:t>
            </a:r>
          </a:p>
        </p:txBody>
      </p:sp>
      <p:sp>
        <p:nvSpPr>
          <p:cNvPr id="10" name="TextBox 9"/>
          <p:cNvSpPr txBox="1"/>
          <p:nvPr/>
        </p:nvSpPr>
        <p:spPr>
          <a:xfrm>
            <a:off x="6601968" y="3127248"/>
            <a:ext cx="4526280" cy="1234440"/>
          </a:xfrm>
          <a:prstGeom prst="rect">
            <a:avLst/>
          </a:prstGeom>
          <a:noFill/>
        </p:spPr>
        <p:txBody>
          <a:bodyPr wrap="square" lIns="0" rIns="0" tIns="0" bIns="0" anchor="t">
            <a:spAutoFit/>
          </a:bodyPr>
          <a:lstStyle/>
          <a:p>
            <a:pPr algn="l"/>
            <a:r>
              <a:rPr sz="1400" b="0" i="0">
                <a:solidFill>
                  <a:srgbClr val="17151A"/>
                </a:solidFill>
                <a:latin typeface="Calibri"/>
              </a:rPr>
              <a:t>Duplicate rows become a growth trend. A column that quietly changed meaning in 2024 becomes a strategy.</a:t>
            </a:r>
          </a:p>
        </p:txBody>
      </p:sp>
      <p:sp>
        <p:nvSpPr>
          <p:cNvPr id="11" name="TextBox 10"/>
          <p:cNvSpPr txBox="1"/>
          <p:nvPr/>
        </p:nvSpPr>
        <p:spPr>
          <a:xfrm>
            <a:off x="640080" y="4937760"/>
            <a:ext cx="10515600" cy="365760"/>
          </a:xfrm>
          <a:prstGeom prst="rect">
            <a:avLst/>
          </a:prstGeom>
          <a:noFill/>
        </p:spPr>
        <p:txBody>
          <a:bodyPr wrap="square" lIns="0" rIns="0" tIns="0" bIns="0" anchor="t">
            <a:spAutoFit/>
          </a:bodyPr>
          <a:lstStyle/>
          <a:p>
            <a:pPr algn="l"/>
            <a:r>
              <a:rPr sz="1700" b="1" i="0">
                <a:solidFill>
                  <a:srgbClr val="17151A"/>
                </a:solidFill>
                <a:latin typeface="Calibri"/>
              </a:rPr>
              <a:t>Neither one is a math problem. Tonight is built to catch both.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EXERCISE 1</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Five fields make a decision frame</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Oval 4"/>
          <p:cNvSpPr/>
          <p:nvPr/>
        </p:nvSpPr>
        <p:spPr>
          <a:xfrm>
            <a:off x="640080" y="1755648"/>
            <a:ext cx="384048" cy="38404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1207007" y="1746504"/>
            <a:ext cx="4114800" cy="320040"/>
          </a:xfrm>
          <a:prstGeom prst="rect">
            <a:avLst/>
          </a:prstGeom>
          <a:noFill/>
        </p:spPr>
        <p:txBody>
          <a:bodyPr wrap="square" lIns="0" rIns="0" tIns="0" bIns="0" anchor="t">
            <a:spAutoFit/>
          </a:bodyPr>
          <a:lstStyle/>
          <a:p>
            <a:pPr algn="l"/>
            <a:r>
              <a:rPr sz="1650" b="1" i="0">
                <a:solidFill>
                  <a:srgbClr val="17151A"/>
                </a:solidFill>
                <a:latin typeface="Calibri"/>
              </a:rPr>
              <a:t>The decision</a:t>
            </a:r>
          </a:p>
        </p:txBody>
      </p:sp>
      <p:sp>
        <p:nvSpPr>
          <p:cNvPr id="7" name="TextBox 6"/>
          <p:cNvSpPr txBox="1"/>
          <p:nvPr/>
        </p:nvSpPr>
        <p:spPr>
          <a:xfrm>
            <a:off x="5394960" y="1755648"/>
            <a:ext cx="5852160" cy="548640"/>
          </a:xfrm>
          <a:prstGeom prst="rect">
            <a:avLst/>
          </a:prstGeom>
          <a:noFill/>
        </p:spPr>
        <p:txBody>
          <a:bodyPr wrap="square" lIns="0" rIns="0" tIns="0" bIns="0" anchor="t">
            <a:spAutoFit/>
          </a:bodyPr>
          <a:lstStyle/>
          <a:p>
            <a:pPr algn="l"/>
            <a:r>
              <a:rPr sz="1400" b="0" i="0">
                <a:solidFill>
                  <a:srgbClr val="54565B"/>
                </a:solidFill>
                <a:latin typeface="Calibri"/>
              </a:rPr>
              <a:t>A verb and at least two real options. Not a topic.</a:t>
            </a:r>
          </a:p>
        </p:txBody>
      </p:sp>
      <p:sp>
        <p:nvSpPr>
          <p:cNvPr id="8" name="Oval 7"/>
          <p:cNvSpPr/>
          <p:nvPr/>
        </p:nvSpPr>
        <p:spPr>
          <a:xfrm>
            <a:off x="640080" y="2560320"/>
            <a:ext cx="384048" cy="38404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9" name="TextBox 8"/>
          <p:cNvSpPr txBox="1"/>
          <p:nvPr/>
        </p:nvSpPr>
        <p:spPr>
          <a:xfrm>
            <a:off x="1207007" y="2551176"/>
            <a:ext cx="4114800" cy="320040"/>
          </a:xfrm>
          <a:prstGeom prst="rect">
            <a:avLst/>
          </a:prstGeom>
          <a:noFill/>
        </p:spPr>
        <p:txBody>
          <a:bodyPr wrap="square" lIns="0" rIns="0" tIns="0" bIns="0" anchor="t">
            <a:spAutoFit/>
          </a:bodyPr>
          <a:lstStyle/>
          <a:p>
            <a:pPr algn="l"/>
            <a:r>
              <a:rPr sz="1650" b="1" i="0">
                <a:solidFill>
                  <a:srgbClr val="17151A"/>
                </a:solidFill>
                <a:latin typeface="Calibri"/>
              </a:rPr>
              <a:t>The owner</a:t>
            </a:r>
          </a:p>
        </p:txBody>
      </p:sp>
      <p:sp>
        <p:nvSpPr>
          <p:cNvPr id="10" name="TextBox 9"/>
          <p:cNvSpPr txBox="1"/>
          <p:nvPr/>
        </p:nvSpPr>
        <p:spPr>
          <a:xfrm>
            <a:off x="5394960" y="2560320"/>
            <a:ext cx="5852160" cy="548640"/>
          </a:xfrm>
          <a:prstGeom prst="rect">
            <a:avLst/>
          </a:prstGeom>
          <a:noFill/>
        </p:spPr>
        <p:txBody>
          <a:bodyPr wrap="square" lIns="0" rIns="0" tIns="0" bIns="0" anchor="t">
            <a:spAutoFit/>
          </a:bodyPr>
          <a:lstStyle/>
          <a:p>
            <a:pPr algn="l"/>
            <a:r>
              <a:rPr sz="1400" b="0" i="0">
                <a:solidFill>
                  <a:srgbClr val="54565B"/>
                </a:solidFill>
                <a:latin typeface="Calibri"/>
              </a:rPr>
              <a:t>A person who can actually make the call. Not “leadership.”</a:t>
            </a:r>
          </a:p>
        </p:txBody>
      </p:sp>
      <p:sp>
        <p:nvSpPr>
          <p:cNvPr id="11" name="Oval 10"/>
          <p:cNvSpPr/>
          <p:nvPr/>
        </p:nvSpPr>
        <p:spPr>
          <a:xfrm>
            <a:off x="640080" y="3364991"/>
            <a:ext cx="384048" cy="38404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2" name="TextBox 11"/>
          <p:cNvSpPr txBox="1"/>
          <p:nvPr/>
        </p:nvSpPr>
        <p:spPr>
          <a:xfrm>
            <a:off x="1207007" y="3355848"/>
            <a:ext cx="4114800" cy="320040"/>
          </a:xfrm>
          <a:prstGeom prst="rect">
            <a:avLst/>
          </a:prstGeom>
          <a:noFill/>
        </p:spPr>
        <p:txBody>
          <a:bodyPr wrap="square" lIns="0" rIns="0" tIns="0" bIns="0" anchor="t">
            <a:spAutoFit/>
          </a:bodyPr>
          <a:lstStyle/>
          <a:p>
            <a:pPr algn="l"/>
            <a:r>
              <a:rPr sz="1650" b="1" i="0">
                <a:solidFill>
                  <a:srgbClr val="17151A"/>
                </a:solidFill>
                <a:latin typeface="Calibri"/>
              </a:rPr>
              <a:t>The trigger</a:t>
            </a:r>
          </a:p>
        </p:txBody>
      </p:sp>
      <p:sp>
        <p:nvSpPr>
          <p:cNvPr id="13" name="TextBox 12"/>
          <p:cNvSpPr txBox="1"/>
          <p:nvPr/>
        </p:nvSpPr>
        <p:spPr>
          <a:xfrm>
            <a:off x="5394960" y="3364991"/>
            <a:ext cx="5852160" cy="548640"/>
          </a:xfrm>
          <a:prstGeom prst="rect">
            <a:avLst/>
          </a:prstGeom>
          <a:noFill/>
        </p:spPr>
        <p:txBody>
          <a:bodyPr wrap="square" lIns="0" rIns="0" tIns="0" bIns="0" anchor="t">
            <a:spAutoFit/>
          </a:bodyPr>
          <a:lstStyle/>
          <a:p>
            <a:pPr algn="l"/>
            <a:r>
              <a:rPr sz="1400" b="0" i="0">
                <a:solidFill>
                  <a:srgbClr val="54565B"/>
                </a:solidFill>
                <a:latin typeface="Calibri"/>
              </a:rPr>
              <a:t>What forces it, and by when.</a:t>
            </a:r>
          </a:p>
        </p:txBody>
      </p:sp>
      <p:sp>
        <p:nvSpPr>
          <p:cNvPr id="14" name="Oval 13"/>
          <p:cNvSpPr/>
          <p:nvPr/>
        </p:nvSpPr>
        <p:spPr>
          <a:xfrm>
            <a:off x="640080" y="4169663"/>
            <a:ext cx="384048" cy="384048"/>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5" name="TextBox 14"/>
          <p:cNvSpPr txBox="1"/>
          <p:nvPr/>
        </p:nvSpPr>
        <p:spPr>
          <a:xfrm>
            <a:off x="1207007" y="4160520"/>
            <a:ext cx="4114800" cy="320040"/>
          </a:xfrm>
          <a:prstGeom prst="rect">
            <a:avLst/>
          </a:prstGeom>
          <a:noFill/>
        </p:spPr>
        <p:txBody>
          <a:bodyPr wrap="square" lIns="0" rIns="0" tIns="0" bIns="0" anchor="t">
            <a:spAutoFit/>
          </a:bodyPr>
          <a:lstStyle/>
          <a:p>
            <a:pPr algn="l"/>
            <a:r>
              <a:rPr sz="1650" b="1" i="0">
                <a:solidFill>
                  <a:srgbClr val="BA0C2F"/>
                </a:solidFill>
                <a:latin typeface="Calibri"/>
              </a:rPr>
              <a:t>What would change their mind</a:t>
            </a:r>
          </a:p>
        </p:txBody>
      </p:sp>
      <p:sp>
        <p:nvSpPr>
          <p:cNvPr id="16" name="TextBox 15"/>
          <p:cNvSpPr txBox="1"/>
          <p:nvPr/>
        </p:nvSpPr>
        <p:spPr>
          <a:xfrm>
            <a:off x="5394960" y="4169663"/>
            <a:ext cx="5852160" cy="548640"/>
          </a:xfrm>
          <a:prstGeom prst="rect">
            <a:avLst/>
          </a:prstGeom>
          <a:noFill/>
        </p:spPr>
        <p:txBody>
          <a:bodyPr wrap="square" lIns="0" rIns="0" tIns="0" bIns="0" anchor="t">
            <a:spAutoFit/>
          </a:bodyPr>
          <a:lstStyle/>
          <a:p>
            <a:pPr algn="l"/>
            <a:r>
              <a:rPr sz="1400" b="0" i="0">
                <a:solidFill>
                  <a:srgbClr val="54565B"/>
                </a:solidFill>
                <a:latin typeface="Calibri"/>
              </a:rPr>
              <a:t>The evidence that would move them off their prior.</a:t>
            </a:r>
          </a:p>
        </p:txBody>
      </p:sp>
      <p:sp>
        <p:nvSpPr>
          <p:cNvPr id="17" name="Oval 16"/>
          <p:cNvSpPr/>
          <p:nvPr/>
        </p:nvSpPr>
        <p:spPr>
          <a:xfrm>
            <a:off x="640080" y="4974336"/>
            <a:ext cx="384048" cy="38404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18" name="TextBox 17"/>
          <p:cNvSpPr txBox="1"/>
          <p:nvPr/>
        </p:nvSpPr>
        <p:spPr>
          <a:xfrm>
            <a:off x="1207007" y="4965192"/>
            <a:ext cx="4114800" cy="320040"/>
          </a:xfrm>
          <a:prstGeom prst="rect">
            <a:avLst/>
          </a:prstGeom>
          <a:noFill/>
        </p:spPr>
        <p:txBody>
          <a:bodyPr wrap="square" lIns="0" rIns="0" tIns="0" bIns="0" anchor="t">
            <a:spAutoFit/>
          </a:bodyPr>
          <a:lstStyle/>
          <a:p>
            <a:pPr algn="l"/>
            <a:r>
              <a:rPr sz="1650" b="1" i="0">
                <a:solidFill>
                  <a:srgbClr val="17151A"/>
                </a:solidFill>
                <a:latin typeface="Calibri"/>
              </a:rPr>
              <a:t>Good enough to act on</a:t>
            </a:r>
          </a:p>
        </p:txBody>
      </p:sp>
      <p:sp>
        <p:nvSpPr>
          <p:cNvPr id="19" name="TextBox 18"/>
          <p:cNvSpPr txBox="1"/>
          <p:nvPr/>
        </p:nvSpPr>
        <p:spPr>
          <a:xfrm>
            <a:off x="5394960" y="4974336"/>
            <a:ext cx="5852160" cy="548640"/>
          </a:xfrm>
          <a:prstGeom prst="rect">
            <a:avLst/>
          </a:prstGeom>
          <a:noFill/>
        </p:spPr>
        <p:txBody>
          <a:bodyPr wrap="square" lIns="0" rIns="0" tIns="0" bIns="0" anchor="t">
            <a:spAutoFit/>
          </a:bodyPr>
          <a:lstStyle/>
          <a:p>
            <a:pPr algn="l"/>
            <a:r>
              <a:rPr sz="1400" b="0" i="0">
                <a:solidFill>
                  <a:srgbClr val="54565B"/>
                </a:solidFill>
                <a:latin typeface="Calibri"/>
              </a:rPr>
              <a:t>How wrong could this be and still lead to the same choice?</a:t>
            </a:r>
          </a:p>
        </p:txBody>
      </p:sp>
      <p:sp>
        <p:nvSpPr>
          <p:cNvPr id="20" name="TextBox 19"/>
          <p:cNvSpPr txBox="1"/>
          <p:nvPr/>
        </p:nvSpPr>
        <p:spPr>
          <a:xfrm>
            <a:off x="640080" y="5870448"/>
            <a:ext cx="10515600" cy="320040"/>
          </a:xfrm>
          <a:prstGeom prst="rect">
            <a:avLst/>
          </a:prstGeom>
          <a:noFill/>
        </p:spPr>
        <p:txBody>
          <a:bodyPr wrap="square" lIns="0" rIns="0" tIns="0" bIns="0" anchor="t">
            <a:spAutoFit/>
          </a:bodyPr>
          <a:lstStyle/>
          <a:p>
            <a:pPr algn="l"/>
            <a:r>
              <a:rPr sz="1400" b="0" i="1">
                <a:solidFill>
                  <a:srgbClr val="54565B"/>
                </a:solidFill>
                <a:latin typeface="Calibri"/>
              </a:rPr>
              <a:t>Each one has to be specific enough to be wrong. Vague is the failure mode, not incomplete.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17320"/>
            <a:ext cx="10789920" cy="2743200"/>
          </a:xfrm>
          <a:prstGeom prst="rect">
            <a:avLst/>
          </a:prstGeom>
          <a:noFill/>
        </p:spPr>
        <p:txBody>
          <a:bodyPr wrap="square" lIns="0" rIns="0" tIns="0" bIns="0" anchor="t">
            <a:spAutoFit/>
          </a:bodyPr>
          <a:lstStyle/>
          <a:p>
            <a:pPr algn="l">
              <a:lnSpc>
                <a:spcPts val="4400"/>
              </a:lnSpc>
            </a:pPr>
            <a:r>
              <a:rPr sz="3000" b="1" i="0">
                <a:solidFill>
                  <a:srgbClr val="FFFFFF"/>
                </a:solidFill>
                <a:latin typeface="Cambria"/>
              </a:rPr>
              <a:t>“If the analysis came back saying</a:t>
            </a:r>
          </a:p>
          <a:p>
            <a:pPr algn="l">
              <a:lnSpc>
                <a:spcPts val="4400"/>
              </a:lnSpc>
            </a:pPr>
            <a:r>
              <a:rPr sz="3000" b="1" i="0">
                <a:solidFill>
                  <a:srgbClr val="FFFFFF"/>
                </a:solidFill>
                <a:latin typeface="Cambria"/>
              </a:rPr>
              <a:t>the opposite of what your VP expects,</a:t>
            </a:r>
          </a:p>
          <a:p>
            <a:pPr algn="l">
              <a:lnSpc>
                <a:spcPts val="4400"/>
              </a:lnSpc>
            </a:pPr>
            <a:r>
              <a:rPr sz="3000" b="1" i="0">
                <a:solidFill>
                  <a:srgbClr val="FFFFFF"/>
                </a:solidFill>
                <a:latin typeface="Cambria"/>
              </a:rPr>
              <a:t>what would it have to show for them</a:t>
            </a:r>
          </a:p>
          <a:p>
            <a:pPr algn="l">
              <a:lnSpc>
                <a:spcPts val="4400"/>
              </a:lnSpc>
            </a:pPr>
            <a:r>
              <a:rPr sz="3000" b="1" i="0">
                <a:solidFill>
                  <a:srgbClr val="FFFFFF"/>
                </a:solidFill>
                <a:latin typeface="Cambria"/>
              </a:rPr>
              <a:t>to actually change course?”</a:t>
            </a:r>
          </a:p>
        </p:txBody>
      </p:sp>
      <p:sp>
        <p:nvSpPr>
          <p:cNvPr id="4" name="Rounded Rectangle 3"/>
          <p:cNvSpPr/>
          <p:nvPr/>
        </p:nvSpPr>
        <p:spPr>
          <a:xfrm>
            <a:off x="640080" y="4434840"/>
            <a:ext cx="10911535" cy="1463040"/>
          </a:xfrm>
          <a:prstGeom prst="roundRect">
            <a:avLst>
              <a:gd name="adj" fmla="val 4000"/>
            </a:avLst>
          </a:prstGeom>
          <a:solidFill>
            <a:srgbClr val="8A15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4617720"/>
            <a:ext cx="10058400" cy="292608"/>
          </a:xfrm>
          <a:prstGeom prst="rect">
            <a:avLst/>
          </a:prstGeom>
          <a:noFill/>
        </p:spPr>
        <p:txBody>
          <a:bodyPr wrap="square" lIns="0" rIns="0" tIns="0" bIns="0" anchor="t">
            <a:spAutoFit/>
          </a:bodyPr>
          <a:lstStyle/>
          <a:p>
            <a:pPr algn="l"/>
            <a:r>
              <a:rPr sz="1500" b="1" i="0">
                <a:solidFill>
                  <a:srgbClr val="D5D2C5"/>
                </a:solidFill>
                <a:latin typeface="Calibri"/>
              </a:rPr>
              <a:t>If the honest answer is “nothing”</a:t>
            </a:r>
          </a:p>
        </p:txBody>
      </p:sp>
      <p:sp>
        <p:nvSpPr>
          <p:cNvPr id="6" name="TextBox 5"/>
          <p:cNvSpPr txBox="1"/>
          <p:nvPr/>
        </p:nvSpPr>
        <p:spPr>
          <a:xfrm>
            <a:off x="1051560" y="4956048"/>
            <a:ext cx="10058400" cy="868680"/>
          </a:xfrm>
          <a:prstGeom prst="rect">
            <a:avLst/>
          </a:prstGeom>
          <a:noFill/>
        </p:spPr>
        <p:txBody>
          <a:bodyPr wrap="square" lIns="0" rIns="0" tIns="0" bIns="0" anchor="t">
            <a:spAutoFit/>
          </a:bodyPr>
          <a:lstStyle/>
          <a:p>
            <a:pPr algn="l"/>
            <a:r>
              <a:rPr sz="1350" b="0" i="0">
                <a:solidFill>
                  <a:srgbClr val="FFFFFF"/>
                </a:solidFill>
                <a:latin typeface="Calibri"/>
              </a:rPr>
              <a:t>The decision is already made and you are being asked for cover. That is worth knowing in minute ten rather than week three. It is a real finding, and you have three honest options: analyze it anyway, aim at a different question, or aim at a different audience.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18 MINUTES</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Your turn</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691640"/>
            <a:ext cx="7315200" cy="274320"/>
          </a:xfrm>
          <a:prstGeom prst="rect">
            <a:avLst/>
          </a:prstGeom>
          <a:noFill/>
        </p:spPr>
        <p:txBody>
          <a:bodyPr wrap="square" lIns="0" rIns="0" tIns="0" bIns="0" anchor="t">
            <a:spAutoFit/>
          </a:bodyPr>
          <a:lstStyle/>
          <a:p>
            <a:pPr algn="l"/>
            <a:r>
              <a:rPr sz="1400" b="0" i="0">
                <a:solidFill>
                  <a:srgbClr val="54565B"/>
                </a:solidFill>
                <a:latin typeface="Calibri"/>
              </a:rPr>
              <a:t>Open your assistant and say:</a:t>
            </a:r>
          </a:p>
        </p:txBody>
      </p:sp>
      <p:sp>
        <p:nvSpPr>
          <p:cNvPr id="6" name="Rounded Rectangle 5"/>
          <p:cNvSpPr/>
          <p:nvPr/>
        </p:nvSpPr>
        <p:spPr>
          <a:xfrm>
            <a:off x="640080" y="2011680"/>
            <a:ext cx="6675120" cy="65836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76272"/>
            <a:ext cx="6035040" cy="365760"/>
          </a:xfrm>
          <a:prstGeom prst="rect">
            <a:avLst/>
          </a:prstGeom>
          <a:noFill/>
        </p:spPr>
        <p:txBody>
          <a:bodyPr wrap="square" lIns="0" rIns="0" tIns="0" bIns="0" anchor="t">
            <a:spAutoFit/>
          </a:bodyPr>
          <a:lstStyle/>
          <a:p>
            <a:pPr algn="l"/>
            <a:r>
              <a:rPr sz="1700" b="0" i="0">
                <a:solidFill>
                  <a:srgbClr val="BA0C2F"/>
                </a:solidFill>
                <a:latin typeface="Consolas"/>
              </a:rPr>
              <a:t>help me frame my decision</a:t>
            </a:r>
          </a:p>
        </p:txBody>
      </p:sp>
      <p:sp>
        <p:nvSpPr>
          <p:cNvPr id="8" name="Oval 7"/>
          <p:cNvSpPr/>
          <p:nvPr/>
        </p:nvSpPr>
        <p:spPr>
          <a:xfrm>
            <a:off x="676656" y="3081527"/>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999232"/>
            <a:ext cx="6492240" cy="411480"/>
          </a:xfrm>
          <a:prstGeom prst="rect">
            <a:avLst/>
          </a:prstGeom>
          <a:noFill/>
        </p:spPr>
        <p:txBody>
          <a:bodyPr wrap="square" lIns="0" rIns="0" tIns="0" bIns="0" anchor="t">
            <a:spAutoFit/>
          </a:bodyPr>
          <a:lstStyle/>
          <a:p>
            <a:pPr algn="l"/>
            <a:r>
              <a:rPr sz="1400" b="0" i="0">
                <a:solidFill>
                  <a:srgbClr val="17151A"/>
                </a:solidFill>
                <a:latin typeface="Calibri"/>
              </a:rPr>
              <a:t>It asks whether you have a specific ask from someone, or a problem with no ask.</a:t>
            </a:r>
          </a:p>
        </p:txBody>
      </p:sp>
      <p:sp>
        <p:nvSpPr>
          <p:cNvPr id="10" name="Oval 9"/>
          <p:cNvSpPr/>
          <p:nvPr/>
        </p:nvSpPr>
        <p:spPr>
          <a:xfrm>
            <a:off x="676656" y="3648456"/>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3566160"/>
            <a:ext cx="6492240" cy="411480"/>
          </a:xfrm>
          <a:prstGeom prst="rect">
            <a:avLst/>
          </a:prstGeom>
          <a:noFill/>
        </p:spPr>
        <p:txBody>
          <a:bodyPr wrap="square" lIns="0" rIns="0" tIns="0" bIns="0" anchor="t">
            <a:spAutoFit/>
          </a:bodyPr>
          <a:lstStyle/>
          <a:p>
            <a:pPr algn="l"/>
            <a:r>
              <a:rPr sz="1400" b="0" i="0">
                <a:solidFill>
                  <a:srgbClr val="17151A"/>
                </a:solidFill>
                <a:latin typeface="Calibri"/>
              </a:rPr>
              <a:t>It works one field at a time and will push back on vague answers. Let it.</a:t>
            </a:r>
          </a:p>
        </p:txBody>
      </p:sp>
      <p:sp>
        <p:nvSpPr>
          <p:cNvPr id="12" name="Oval 11"/>
          <p:cNvSpPr/>
          <p:nvPr/>
        </p:nvSpPr>
        <p:spPr>
          <a:xfrm>
            <a:off x="676656" y="4215383"/>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4133087"/>
            <a:ext cx="6492240" cy="411480"/>
          </a:xfrm>
          <a:prstGeom prst="rect">
            <a:avLst/>
          </a:prstGeom>
          <a:noFill/>
        </p:spPr>
        <p:txBody>
          <a:bodyPr wrap="square" lIns="0" rIns="0" tIns="0" bIns="0" anchor="t">
            <a:spAutoFit/>
          </a:bodyPr>
          <a:lstStyle/>
          <a:p>
            <a:pPr algn="l"/>
            <a:r>
              <a:rPr sz="1400" b="0" i="0">
                <a:solidFill>
                  <a:srgbClr val="17151A"/>
                </a:solidFill>
                <a:latin typeface="Calibri"/>
              </a:rPr>
              <a:t>You write the answers into your template by hand. It will not write them for you.</a:t>
            </a:r>
          </a:p>
        </p:txBody>
      </p:sp>
      <p:sp>
        <p:nvSpPr>
          <p:cNvPr id="14" name="Oval 13"/>
          <p:cNvSpPr/>
          <p:nvPr/>
        </p:nvSpPr>
        <p:spPr>
          <a:xfrm>
            <a:off x="676656" y="4782312"/>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4700016"/>
            <a:ext cx="6492240" cy="411480"/>
          </a:xfrm>
          <a:prstGeom prst="rect">
            <a:avLst/>
          </a:prstGeom>
          <a:noFill/>
        </p:spPr>
        <p:txBody>
          <a:bodyPr wrap="square" lIns="0" rIns="0" tIns="0" bIns="0" anchor="t">
            <a:spAutoFit/>
          </a:bodyPr>
          <a:lstStyle/>
          <a:p>
            <a:pPr algn="l"/>
            <a:r>
              <a:rPr sz="1400" b="0" i="0">
                <a:solidFill>
                  <a:srgbClr val="17151A"/>
                </a:solidFill>
                <a:latin typeface="Calibri"/>
              </a:rPr>
              <a:t>At the end it recommends which use case fits, and a runner-up.</a:t>
            </a:r>
          </a:p>
        </p:txBody>
      </p:sp>
      <p:sp>
        <p:nvSpPr>
          <p:cNvPr id="16" name="Rounded Rectangle 15"/>
          <p:cNvSpPr/>
          <p:nvPr/>
        </p:nvSpPr>
        <p:spPr>
          <a:xfrm>
            <a:off x="7863840" y="2011680"/>
            <a:ext cx="3685032" cy="370332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79" y="2267712"/>
            <a:ext cx="3108960" cy="292608"/>
          </a:xfrm>
          <a:prstGeom prst="rect">
            <a:avLst/>
          </a:prstGeom>
          <a:noFill/>
        </p:spPr>
        <p:txBody>
          <a:bodyPr wrap="square" lIns="0" rIns="0" tIns="0" bIns="0" anchor="t">
            <a:spAutoFit/>
          </a:bodyPr>
          <a:lstStyle/>
          <a:p>
            <a:pPr algn="l"/>
            <a:r>
              <a:rPr sz="1500" b="1" i="0">
                <a:solidFill>
                  <a:srgbClr val="BA0C2F"/>
                </a:solidFill>
                <a:latin typeface="Calibri"/>
              </a:rPr>
              <a:t>Stuck for a decision?</a:t>
            </a:r>
          </a:p>
        </p:txBody>
      </p:sp>
      <p:sp>
        <p:nvSpPr>
          <p:cNvPr id="18" name="TextBox 17"/>
          <p:cNvSpPr txBox="1"/>
          <p:nvPr/>
        </p:nvSpPr>
        <p:spPr>
          <a:xfrm>
            <a:off x="8183879" y="2670048"/>
            <a:ext cx="3108960" cy="2834640"/>
          </a:xfrm>
          <a:prstGeom prst="rect">
            <a:avLst/>
          </a:prstGeom>
          <a:noFill/>
        </p:spPr>
        <p:txBody>
          <a:bodyPr wrap="square" lIns="0" rIns="0" tIns="0" bIns="0">
            <a:spAutoFit/>
          </a:bodyPr>
          <a:lstStyle/>
          <a:p>
            <a:pPr>
              <a:spcAft>
                <a:spcPts val="900"/>
              </a:spcAft>
            </a:pPr>
            <a:r>
              <a:rPr sz="1250">
                <a:solidFill>
                  <a:srgbClr val="17151A"/>
                </a:solidFill>
                <a:latin typeface="Calibri"/>
              </a:rPr>
              <a:t>Hire two people or extend the contractors?</a:t>
            </a:r>
          </a:p>
          <a:p>
            <a:pPr>
              <a:spcAft>
                <a:spcPts val="900"/>
              </a:spcAft>
            </a:pPr>
            <a:r>
              <a:rPr sz="1250">
                <a:solidFill>
                  <a:srgbClr val="17151A"/>
                </a:solidFill>
                <a:latin typeface="Calibri"/>
              </a:rPr>
              <a:t>Raise prices on this line, and by how much?</a:t>
            </a:r>
          </a:p>
          <a:p>
            <a:pPr>
              <a:spcAft>
                <a:spcPts val="900"/>
              </a:spcAft>
            </a:pPr>
            <a:r>
              <a:rPr sz="1250">
                <a:solidFill>
                  <a:srgbClr val="17151A"/>
                </a:solidFill>
                <a:latin typeface="Calibri"/>
              </a:rPr>
              <a:t>Which of three problems do we fix first?</a:t>
            </a:r>
          </a:p>
          <a:p>
            <a:pPr>
              <a:spcAft>
                <a:spcPts val="900"/>
              </a:spcAft>
            </a:pPr>
            <a:r>
              <a:rPr sz="1250">
                <a:solidFill>
                  <a:srgbClr val="17151A"/>
                </a:solidFill>
                <a:latin typeface="Calibri"/>
              </a:rPr>
              <a:t>Is this vendor worth renewing?</a:t>
            </a:r>
          </a:p>
          <a:p>
            <a:pPr>
              <a:spcAft>
                <a:spcPts val="900"/>
              </a:spcAft>
            </a:pPr>
            <a:r>
              <a:rPr sz="1250">
                <a:solidFill>
                  <a:srgbClr val="17151A"/>
                </a:solidFill>
                <a:latin typeface="Calibri"/>
              </a:rPr>
              <a:t>Do we keep the Tuesday report nobody reads?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EXERCISE 2</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Two rules that make this an audit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Oval 4"/>
          <p:cNvSpPr/>
          <p:nvPr/>
        </p:nvSpPr>
        <p:spPr>
          <a:xfrm>
            <a:off x="640080" y="1892807"/>
            <a:ext cx="457200" cy="457200"/>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1</a:t>
            </a:r>
          </a:p>
        </p:txBody>
      </p:sp>
      <p:sp>
        <p:nvSpPr>
          <p:cNvPr id="6" name="TextBox 5"/>
          <p:cNvSpPr txBox="1"/>
          <p:nvPr/>
        </p:nvSpPr>
        <p:spPr>
          <a:xfrm>
            <a:off x="1316736" y="1874519"/>
            <a:ext cx="9601200" cy="365760"/>
          </a:xfrm>
          <a:prstGeom prst="rect">
            <a:avLst/>
          </a:prstGeom>
          <a:noFill/>
        </p:spPr>
        <p:txBody>
          <a:bodyPr wrap="square" lIns="0" rIns="0" tIns="0" bIns="0" anchor="t">
            <a:spAutoFit/>
          </a:bodyPr>
          <a:lstStyle/>
          <a:p>
            <a:pPr algn="l"/>
            <a:r>
              <a:rPr sz="2200" b="1" i="0">
                <a:solidFill>
                  <a:srgbClr val="BA0C2F"/>
                </a:solidFill>
                <a:latin typeface="Cambria"/>
              </a:rPr>
              <a:t>You never clean silently</a:t>
            </a:r>
          </a:p>
        </p:txBody>
      </p:sp>
      <p:sp>
        <p:nvSpPr>
          <p:cNvPr id="7" name="TextBox 6"/>
          <p:cNvSpPr txBox="1"/>
          <p:nvPr/>
        </p:nvSpPr>
        <p:spPr>
          <a:xfrm>
            <a:off x="1316736" y="2331720"/>
            <a:ext cx="9692640" cy="1234440"/>
          </a:xfrm>
          <a:prstGeom prst="rect">
            <a:avLst/>
          </a:prstGeom>
          <a:noFill/>
        </p:spPr>
        <p:txBody>
          <a:bodyPr wrap="square" lIns="0" rIns="0" tIns="0" bIns="0" anchor="t">
            <a:spAutoFit/>
          </a:bodyPr>
          <a:lstStyle/>
          <a:p>
            <a:pPr algn="l"/>
            <a:r>
              <a:rPr sz="1450" b="0" i="0">
                <a:solidFill>
                  <a:srgbClr val="17151A"/>
                </a:solidFill>
                <a:latin typeface="Calibri"/>
              </a:rPr>
              <a:t>Every change gets logged with the reason and the row count. The log is the deliverable. When someone challenges a number three weeks from now, the log is what settles it. “I think I removed some duplicates” is not an answer.</a:t>
            </a:r>
          </a:p>
        </p:txBody>
      </p:sp>
      <p:sp>
        <p:nvSpPr>
          <p:cNvPr id="8" name="Oval 7"/>
          <p:cNvSpPr/>
          <p:nvPr/>
        </p:nvSpPr>
        <p:spPr>
          <a:xfrm>
            <a:off x="640080" y="3904487"/>
            <a:ext cx="457200" cy="457200"/>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2</a:t>
            </a:r>
          </a:p>
        </p:txBody>
      </p:sp>
      <p:sp>
        <p:nvSpPr>
          <p:cNvPr id="9" name="TextBox 8"/>
          <p:cNvSpPr txBox="1"/>
          <p:nvPr/>
        </p:nvSpPr>
        <p:spPr>
          <a:xfrm>
            <a:off x="1316736" y="3886200"/>
            <a:ext cx="9601200" cy="365760"/>
          </a:xfrm>
          <a:prstGeom prst="rect">
            <a:avLst/>
          </a:prstGeom>
          <a:noFill/>
        </p:spPr>
        <p:txBody>
          <a:bodyPr wrap="square" lIns="0" rIns="0" tIns="0" bIns="0" anchor="t">
            <a:spAutoFit/>
          </a:bodyPr>
          <a:lstStyle/>
          <a:p>
            <a:pPr algn="l"/>
            <a:r>
              <a:rPr sz="2200" b="1" i="0">
                <a:solidFill>
                  <a:srgbClr val="BA0C2F"/>
                </a:solidFill>
                <a:latin typeface="Cambria"/>
              </a:rPr>
              <a:t>The AI does not decide what is wrong</a:t>
            </a:r>
          </a:p>
        </p:txBody>
      </p:sp>
      <p:sp>
        <p:nvSpPr>
          <p:cNvPr id="10" name="TextBox 9"/>
          <p:cNvSpPr txBox="1"/>
          <p:nvPr/>
        </p:nvSpPr>
        <p:spPr>
          <a:xfrm>
            <a:off x="1316736" y="4343400"/>
            <a:ext cx="9692640" cy="1234440"/>
          </a:xfrm>
          <a:prstGeom prst="rect">
            <a:avLst/>
          </a:prstGeom>
          <a:noFill/>
        </p:spPr>
        <p:txBody>
          <a:bodyPr wrap="square" lIns="0" rIns="0" tIns="0" bIns="0" anchor="t">
            <a:spAutoFit/>
          </a:bodyPr>
          <a:lstStyle/>
          <a:p>
            <a:pPr algn="l"/>
            <a:r>
              <a:rPr sz="1450" b="0" i="0">
                <a:solidFill>
                  <a:srgbClr val="17151A"/>
                </a:solidFill>
                <a:latin typeface="Calibri"/>
              </a:rPr>
              <a:t>An outlier might be an error, or the most important month in four years. A blank might be a zero, a not-applicable, or a system failure. It surfaces the options. You choose, because you know the business.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DELIBERATELY PLANTED</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Two traps waiting in the practice data</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783080"/>
            <a:ext cx="10911535" cy="192024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002536"/>
            <a:ext cx="4023360" cy="365760"/>
          </a:xfrm>
          <a:prstGeom prst="rect">
            <a:avLst/>
          </a:prstGeom>
          <a:noFill/>
        </p:spPr>
        <p:txBody>
          <a:bodyPr wrap="square" lIns="0" rIns="0" tIns="0" bIns="0" anchor="t">
            <a:spAutoFit/>
          </a:bodyPr>
          <a:lstStyle/>
          <a:p>
            <a:pPr algn="l"/>
            <a:r>
              <a:rPr sz="2000" b="1" i="0">
                <a:solidFill>
                  <a:srgbClr val="BA0C2F"/>
                </a:solidFill>
                <a:latin typeface="Cambria"/>
              </a:rPr>
              <a:t>Target leakage</a:t>
            </a:r>
          </a:p>
        </p:txBody>
      </p:sp>
      <p:sp>
        <p:nvSpPr>
          <p:cNvPr id="7" name="TextBox 6"/>
          <p:cNvSpPr txBox="1"/>
          <p:nvPr/>
        </p:nvSpPr>
        <p:spPr>
          <a:xfrm>
            <a:off x="5212080" y="2075688"/>
            <a:ext cx="3291840" cy="274320"/>
          </a:xfrm>
          <a:prstGeom prst="rect">
            <a:avLst/>
          </a:prstGeom>
          <a:noFill/>
        </p:spPr>
        <p:txBody>
          <a:bodyPr wrap="square" lIns="0" rIns="0" tIns="0" bIns="0" anchor="t">
            <a:spAutoFit/>
          </a:bodyPr>
          <a:lstStyle/>
          <a:p>
            <a:pPr algn="l"/>
            <a:r>
              <a:rPr sz="1300" b="0" i="0">
                <a:solidFill>
                  <a:srgbClr val="375060"/>
                </a:solidFill>
                <a:latin typeface="Consolas"/>
              </a:rPr>
              <a:t>cancellation_reason</a:t>
            </a:r>
          </a:p>
        </p:txBody>
      </p:sp>
      <p:sp>
        <p:nvSpPr>
          <p:cNvPr id="8" name="TextBox 7"/>
          <p:cNvSpPr txBox="1"/>
          <p:nvPr/>
        </p:nvSpPr>
        <p:spPr>
          <a:xfrm>
            <a:off x="1051560" y="2478024"/>
            <a:ext cx="10058400" cy="1097280"/>
          </a:xfrm>
          <a:prstGeom prst="rect">
            <a:avLst/>
          </a:prstGeom>
          <a:noFill/>
        </p:spPr>
        <p:txBody>
          <a:bodyPr wrap="square" lIns="0" rIns="0" tIns="0" bIns="0" anchor="t">
            <a:spAutoFit/>
          </a:bodyPr>
          <a:lstStyle/>
          <a:p>
            <a:pPr algn="l"/>
            <a:r>
              <a:rPr sz="1350" b="0" i="0">
                <a:solidFill>
                  <a:srgbClr val="17151A"/>
                </a:solidFill>
                <a:latin typeface="Calibri"/>
              </a:rPr>
              <a:t>Only filled in for accounts that already churned, so it is recorded after the outcome. Any model that includes it looks spectacular in testing and is useless in production, because you would never have that field for an account that has not churned yet.</a:t>
            </a:r>
          </a:p>
        </p:txBody>
      </p:sp>
      <p:sp>
        <p:nvSpPr>
          <p:cNvPr id="9" name="Rounded Rectangle 8"/>
          <p:cNvSpPr/>
          <p:nvPr/>
        </p:nvSpPr>
        <p:spPr>
          <a:xfrm>
            <a:off x="640080" y="3886200"/>
            <a:ext cx="10911535" cy="192024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105656"/>
            <a:ext cx="4023360" cy="365760"/>
          </a:xfrm>
          <a:prstGeom prst="rect">
            <a:avLst/>
          </a:prstGeom>
          <a:noFill/>
        </p:spPr>
        <p:txBody>
          <a:bodyPr wrap="square" lIns="0" rIns="0" tIns="0" bIns="0" anchor="t">
            <a:spAutoFit/>
          </a:bodyPr>
          <a:lstStyle/>
          <a:p>
            <a:pPr algn="l"/>
            <a:r>
              <a:rPr sz="2000" b="1" i="0">
                <a:solidFill>
                  <a:srgbClr val="BA0C2F"/>
                </a:solidFill>
                <a:latin typeface="Cambria"/>
              </a:rPr>
              <a:t>Missing, but not at random</a:t>
            </a:r>
          </a:p>
        </p:txBody>
      </p:sp>
      <p:sp>
        <p:nvSpPr>
          <p:cNvPr id="11" name="TextBox 10"/>
          <p:cNvSpPr txBox="1"/>
          <p:nvPr/>
        </p:nvSpPr>
        <p:spPr>
          <a:xfrm>
            <a:off x="5212080" y="4178808"/>
            <a:ext cx="3291840" cy="274320"/>
          </a:xfrm>
          <a:prstGeom prst="rect">
            <a:avLst/>
          </a:prstGeom>
          <a:noFill/>
        </p:spPr>
        <p:txBody>
          <a:bodyPr wrap="square" lIns="0" rIns="0" tIns="0" bIns="0" anchor="t">
            <a:spAutoFit/>
          </a:bodyPr>
          <a:lstStyle/>
          <a:p>
            <a:pPr algn="l"/>
            <a:r>
              <a:rPr sz="1300" b="0" i="0">
                <a:solidFill>
                  <a:srgbClr val="375060"/>
                </a:solidFill>
                <a:latin typeface="Consolas"/>
              </a:rPr>
              <a:t>nps_score</a:t>
            </a:r>
          </a:p>
        </p:txBody>
      </p:sp>
      <p:sp>
        <p:nvSpPr>
          <p:cNvPr id="12" name="TextBox 11"/>
          <p:cNvSpPr txBox="1"/>
          <p:nvPr/>
        </p:nvSpPr>
        <p:spPr>
          <a:xfrm>
            <a:off x="1051560" y="4581144"/>
            <a:ext cx="10058400" cy="1097280"/>
          </a:xfrm>
          <a:prstGeom prst="rect">
            <a:avLst/>
          </a:prstGeom>
          <a:noFill/>
        </p:spPr>
        <p:txBody>
          <a:bodyPr wrap="square" lIns="0" rIns="0" tIns="0" bIns="0" anchor="t">
            <a:spAutoFit/>
          </a:bodyPr>
          <a:lstStyle/>
          <a:p>
            <a:pPr algn="l"/>
            <a:r>
              <a:rPr sz="1350" b="0" i="0">
                <a:solidFill>
                  <a:srgbClr val="17151A"/>
                </a:solidFill>
                <a:latin typeface="Calibri"/>
              </a:rPr>
              <a:t>Blank 18% of the time, and the blanks churn at a higher rate. Filling them with the column average quietly erases the signal. Deciding what to do instead is the actual analytical judgment.</a:t>
            </a:r>
          </a:p>
        </p:txBody>
      </p:sp>
      <p:sp>
        <p:nvSpPr>
          <p:cNvPr id="13" name="TextBox 12"/>
          <p:cNvSpPr txBox="1"/>
          <p:nvPr/>
        </p:nvSpPr>
        <p:spPr>
          <a:xfrm>
            <a:off x="640080" y="5943600"/>
            <a:ext cx="10058400" cy="320040"/>
          </a:xfrm>
          <a:prstGeom prst="rect">
            <a:avLst/>
          </a:prstGeom>
          <a:noFill/>
        </p:spPr>
        <p:txBody>
          <a:bodyPr wrap="square" lIns="0" rIns="0" tIns="0" bIns="0" anchor="t">
            <a:spAutoFit/>
          </a:bodyPr>
          <a:lstStyle/>
          <a:p>
            <a:pPr algn="l"/>
            <a:r>
              <a:rPr sz="1500" b="1" i="1">
                <a:solidFill>
                  <a:srgbClr val="BA0C2F"/>
                </a:solidFill>
                <a:latin typeface="Calibri"/>
              </a:rPr>
              <a:t>If a churn model scores 0.99, it has leakage, not insight.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737360"/>
            <a:ext cx="10607040" cy="2011680"/>
          </a:xfrm>
          <a:prstGeom prst="rect">
            <a:avLst/>
          </a:prstGeom>
          <a:noFill/>
        </p:spPr>
        <p:txBody>
          <a:bodyPr wrap="square" lIns="0" rIns="0" tIns="0" bIns="0" anchor="t">
            <a:spAutoFit/>
          </a:bodyPr>
          <a:lstStyle/>
          <a:p>
            <a:pPr algn="l">
              <a:lnSpc>
                <a:spcPts val="5600"/>
              </a:lnSpc>
            </a:pPr>
            <a:r>
              <a:rPr sz="4600" b="1" i="0">
                <a:solidFill>
                  <a:srgbClr val="FFFFFF"/>
                </a:solidFill>
                <a:latin typeface="Cambria"/>
              </a:rPr>
              <a:t>Never give a single number</a:t>
            </a:r>
          </a:p>
          <a:p>
            <a:pPr algn="l">
              <a:lnSpc>
                <a:spcPts val="5600"/>
              </a:lnSpc>
            </a:pPr>
            <a:r>
              <a:rPr sz="4600" b="1" i="0">
                <a:solidFill>
                  <a:srgbClr val="FFFFFF"/>
                </a:solidFill>
                <a:latin typeface="Cambria"/>
              </a:rPr>
              <a:t>where a range belongs.</a:t>
            </a:r>
          </a:p>
        </p:txBody>
      </p:sp>
      <p:sp>
        <p:nvSpPr>
          <p:cNvPr id="4" name="Rectangle 3"/>
          <p:cNvSpPr/>
          <p:nvPr/>
        </p:nvSpPr>
        <p:spPr>
          <a:xfrm>
            <a:off x="640080" y="3977639"/>
            <a:ext cx="1005840" cy="32004"/>
          </a:xfrm>
          <a:prstGeom prst="rect">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279392"/>
            <a:ext cx="10241280" cy="1005840"/>
          </a:xfrm>
          <a:prstGeom prst="rect">
            <a:avLst/>
          </a:prstGeom>
          <a:noFill/>
        </p:spPr>
        <p:txBody>
          <a:bodyPr wrap="square" lIns="0" rIns="0" tIns="0" bIns="0" anchor="t">
            <a:spAutoFit/>
          </a:bodyPr>
          <a:lstStyle/>
          <a:p>
            <a:pPr algn="l"/>
            <a:r>
              <a:rPr sz="1600" b="0" i="0">
                <a:solidFill>
                  <a:srgbClr val="D5D2C5"/>
                </a:solidFill>
                <a:latin typeface="Calibri"/>
              </a:rPr>
              <a:t>A forecast that says $2.4M gets quoted for a year and treated as a commitment. One that says “between $0.9M and $3.1M, and it hinges almost entirely on downgrade rate” is honest, and it tells everyone what to go find out.</a:t>
            </a:r>
          </a:p>
        </p:txBody>
      </p:sp>
      <p:sp>
        <p:nvSpPr>
          <p:cNvPr id="6" name="TextBox 5"/>
          <p:cNvSpPr txBox="1"/>
          <p:nvPr/>
        </p:nvSpPr>
        <p:spPr>
          <a:xfrm>
            <a:off x="640080" y="5486400"/>
            <a:ext cx="10241280" cy="365760"/>
          </a:xfrm>
          <a:prstGeom prst="rect">
            <a:avLst/>
          </a:prstGeom>
          <a:noFill/>
        </p:spPr>
        <p:txBody>
          <a:bodyPr wrap="square" lIns="0" rIns="0" tIns="0" bIns="0" anchor="t">
            <a:spAutoFit/>
          </a:bodyPr>
          <a:lstStyle/>
          <a:p>
            <a:pPr algn="l"/>
            <a:r>
              <a:rPr sz="1700" b="1" i="0">
                <a:solidFill>
                  <a:srgbClr val="FFFFFF"/>
                </a:solidFill>
                <a:latin typeface="Calibri"/>
              </a:rPr>
              <a:t>The width of the range is information. Do not let your tool hide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WATCH FOR THESE</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What your AI will try to do wrong</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828800"/>
            <a:ext cx="10911535" cy="96012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7" y="2002536"/>
            <a:ext cx="3566160" cy="292608"/>
          </a:xfrm>
          <a:prstGeom prst="rect">
            <a:avLst/>
          </a:prstGeom>
          <a:noFill/>
        </p:spPr>
        <p:txBody>
          <a:bodyPr wrap="square" lIns="0" rIns="0" tIns="0" bIns="0" anchor="t">
            <a:spAutoFit/>
          </a:bodyPr>
          <a:lstStyle/>
          <a:p>
            <a:pPr algn="l"/>
            <a:r>
              <a:rPr sz="1550" b="1" i="0">
                <a:solidFill>
                  <a:srgbClr val="BA0C2F"/>
                </a:solidFill>
                <a:latin typeface="Calibri"/>
              </a:rPr>
              <a:t>Drop the uncertainty</a:t>
            </a:r>
          </a:p>
        </p:txBody>
      </p:sp>
      <p:sp>
        <p:nvSpPr>
          <p:cNvPr id="7" name="TextBox 6"/>
          <p:cNvSpPr txBox="1"/>
          <p:nvPr/>
        </p:nvSpPr>
        <p:spPr>
          <a:xfrm>
            <a:off x="4754880" y="2002536"/>
            <a:ext cx="6492240" cy="640080"/>
          </a:xfrm>
          <a:prstGeom prst="rect">
            <a:avLst/>
          </a:prstGeom>
          <a:noFill/>
        </p:spPr>
        <p:txBody>
          <a:bodyPr wrap="square" lIns="0" rIns="0" tIns="0" bIns="0" anchor="t">
            <a:spAutoFit/>
          </a:bodyPr>
          <a:lstStyle/>
          <a:p>
            <a:pPr algn="l"/>
            <a:r>
              <a:rPr sz="1350" b="0" i="0">
                <a:solidFill>
                  <a:srgbClr val="17151A"/>
                </a:solidFill>
                <a:latin typeface="Calibri"/>
              </a:rPr>
              <a:t>It will hand you a clean single number because that reads as confident. Ask for the range every time.</a:t>
            </a:r>
          </a:p>
        </p:txBody>
      </p:sp>
      <p:sp>
        <p:nvSpPr>
          <p:cNvPr id="8" name="Rounded Rectangle 7"/>
          <p:cNvSpPr/>
          <p:nvPr/>
        </p:nvSpPr>
        <p:spPr>
          <a:xfrm>
            <a:off x="640080" y="2907791"/>
            <a:ext cx="10911535" cy="96012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7" y="3081527"/>
            <a:ext cx="3566160" cy="292608"/>
          </a:xfrm>
          <a:prstGeom prst="rect">
            <a:avLst/>
          </a:prstGeom>
          <a:noFill/>
        </p:spPr>
        <p:txBody>
          <a:bodyPr wrap="square" lIns="0" rIns="0" tIns="0" bIns="0" anchor="t">
            <a:spAutoFit/>
          </a:bodyPr>
          <a:lstStyle/>
          <a:p>
            <a:pPr algn="l"/>
            <a:r>
              <a:rPr sz="1550" b="1" i="0">
                <a:solidFill>
                  <a:srgbClr val="BA0C2F"/>
                </a:solidFill>
                <a:latin typeface="Calibri"/>
              </a:rPr>
              <a:t>Call a correlation a driver</a:t>
            </a:r>
          </a:p>
        </p:txBody>
      </p:sp>
      <p:sp>
        <p:nvSpPr>
          <p:cNvPr id="10" name="TextBox 9"/>
          <p:cNvSpPr txBox="1"/>
          <p:nvPr/>
        </p:nvSpPr>
        <p:spPr>
          <a:xfrm>
            <a:off x="4754880" y="3081527"/>
            <a:ext cx="6492240" cy="640080"/>
          </a:xfrm>
          <a:prstGeom prst="rect">
            <a:avLst/>
          </a:prstGeom>
          <a:noFill/>
        </p:spPr>
        <p:txBody>
          <a:bodyPr wrap="square" lIns="0" rIns="0" tIns="0" bIns="0" anchor="t">
            <a:spAutoFit/>
          </a:bodyPr>
          <a:lstStyle/>
          <a:p>
            <a:pPr algn="l"/>
            <a:r>
              <a:rPr sz="1350" b="0" i="0">
                <a:solidFill>
                  <a:srgbClr val="17151A"/>
                </a:solidFill>
                <a:latin typeface="Calibri"/>
              </a:rPr>
              <a:t>“Support tickets drive churn” is not what the model found. It found they move together.</a:t>
            </a:r>
          </a:p>
        </p:txBody>
      </p:sp>
      <p:sp>
        <p:nvSpPr>
          <p:cNvPr id="11" name="Rounded Rectangle 10"/>
          <p:cNvSpPr/>
          <p:nvPr/>
        </p:nvSpPr>
        <p:spPr>
          <a:xfrm>
            <a:off x="640080" y="3986783"/>
            <a:ext cx="10911535" cy="96012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7" y="4160520"/>
            <a:ext cx="3566160" cy="292608"/>
          </a:xfrm>
          <a:prstGeom prst="rect">
            <a:avLst/>
          </a:prstGeom>
          <a:noFill/>
        </p:spPr>
        <p:txBody>
          <a:bodyPr wrap="square" lIns="0" rIns="0" tIns="0" bIns="0" anchor="t">
            <a:spAutoFit/>
          </a:bodyPr>
          <a:lstStyle/>
          <a:p>
            <a:pPr algn="l"/>
            <a:r>
              <a:rPr sz="1550" b="1" i="0">
                <a:solidFill>
                  <a:srgbClr val="BA0C2F"/>
                </a:solidFill>
                <a:latin typeface="Calibri"/>
              </a:rPr>
              <a:t>Do arithmetic in prose</a:t>
            </a:r>
          </a:p>
        </p:txBody>
      </p:sp>
      <p:sp>
        <p:nvSpPr>
          <p:cNvPr id="13" name="TextBox 12"/>
          <p:cNvSpPr txBox="1"/>
          <p:nvPr/>
        </p:nvSpPr>
        <p:spPr>
          <a:xfrm>
            <a:off x="4754880" y="4160520"/>
            <a:ext cx="6492240" cy="640080"/>
          </a:xfrm>
          <a:prstGeom prst="rect">
            <a:avLst/>
          </a:prstGeom>
          <a:noFill/>
        </p:spPr>
        <p:txBody>
          <a:bodyPr wrap="square" lIns="0" rIns="0" tIns="0" bIns="0" anchor="t">
            <a:spAutoFit/>
          </a:bodyPr>
          <a:lstStyle/>
          <a:p>
            <a:pPr algn="l"/>
            <a:r>
              <a:rPr sz="1350" b="0" i="0">
                <a:solidFill>
                  <a:srgbClr val="17151A"/>
                </a:solidFill>
                <a:latin typeface="Calibri"/>
              </a:rPr>
              <a:t>Make it write and run code for anything numeric, then check the code. Fluent is not correct.</a:t>
            </a:r>
          </a:p>
        </p:txBody>
      </p:sp>
      <p:sp>
        <p:nvSpPr>
          <p:cNvPr id="14" name="Rounded Rectangle 13"/>
          <p:cNvSpPr/>
          <p:nvPr/>
        </p:nvSpPr>
        <p:spPr>
          <a:xfrm>
            <a:off x="640080" y="5065775"/>
            <a:ext cx="10911535" cy="96012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7" y="5239512"/>
            <a:ext cx="3566160" cy="292608"/>
          </a:xfrm>
          <a:prstGeom prst="rect">
            <a:avLst/>
          </a:prstGeom>
          <a:noFill/>
        </p:spPr>
        <p:txBody>
          <a:bodyPr wrap="square" lIns="0" rIns="0" tIns="0" bIns="0" anchor="t">
            <a:spAutoFit/>
          </a:bodyPr>
          <a:lstStyle/>
          <a:p>
            <a:pPr algn="l"/>
            <a:r>
              <a:rPr sz="1550" b="1" i="0">
                <a:solidFill>
                  <a:srgbClr val="BA0C2F"/>
                </a:solidFill>
                <a:latin typeface="Calibri"/>
              </a:rPr>
              <a:t>Agree with you</a:t>
            </a:r>
          </a:p>
        </p:txBody>
      </p:sp>
      <p:sp>
        <p:nvSpPr>
          <p:cNvPr id="16" name="TextBox 15"/>
          <p:cNvSpPr txBox="1"/>
          <p:nvPr/>
        </p:nvSpPr>
        <p:spPr>
          <a:xfrm>
            <a:off x="4754880" y="5239512"/>
            <a:ext cx="6492240" cy="640080"/>
          </a:xfrm>
          <a:prstGeom prst="rect">
            <a:avLst/>
          </a:prstGeom>
          <a:noFill/>
        </p:spPr>
        <p:txBody>
          <a:bodyPr wrap="square" lIns="0" rIns="0" tIns="0" bIns="0" anchor="t">
            <a:spAutoFit/>
          </a:bodyPr>
          <a:lstStyle/>
          <a:p>
            <a:pPr algn="l"/>
            <a:r>
              <a:rPr sz="1350" b="0" i="0">
                <a:solidFill>
                  <a:srgbClr val="17151A"/>
                </a:solidFill>
                <a:latin typeface="Calibri"/>
              </a:rPr>
              <a:t>If you tell it what you expect, it will find it. State your hypothesis last, not first.</a:t>
            </a:r>
          </a:p>
        </p:txBody>
      </p:sp>
      <p:sp>
        <p:nvSpPr>
          <p:cNvPr id="17" name="TextBox 16"/>
          <p:cNvSpPr txBox="1"/>
          <p:nvPr/>
        </p:nvSpPr>
        <p:spPr>
          <a:xfrm>
            <a:off x="640080" y="6144768"/>
            <a:ext cx="10789920" cy="320040"/>
          </a:xfrm>
          <a:prstGeom prst="rect">
            <a:avLst/>
          </a:prstGeom>
          <a:noFill/>
        </p:spPr>
        <p:txBody>
          <a:bodyPr wrap="square" lIns="0" rIns="0" tIns="0" bIns="0" anchor="t">
            <a:spAutoFit/>
          </a:bodyPr>
          <a:lstStyle/>
          <a:p>
            <a:pPr algn="l"/>
            <a:r>
              <a:rPr sz="1450" b="1" i="0">
                <a:solidFill>
                  <a:srgbClr val="17151A"/>
                </a:solidFill>
                <a:latin typeface="Calibri"/>
              </a:rPr>
              <a:t>Every number you present tonight needs a method note and a limitation next to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YOUR USE CASE</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Pick one. Maybe two.</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554480"/>
            <a:ext cx="10515600" cy="292608"/>
          </a:xfrm>
          <a:prstGeom prst="rect">
            <a:avLst/>
          </a:prstGeom>
          <a:noFill/>
        </p:spPr>
        <p:txBody>
          <a:bodyPr wrap="square" lIns="0" rIns="0" tIns="0" bIns="0" anchor="t">
            <a:spAutoFit/>
          </a:bodyPr>
          <a:lstStyle/>
          <a:p>
            <a:pPr algn="l"/>
            <a:r>
              <a:rPr sz="1450" b="0" i="0">
                <a:solidFill>
                  <a:srgbClr val="54565B"/>
                </a:solidFill>
                <a:latin typeface="Calibri"/>
              </a:rPr>
              <a:t>Each one is a module you have already finished, pointed at a decision you actually have.</a:t>
            </a:r>
          </a:p>
        </p:txBody>
      </p:sp>
      <p:sp>
        <p:nvSpPr>
          <p:cNvPr id="6" name="Rounded Rectangle 5"/>
          <p:cNvSpPr/>
          <p:nvPr/>
        </p:nvSpPr>
        <p:spPr>
          <a:xfrm>
            <a:off x="640080" y="2011680"/>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2167128"/>
            <a:ext cx="2377440" cy="256032"/>
          </a:xfrm>
          <a:prstGeom prst="rect">
            <a:avLst/>
          </a:prstGeom>
          <a:noFill/>
        </p:spPr>
        <p:txBody>
          <a:bodyPr wrap="square" lIns="0" rIns="0" tIns="0" bIns="0" anchor="t">
            <a:spAutoFit/>
          </a:bodyPr>
          <a:lstStyle/>
          <a:p>
            <a:pPr algn="l"/>
            <a:r>
              <a:rPr sz="1350" b="1" i="0">
                <a:solidFill>
                  <a:srgbClr val="17151A"/>
                </a:solidFill>
                <a:latin typeface="Calibri"/>
              </a:rPr>
              <a:t>KPI dashboard</a:t>
            </a:r>
          </a:p>
        </p:txBody>
      </p:sp>
      <p:sp>
        <p:nvSpPr>
          <p:cNvPr id="8" name="TextBox 7"/>
          <p:cNvSpPr txBox="1"/>
          <p:nvPr/>
        </p:nvSpPr>
        <p:spPr>
          <a:xfrm>
            <a:off x="3291839" y="2176272"/>
            <a:ext cx="731520" cy="228600"/>
          </a:xfrm>
          <a:prstGeom prst="rect">
            <a:avLst/>
          </a:prstGeom>
          <a:noFill/>
        </p:spPr>
        <p:txBody>
          <a:bodyPr wrap="square" lIns="0" rIns="0" tIns="0" bIns="0" anchor="t">
            <a:spAutoFit/>
          </a:bodyPr>
          <a:lstStyle/>
          <a:p>
            <a:pPr algn="l"/>
            <a:r>
              <a:rPr sz="1050" b="1" i="0">
                <a:solidFill>
                  <a:srgbClr val="375060"/>
                </a:solidFill>
                <a:latin typeface="Calibri"/>
              </a:rPr>
              <a:t>Mod 01</a:t>
            </a:r>
          </a:p>
        </p:txBody>
      </p:sp>
      <p:sp>
        <p:nvSpPr>
          <p:cNvPr id="9" name="TextBox 8"/>
          <p:cNvSpPr txBox="1"/>
          <p:nvPr/>
        </p:nvSpPr>
        <p:spPr>
          <a:xfrm>
            <a:off x="877824" y="2487168"/>
            <a:ext cx="2926080" cy="457200"/>
          </a:xfrm>
          <a:prstGeom prst="rect">
            <a:avLst/>
          </a:prstGeom>
          <a:noFill/>
        </p:spPr>
        <p:txBody>
          <a:bodyPr wrap="square" lIns="0" rIns="0" tIns="0" bIns="0" anchor="t">
            <a:spAutoFit/>
          </a:bodyPr>
          <a:lstStyle/>
          <a:p>
            <a:pPr algn="l"/>
            <a:r>
              <a:rPr sz="1200" b="0" i="0">
                <a:solidFill>
                  <a:srgbClr val="54565B"/>
                </a:solidFill>
                <a:latin typeface="Calibri"/>
              </a:rPr>
              <a:t>Where do we stand right now?</a:t>
            </a:r>
          </a:p>
        </p:txBody>
      </p:sp>
      <p:sp>
        <p:nvSpPr>
          <p:cNvPr id="10" name="Rounded Rectangle 9"/>
          <p:cNvSpPr/>
          <p:nvPr/>
        </p:nvSpPr>
        <p:spPr>
          <a:xfrm>
            <a:off x="4279392" y="2011680"/>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167128"/>
            <a:ext cx="2377440" cy="256032"/>
          </a:xfrm>
          <a:prstGeom prst="rect">
            <a:avLst/>
          </a:prstGeom>
          <a:noFill/>
        </p:spPr>
        <p:txBody>
          <a:bodyPr wrap="square" lIns="0" rIns="0" tIns="0" bIns="0" anchor="t">
            <a:spAutoFit/>
          </a:bodyPr>
          <a:lstStyle/>
          <a:p>
            <a:pPr algn="l"/>
            <a:r>
              <a:rPr sz="1350" b="1" i="0">
                <a:solidFill>
                  <a:srgbClr val="17151A"/>
                </a:solidFill>
                <a:latin typeface="Calibri"/>
              </a:rPr>
              <a:t>A/B test readout</a:t>
            </a:r>
          </a:p>
        </p:txBody>
      </p:sp>
      <p:sp>
        <p:nvSpPr>
          <p:cNvPr id="12" name="TextBox 11"/>
          <p:cNvSpPr txBox="1"/>
          <p:nvPr/>
        </p:nvSpPr>
        <p:spPr>
          <a:xfrm>
            <a:off x="6931152" y="2176272"/>
            <a:ext cx="731520" cy="228600"/>
          </a:xfrm>
          <a:prstGeom prst="rect">
            <a:avLst/>
          </a:prstGeom>
          <a:noFill/>
        </p:spPr>
        <p:txBody>
          <a:bodyPr wrap="square" lIns="0" rIns="0" tIns="0" bIns="0" anchor="t">
            <a:spAutoFit/>
          </a:bodyPr>
          <a:lstStyle/>
          <a:p>
            <a:pPr algn="l"/>
            <a:r>
              <a:rPr sz="1050" b="1" i="0">
                <a:solidFill>
                  <a:srgbClr val="375060"/>
                </a:solidFill>
                <a:latin typeface="Calibri"/>
              </a:rPr>
              <a:t>Mod 04-06</a:t>
            </a:r>
          </a:p>
        </p:txBody>
      </p:sp>
      <p:sp>
        <p:nvSpPr>
          <p:cNvPr id="13" name="TextBox 12"/>
          <p:cNvSpPr txBox="1"/>
          <p:nvPr/>
        </p:nvSpPr>
        <p:spPr>
          <a:xfrm>
            <a:off x="4517136" y="2487168"/>
            <a:ext cx="2926080" cy="457200"/>
          </a:xfrm>
          <a:prstGeom prst="rect">
            <a:avLst/>
          </a:prstGeom>
          <a:noFill/>
        </p:spPr>
        <p:txBody>
          <a:bodyPr wrap="square" lIns="0" rIns="0" tIns="0" bIns="0" anchor="t">
            <a:spAutoFit/>
          </a:bodyPr>
          <a:lstStyle/>
          <a:p>
            <a:pPr algn="l"/>
            <a:r>
              <a:rPr sz="1200" b="0" i="0">
                <a:solidFill>
                  <a:srgbClr val="54565B"/>
                </a:solidFill>
                <a:latin typeface="Calibri"/>
              </a:rPr>
              <a:t>Did the thing we tried work?</a:t>
            </a:r>
          </a:p>
        </p:txBody>
      </p:sp>
      <p:sp>
        <p:nvSpPr>
          <p:cNvPr id="14" name="Rounded Rectangle 13"/>
          <p:cNvSpPr/>
          <p:nvPr/>
        </p:nvSpPr>
        <p:spPr>
          <a:xfrm>
            <a:off x="7918704" y="2011680"/>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6448" y="2167128"/>
            <a:ext cx="2377440" cy="256032"/>
          </a:xfrm>
          <a:prstGeom prst="rect">
            <a:avLst/>
          </a:prstGeom>
          <a:noFill/>
        </p:spPr>
        <p:txBody>
          <a:bodyPr wrap="square" lIns="0" rIns="0" tIns="0" bIns="0" anchor="t">
            <a:spAutoFit/>
          </a:bodyPr>
          <a:lstStyle/>
          <a:p>
            <a:pPr algn="l"/>
            <a:r>
              <a:rPr sz="1350" b="1" i="0">
                <a:solidFill>
                  <a:srgbClr val="17151A"/>
                </a:solidFill>
                <a:latin typeface="Calibri"/>
              </a:rPr>
              <a:t>Forecast</a:t>
            </a:r>
          </a:p>
        </p:txBody>
      </p:sp>
      <p:sp>
        <p:nvSpPr>
          <p:cNvPr id="16" name="TextBox 15"/>
          <p:cNvSpPr txBox="1"/>
          <p:nvPr/>
        </p:nvSpPr>
        <p:spPr>
          <a:xfrm>
            <a:off x="10570464" y="2176272"/>
            <a:ext cx="731520" cy="228600"/>
          </a:xfrm>
          <a:prstGeom prst="rect">
            <a:avLst/>
          </a:prstGeom>
          <a:noFill/>
        </p:spPr>
        <p:txBody>
          <a:bodyPr wrap="square" lIns="0" rIns="0" tIns="0" bIns="0" anchor="t">
            <a:spAutoFit/>
          </a:bodyPr>
          <a:lstStyle/>
          <a:p>
            <a:pPr algn="l"/>
            <a:r>
              <a:rPr sz="1050" b="1" i="0">
                <a:solidFill>
                  <a:srgbClr val="375060"/>
                </a:solidFill>
                <a:latin typeface="Calibri"/>
              </a:rPr>
              <a:t>Mod 09</a:t>
            </a:r>
          </a:p>
        </p:txBody>
      </p:sp>
      <p:sp>
        <p:nvSpPr>
          <p:cNvPr id="17" name="TextBox 16"/>
          <p:cNvSpPr txBox="1"/>
          <p:nvPr/>
        </p:nvSpPr>
        <p:spPr>
          <a:xfrm>
            <a:off x="8156448" y="2487168"/>
            <a:ext cx="2926080" cy="457200"/>
          </a:xfrm>
          <a:prstGeom prst="rect">
            <a:avLst/>
          </a:prstGeom>
          <a:noFill/>
        </p:spPr>
        <p:txBody>
          <a:bodyPr wrap="square" lIns="0" rIns="0" tIns="0" bIns="0" anchor="t">
            <a:spAutoFit/>
          </a:bodyPr>
          <a:lstStyle/>
          <a:p>
            <a:pPr algn="l"/>
            <a:r>
              <a:rPr sz="1200" b="0" i="0">
                <a:solidFill>
                  <a:srgbClr val="54565B"/>
                </a:solidFill>
                <a:latin typeface="Calibri"/>
              </a:rPr>
              <a:t>What will this number be?</a:t>
            </a:r>
          </a:p>
        </p:txBody>
      </p:sp>
      <p:sp>
        <p:nvSpPr>
          <p:cNvPr id="18" name="Rounded Rectangle 17"/>
          <p:cNvSpPr/>
          <p:nvPr/>
        </p:nvSpPr>
        <p:spPr>
          <a:xfrm>
            <a:off x="640080" y="3218688"/>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3374136"/>
            <a:ext cx="2377440" cy="256032"/>
          </a:xfrm>
          <a:prstGeom prst="rect">
            <a:avLst/>
          </a:prstGeom>
          <a:noFill/>
        </p:spPr>
        <p:txBody>
          <a:bodyPr wrap="square" lIns="0" rIns="0" tIns="0" bIns="0" anchor="t">
            <a:spAutoFit/>
          </a:bodyPr>
          <a:lstStyle/>
          <a:p>
            <a:pPr algn="l"/>
            <a:r>
              <a:rPr sz="1350" b="1" i="0">
                <a:solidFill>
                  <a:srgbClr val="17151A"/>
                </a:solidFill>
                <a:latin typeface="Calibri"/>
              </a:rPr>
              <a:t>Risk scorer</a:t>
            </a:r>
          </a:p>
        </p:txBody>
      </p:sp>
      <p:sp>
        <p:nvSpPr>
          <p:cNvPr id="20" name="TextBox 19"/>
          <p:cNvSpPr txBox="1"/>
          <p:nvPr/>
        </p:nvSpPr>
        <p:spPr>
          <a:xfrm>
            <a:off x="3291839" y="3383280"/>
            <a:ext cx="731520" cy="228600"/>
          </a:xfrm>
          <a:prstGeom prst="rect">
            <a:avLst/>
          </a:prstGeom>
          <a:noFill/>
        </p:spPr>
        <p:txBody>
          <a:bodyPr wrap="square" lIns="0" rIns="0" tIns="0" bIns="0" anchor="t">
            <a:spAutoFit/>
          </a:bodyPr>
          <a:lstStyle/>
          <a:p>
            <a:pPr algn="l"/>
            <a:r>
              <a:rPr sz="1050" b="1" i="0">
                <a:solidFill>
                  <a:srgbClr val="375060"/>
                </a:solidFill>
                <a:latin typeface="Calibri"/>
              </a:rPr>
              <a:t>Mod 07</a:t>
            </a:r>
          </a:p>
        </p:txBody>
      </p:sp>
      <p:sp>
        <p:nvSpPr>
          <p:cNvPr id="21" name="TextBox 20"/>
          <p:cNvSpPr txBox="1"/>
          <p:nvPr/>
        </p:nvSpPr>
        <p:spPr>
          <a:xfrm>
            <a:off x="877824" y="3694176"/>
            <a:ext cx="2926080" cy="457200"/>
          </a:xfrm>
          <a:prstGeom prst="rect">
            <a:avLst/>
          </a:prstGeom>
          <a:noFill/>
        </p:spPr>
        <p:txBody>
          <a:bodyPr wrap="square" lIns="0" rIns="0" tIns="0" bIns="0" anchor="t">
            <a:spAutoFit/>
          </a:bodyPr>
          <a:lstStyle/>
          <a:p>
            <a:pPr algn="l"/>
            <a:r>
              <a:rPr sz="1200" b="0" i="0">
                <a:solidFill>
                  <a:srgbClr val="54565B"/>
                </a:solidFill>
                <a:latin typeface="Calibri"/>
              </a:rPr>
              <a:t>Who do we act on first?</a:t>
            </a:r>
          </a:p>
        </p:txBody>
      </p:sp>
      <p:sp>
        <p:nvSpPr>
          <p:cNvPr id="22" name="Rounded Rectangle 21"/>
          <p:cNvSpPr/>
          <p:nvPr/>
        </p:nvSpPr>
        <p:spPr>
          <a:xfrm>
            <a:off x="4279392" y="3218688"/>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17136" y="3374136"/>
            <a:ext cx="2377440" cy="256032"/>
          </a:xfrm>
          <a:prstGeom prst="rect">
            <a:avLst/>
          </a:prstGeom>
          <a:noFill/>
        </p:spPr>
        <p:txBody>
          <a:bodyPr wrap="square" lIns="0" rIns="0" tIns="0" bIns="0" anchor="t">
            <a:spAutoFit/>
          </a:bodyPr>
          <a:lstStyle/>
          <a:p>
            <a:pPr algn="l"/>
            <a:r>
              <a:rPr sz="1350" b="1" i="0">
                <a:solidFill>
                  <a:srgbClr val="17151A"/>
                </a:solidFill>
                <a:latin typeface="Calibri"/>
              </a:rPr>
              <a:t>What-if calculator</a:t>
            </a:r>
          </a:p>
        </p:txBody>
      </p:sp>
      <p:sp>
        <p:nvSpPr>
          <p:cNvPr id="24" name="TextBox 23"/>
          <p:cNvSpPr txBox="1"/>
          <p:nvPr/>
        </p:nvSpPr>
        <p:spPr>
          <a:xfrm>
            <a:off x="6931152" y="3383280"/>
            <a:ext cx="731520" cy="228600"/>
          </a:xfrm>
          <a:prstGeom prst="rect">
            <a:avLst/>
          </a:prstGeom>
          <a:noFill/>
        </p:spPr>
        <p:txBody>
          <a:bodyPr wrap="square" lIns="0" rIns="0" tIns="0" bIns="0" anchor="t">
            <a:spAutoFit/>
          </a:bodyPr>
          <a:lstStyle/>
          <a:p>
            <a:pPr algn="l"/>
            <a:r>
              <a:rPr sz="1050" b="1" i="0">
                <a:solidFill>
                  <a:srgbClr val="375060"/>
                </a:solidFill>
                <a:latin typeface="Calibri"/>
              </a:rPr>
              <a:t>Mod 08</a:t>
            </a:r>
          </a:p>
        </p:txBody>
      </p:sp>
      <p:sp>
        <p:nvSpPr>
          <p:cNvPr id="25" name="TextBox 24"/>
          <p:cNvSpPr txBox="1"/>
          <p:nvPr/>
        </p:nvSpPr>
        <p:spPr>
          <a:xfrm>
            <a:off x="4517136" y="3694176"/>
            <a:ext cx="2926080" cy="457200"/>
          </a:xfrm>
          <a:prstGeom prst="rect">
            <a:avLst/>
          </a:prstGeom>
          <a:noFill/>
        </p:spPr>
        <p:txBody>
          <a:bodyPr wrap="square" lIns="0" rIns="0" tIns="0" bIns="0" anchor="t">
            <a:spAutoFit/>
          </a:bodyPr>
          <a:lstStyle/>
          <a:p>
            <a:pPr algn="l"/>
            <a:r>
              <a:rPr sz="1200" b="0" i="0">
                <a:solidFill>
                  <a:srgbClr val="54565B"/>
                </a:solidFill>
                <a:latin typeface="Calibri"/>
              </a:rPr>
              <a:t>What happens if we are wrong?</a:t>
            </a:r>
          </a:p>
        </p:txBody>
      </p:sp>
      <p:sp>
        <p:nvSpPr>
          <p:cNvPr id="26" name="Rounded Rectangle 25"/>
          <p:cNvSpPr/>
          <p:nvPr/>
        </p:nvSpPr>
        <p:spPr>
          <a:xfrm>
            <a:off x="7918704" y="3218688"/>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56448" y="3374136"/>
            <a:ext cx="2377440" cy="256032"/>
          </a:xfrm>
          <a:prstGeom prst="rect">
            <a:avLst/>
          </a:prstGeom>
          <a:noFill/>
        </p:spPr>
        <p:txBody>
          <a:bodyPr wrap="square" lIns="0" rIns="0" tIns="0" bIns="0" anchor="t">
            <a:spAutoFit/>
          </a:bodyPr>
          <a:lstStyle/>
          <a:p>
            <a:pPr algn="l"/>
            <a:r>
              <a:rPr sz="1350" b="1" i="0">
                <a:solidFill>
                  <a:srgbClr val="17151A"/>
                </a:solidFill>
                <a:latin typeface="Calibri"/>
              </a:rPr>
              <a:t>Survey synthesizer</a:t>
            </a:r>
          </a:p>
        </p:txBody>
      </p:sp>
      <p:sp>
        <p:nvSpPr>
          <p:cNvPr id="28" name="TextBox 27"/>
          <p:cNvSpPr txBox="1"/>
          <p:nvPr/>
        </p:nvSpPr>
        <p:spPr>
          <a:xfrm>
            <a:off x="10570464" y="3383280"/>
            <a:ext cx="731520" cy="228600"/>
          </a:xfrm>
          <a:prstGeom prst="rect">
            <a:avLst/>
          </a:prstGeom>
          <a:noFill/>
        </p:spPr>
        <p:txBody>
          <a:bodyPr wrap="square" lIns="0" rIns="0" tIns="0" bIns="0" anchor="t">
            <a:spAutoFit/>
          </a:bodyPr>
          <a:lstStyle/>
          <a:p>
            <a:pPr algn="l"/>
            <a:r>
              <a:rPr sz="1050" b="1" i="0">
                <a:solidFill>
                  <a:srgbClr val="375060"/>
                </a:solidFill>
                <a:latin typeface="Calibri"/>
              </a:rPr>
              <a:t>-</a:t>
            </a:r>
          </a:p>
        </p:txBody>
      </p:sp>
      <p:sp>
        <p:nvSpPr>
          <p:cNvPr id="29" name="TextBox 28"/>
          <p:cNvSpPr txBox="1"/>
          <p:nvPr/>
        </p:nvSpPr>
        <p:spPr>
          <a:xfrm>
            <a:off x="8156448" y="3694176"/>
            <a:ext cx="2926080" cy="457200"/>
          </a:xfrm>
          <a:prstGeom prst="rect">
            <a:avLst/>
          </a:prstGeom>
          <a:noFill/>
        </p:spPr>
        <p:txBody>
          <a:bodyPr wrap="square" lIns="0" rIns="0" tIns="0" bIns="0" anchor="t">
            <a:spAutoFit/>
          </a:bodyPr>
          <a:lstStyle/>
          <a:p>
            <a:pPr algn="l"/>
            <a:r>
              <a:rPr sz="1200" b="0" i="0">
                <a:solidFill>
                  <a:srgbClr val="54565B"/>
                </a:solidFill>
                <a:latin typeface="Calibri"/>
              </a:rPr>
              <a:t>What are people actually saying?</a:t>
            </a:r>
          </a:p>
        </p:txBody>
      </p:sp>
      <p:sp>
        <p:nvSpPr>
          <p:cNvPr id="30" name="Rounded Rectangle 29"/>
          <p:cNvSpPr/>
          <p:nvPr/>
        </p:nvSpPr>
        <p:spPr>
          <a:xfrm>
            <a:off x="640080" y="4425696"/>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7824" y="4581144"/>
            <a:ext cx="2377440" cy="256032"/>
          </a:xfrm>
          <a:prstGeom prst="rect">
            <a:avLst/>
          </a:prstGeom>
          <a:noFill/>
        </p:spPr>
        <p:txBody>
          <a:bodyPr wrap="square" lIns="0" rIns="0" tIns="0" bIns="0" anchor="t">
            <a:spAutoFit/>
          </a:bodyPr>
          <a:lstStyle/>
          <a:p>
            <a:pPr algn="l"/>
            <a:r>
              <a:rPr sz="1350" b="1" i="0">
                <a:solidFill>
                  <a:srgbClr val="17151A"/>
                </a:solidFill>
                <a:latin typeface="Calibri"/>
              </a:rPr>
              <a:t>Data cleaning assistant</a:t>
            </a:r>
          </a:p>
        </p:txBody>
      </p:sp>
      <p:sp>
        <p:nvSpPr>
          <p:cNvPr id="32" name="TextBox 31"/>
          <p:cNvSpPr txBox="1"/>
          <p:nvPr/>
        </p:nvSpPr>
        <p:spPr>
          <a:xfrm>
            <a:off x="3291839" y="4590288"/>
            <a:ext cx="731520" cy="228600"/>
          </a:xfrm>
          <a:prstGeom prst="rect">
            <a:avLst/>
          </a:prstGeom>
          <a:noFill/>
        </p:spPr>
        <p:txBody>
          <a:bodyPr wrap="square" lIns="0" rIns="0" tIns="0" bIns="0" anchor="t">
            <a:spAutoFit/>
          </a:bodyPr>
          <a:lstStyle/>
          <a:p>
            <a:pPr algn="l"/>
            <a:r>
              <a:rPr sz="1050" b="1" i="0">
                <a:solidFill>
                  <a:srgbClr val="375060"/>
                </a:solidFill>
                <a:latin typeface="Calibri"/>
              </a:rPr>
              <a:t>-</a:t>
            </a:r>
          </a:p>
        </p:txBody>
      </p:sp>
      <p:sp>
        <p:nvSpPr>
          <p:cNvPr id="33" name="TextBox 32"/>
          <p:cNvSpPr txBox="1"/>
          <p:nvPr/>
        </p:nvSpPr>
        <p:spPr>
          <a:xfrm>
            <a:off x="877824" y="4901183"/>
            <a:ext cx="2926080" cy="457200"/>
          </a:xfrm>
          <a:prstGeom prst="rect">
            <a:avLst/>
          </a:prstGeom>
          <a:noFill/>
        </p:spPr>
        <p:txBody>
          <a:bodyPr wrap="square" lIns="0" rIns="0" tIns="0" bIns="0" anchor="t">
            <a:spAutoFit/>
          </a:bodyPr>
          <a:lstStyle/>
          <a:p>
            <a:pPr algn="l"/>
            <a:r>
              <a:rPr sz="1200" b="0" i="0">
                <a:solidFill>
                  <a:srgbClr val="54565B"/>
                </a:solidFill>
                <a:latin typeface="Calibri"/>
              </a:rPr>
              <a:t>Can we trust this at all?</a:t>
            </a:r>
          </a:p>
        </p:txBody>
      </p:sp>
      <p:sp>
        <p:nvSpPr>
          <p:cNvPr id="34" name="Rounded Rectangle 33"/>
          <p:cNvSpPr/>
          <p:nvPr/>
        </p:nvSpPr>
        <p:spPr>
          <a:xfrm>
            <a:off x="4279392" y="4425696"/>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7136" y="4581144"/>
            <a:ext cx="2377440" cy="256032"/>
          </a:xfrm>
          <a:prstGeom prst="rect">
            <a:avLst/>
          </a:prstGeom>
          <a:noFill/>
        </p:spPr>
        <p:txBody>
          <a:bodyPr wrap="square" lIns="0" rIns="0" tIns="0" bIns="0" anchor="t">
            <a:spAutoFit/>
          </a:bodyPr>
          <a:lstStyle/>
          <a:p>
            <a:pPr algn="l"/>
            <a:r>
              <a:rPr sz="1350" b="1" i="0">
                <a:solidFill>
                  <a:srgbClr val="17151A"/>
                </a:solidFill>
                <a:latin typeface="Calibri"/>
              </a:rPr>
              <a:t>Meeting to actions</a:t>
            </a:r>
          </a:p>
        </p:txBody>
      </p:sp>
      <p:sp>
        <p:nvSpPr>
          <p:cNvPr id="36" name="TextBox 35"/>
          <p:cNvSpPr txBox="1"/>
          <p:nvPr/>
        </p:nvSpPr>
        <p:spPr>
          <a:xfrm>
            <a:off x="6931152" y="4590288"/>
            <a:ext cx="731520" cy="228600"/>
          </a:xfrm>
          <a:prstGeom prst="rect">
            <a:avLst/>
          </a:prstGeom>
          <a:noFill/>
        </p:spPr>
        <p:txBody>
          <a:bodyPr wrap="square" lIns="0" rIns="0" tIns="0" bIns="0" anchor="t">
            <a:spAutoFit/>
          </a:bodyPr>
          <a:lstStyle/>
          <a:p>
            <a:pPr algn="l"/>
            <a:r>
              <a:rPr sz="1050" b="1" i="0">
                <a:solidFill>
                  <a:srgbClr val="375060"/>
                </a:solidFill>
                <a:latin typeface="Calibri"/>
              </a:rPr>
              <a:t>-</a:t>
            </a:r>
          </a:p>
        </p:txBody>
      </p:sp>
      <p:sp>
        <p:nvSpPr>
          <p:cNvPr id="37" name="TextBox 36"/>
          <p:cNvSpPr txBox="1"/>
          <p:nvPr/>
        </p:nvSpPr>
        <p:spPr>
          <a:xfrm>
            <a:off x="4517136" y="4901183"/>
            <a:ext cx="2926080" cy="457200"/>
          </a:xfrm>
          <a:prstGeom prst="rect">
            <a:avLst/>
          </a:prstGeom>
          <a:noFill/>
        </p:spPr>
        <p:txBody>
          <a:bodyPr wrap="square" lIns="0" rIns="0" tIns="0" bIns="0" anchor="t">
            <a:spAutoFit/>
          </a:bodyPr>
          <a:lstStyle/>
          <a:p>
            <a:pPr algn="l"/>
            <a:r>
              <a:rPr sz="1200" b="0" i="0">
                <a:solidFill>
                  <a:srgbClr val="54565B"/>
                </a:solidFill>
                <a:latin typeface="Calibri"/>
              </a:rPr>
              <a:t>Who owns what, by when?</a:t>
            </a:r>
          </a:p>
        </p:txBody>
      </p:sp>
      <p:sp>
        <p:nvSpPr>
          <p:cNvPr id="38" name="Rounded Rectangle 37"/>
          <p:cNvSpPr/>
          <p:nvPr/>
        </p:nvSpPr>
        <p:spPr>
          <a:xfrm>
            <a:off x="7918704" y="4425696"/>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56448" y="4581144"/>
            <a:ext cx="2377440" cy="256032"/>
          </a:xfrm>
          <a:prstGeom prst="rect">
            <a:avLst/>
          </a:prstGeom>
          <a:noFill/>
        </p:spPr>
        <p:txBody>
          <a:bodyPr wrap="square" lIns="0" rIns="0" tIns="0" bIns="0" anchor="t">
            <a:spAutoFit/>
          </a:bodyPr>
          <a:lstStyle/>
          <a:p>
            <a:pPr algn="l"/>
            <a:r>
              <a:rPr sz="1350" b="1" i="0">
                <a:solidFill>
                  <a:srgbClr val="17151A"/>
                </a:solidFill>
                <a:latin typeface="Calibri"/>
              </a:rPr>
              <a:t>Knowledge assistant</a:t>
            </a:r>
          </a:p>
        </p:txBody>
      </p:sp>
      <p:sp>
        <p:nvSpPr>
          <p:cNvPr id="40" name="TextBox 39"/>
          <p:cNvSpPr txBox="1"/>
          <p:nvPr/>
        </p:nvSpPr>
        <p:spPr>
          <a:xfrm>
            <a:off x="10570464" y="4590288"/>
            <a:ext cx="731520" cy="228600"/>
          </a:xfrm>
          <a:prstGeom prst="rect">
            <a:avLst/>
          </a:prstGeom>
          <a:noFill/>
        </p:spPr>
        <p:txBody>
          <a:bodyPr wrap="square" lIns="0" rIns="0" tIns="0" bIns="0" anchor="t">
            <a:spAutoFit/>
          </a:bodyPr>
          <a:lstStyle/>
          <a:p>
            <a:pPr algn="l"/>
            <a:r>
              <a:rPr sz="1050" b="1" i="0">
                <a:solidFill>
                  <a:srgbClr val="375060"/>
                </a:solidFill>
                <a:latin typeface="Calibri"/>
              </a:rPr>
              <a:t>-</a:t>
            </a:r>
          </a:p>
        </p:txBody>
      </p:sp>
      <p:sp>
        <p:nvSpPr>
          <p:cNvPr id="41" name="TextBox 40"/>
          <p:cNvSpPr txBox="1"/>
          <p:nvPr/>
        </p:nvSpPr>
        <p:spPr>
          <a:xfrm>
            <a:off x="8156448" y="4901183"/>
            <a:ext cx="2926080" cy="457200"/>
          </a:xfrm>
          <a:prstGeom prst="rect">
            <a:avLst/>
          </a:prstGeom>
          <a:noFill/>
        </p:spPr>
        <p:txBody>
          <a:bodyPr wrap="square" lIns="0" rIns="0" tIns="0" bIns="0" anchor="t">
            <a:spAutoFit/>
          </a:bodyPr>
          <a:lstStyle/>
          <a:p>
            <a:pPr algn="l"/>
            <a:r>
              <a:rPr sz="1200" b="0" i="0">
                <a:solidFill>
                  <a:srgbClr val="54565B"/>
                </a:solidFill>
                <a:latin typeface="Calibri"/>
              </a:rPr>
              <a:t>Answer this from our own documents.</a:t>
            </a:r>
          </a:p>
        </p:txBody>
      </p:sp>
      <p:sp>
        <p:nvSpPr>
          <p:cNvPr id="42" name="TextBox 41"/>
          <p:cNvSpPr txBox="1"/>
          <p:nvPr/>
        </p:nvSpPr>
        <p:spPr>
          <a:xfrm>
            <a:off x="640080" y="5833872"/>
            <a:ext cx="10789920" cy="320040"/>
          </a:xfrm>
          <a:prstGeom prst="rect">
            <a:avLst/>
          </a:prstGeom>
          <a:noFill/>
        </p:spPr>
        <p:txBody>
          <a:bodyPr wrap="square" lIns="0" rIns="0" tIns="0" bIns="0" anchor="t">
            <a:spAutoFit/>
          </a:bodyPr>
          <a:lstStyle/>
          <a:p>
            <a:pPr algn="l"/>
            <a:r>
              <a:rPr sz="1400" b="1" i="0">
                <a:solidFill>
                  <a:srgbClr val="BA0C2F"/>
                </a:solidFill>
                <a:latin typeface="Calibri"/>
              </a:rPr>
              <a:t>Not sure? Ask your AI: which skill should I use?   It routes on the shape of your problem, not the name.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18 MINUTES</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Your turn</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691640"/>
            <a:ext cx="7315200" cy="274320"/>
          </a:xfrm>
          <a:prstGeom prst="rect">
            <a:avLst/>
          </a:prstGeom>
          <a:noFill/>
        </p:spPr>
        <p:txBody>
          <a:bodyPr wrap="square" lIns="0" rIns="0" tIns="0" bIns="0" anchor="t">
            <a:spAutoFit/>
          </a:bodyPr>
          <a:lstStyle/>
          <a:p>
            <a:pPr algn="l"/>
            <a:r>
              <a:rPr sz="1400" b="0" i="0">
                <a:solidFill>
                  <a:srgbClr val="54565B"/>
                </a:solidFill>
                <a:latin typeface="Calibri"/>
              </a:rPr>
              <a:t>Say what you want. Plain language works:</a:t>
            </a:r>
          </a:p>
        </p:txBody>
      </p:sp>
      <p:sp>
        <p:nvSpPr>
          <p:cNvPr id="6" name="Rounded Rectangle 5"/>
          <p:cNvSpPr/>
          <p:nvPr/>
        </p:nvSpPr>
        <p:spPr>
          <a:xfrm>
            <a:off x="640080" y="2011680"/>
            <a:ext cx="6766560" cy="65836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2194560"/>
            <a:ext cx="6400800" cy="365760"/>
          </a:xfrm>
          <a:prstGeom prst="rect">
            <a:avLst/>
          </a:prstGeom>
          <a:noFill/>
        </p:spPr>
        <p:txBody>
          <a:bodyPr wrap="square" lIns="0" rIns="0" tIns="0" bIns="0" anchor="t">
            <a:spAutoFit/>
          </a:bodyPr>
          <a:lstStyle/>
          <a:p>
            <a:pPr algn="l"/>
            <a:r>
              <a:rPr sz="1350" b="0" i="0">
                <a:solidFill>
                  <a:srgbClr val="BA0C2F"/>
                </a:solidFill>
                <a:latin typeface="Consolas"/>
              </a:rPr>
              <a:t>score my accounts  /  forecast next quarter  /  did this test work</a:t>
            </a:r>
          </a:p>
        </p:txBody>
      </p:sp>
      <p:sp>
        <p:nvSpPr>
          <p:cNvPr id="8" name="TextBox 7"/>
          <p:cNvSpPr txBox="1"/>
          <p:nvPr/>
        </p:nvSpPr>
        <p:spPr>
          <a:xfrm>
            <a:off x="640080" y="2926080"/>
            <a:ext cx="6766560" cy="292608"/>
          </a:xfrm>
          <a:prstGeom prst="rect">
            <a:avLst/>
          </a:prstGeom>
          <a:noFill/>
        </p:spPr>
        <p:txBody>
          <a:bodyPr wrap="square" lIns="0" rIns="0" tIns="0" bIns="0" anchor="t">
            <a:spAutoFit/>
          </a:bodyPr>
          <a:lstStyle/>
          <a:p>
            <a:pPr algn="l"/>
            <a:r>
              <a:rPr sz="1500" b="1" i="0">
                <a:solidFill>
                  <a:srgbClr val="17151A"/>
                </a:solidFill>
                <a:latin typeface="Calibri"/>
              </a:rPr>
              <a:t>Before you stop, three checks</a:t>
            </a:r>
          </a:p>
        </p:txBody>
      </p:sp>
      <p:sp>
        <p:nvSpPr>
          <p:cNvPr id="9" name="Oval 8"/>
          <p:cNvSpPr/>
          <p:nvPr/>
        </p:nvSpPr>
        <p:spPr>
          <a:xfrm>
            <a:off x="676656" y="3374136"/>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291840"/>
            <a:ext cx="6400800" cy="548640"/>
          </a:xfrm>
          <a:prstGeom prst="rect">
            <a:avLst/>
          </a:prstGeom>
          <a:noFill/>
        </p:spPr>
        <p:txBody>
          <a:bodyPr wrap="square" lIns="0" rIns="0" tIns="0" bIns="0" anchor="t">
            <a:spAutoFit/>
          </a:bodyPr>
          <a:lstStyle/>
          <a:p>
            <a:pPr algn="l"/>
            <a:r>
              <a:rPr sz="1300" b="0" i="0">
                <a:solidFill>
                  <a:srgbClr val="17151A"/>
                </a:solidFill>
                <a:latin typeface="Calibri"/>
              </a:rPr>
              <a:t>The uncertainty survived into the built thing. If the analysis had a range, the artifact shows a range.</a:t>
            </a:r>
          </a:p>
        </p:txBody>
      </p:sp>
      <p:sp>
        <p:nvSpPr>
          <p:cNvPr id="11" name="Oval 10"/>
          <p:cNvSpPr/>
          <p:nvPr/>
        </p:nvSpPr>
        <p:spPr>
          <a:xfrm>
            <a:off x="676656" y="3995928"/>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3913632"/>
            <a:ext cx="6400800" cy="548640"/>
          </a:xfrm>
          <a:prstGeom prst="rect">
            <a:avLst/>
          </a:prstGeom>
          <a:noFill/>
        </p:spPr>
        <p:txBody>
          <a:bodyPr wrap="square" lIns="0" rIns="0" tIns="0" bIns="0" anchor="t">
            <a:spAutoFit/>
          </a:bodyPr>
          <a:lstStyle/>
          <a:p>
            <a:pPr algn="l"/>
            <a:r>
              <a:rPr sz="1300" b="0" i="0">
                <a:solidFill>
                  <a:srgbClr val="17151A"/>
                </a:solidFill>
                <a:latin typeface="Calibri"/>
              </a:rPr>
              <a:t>The definitions travel with the numbers. A metric without its definition gets misread by the next person.</a:t>
            </a:r>
          </a:p>
        </p:txBody>
      </p:sp>
      <p:sp>
        <p:nvSpPr>
          <p:cNvPr id="13" name="Oval 12"/>
          <p:cNvSpPr/>
          <p:nvPr/>
        </p:nvSpPr>
        <p:spPr>
          <a:xfrm>
            <a:off x="676656" y="4617720"/>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4535424"/>
            <a:ext cx="6400800" cy="548640"/>
          </a:xfrm>
          <a:prstGeom prst="rect">
            <a:avLst/>
          </a:prstGeom>
          <a:noFill/>
        </p:spPr>
        <p:txBody>
          <a:bodyPr wrap="square" lIns="0" rIns="0" tIns="0" bIns="0" anchor="t">
            <a:spAutoFit/>
          </a:bodyPr>
          <a:lstStyle/>
          <a:p>
            <a:pPr algn="l"/>
            <a:r>
              <a:rPr sz="1300" b="0" i="0">
                <a:solidFill>
                  <a:srgbClr val="17151A"/>
                </a:solidFill>
                <a:latin typeface="Calibri"/>
              </a:rPr>
              <a:t>The source and date are on it. In eight months someone finds this and needs to know what it was built from.</a:t>
            </a:r>
          </a:p>
        </p:txBody>
      </p:sp>
      <p:sp>
        <p:nvSpPr>
          <p:cNvPr id="15" name="Rounded Rectangle 14"/>
          <p:cNvSpPr/>
          <p:nvPr/>
        </p:nvSpPr>
        <p:spPr>
          <a:xfrm>
            <a:off x="7955279" y="2011680"/>
            <a:ext cx="3593592" cy="3840480"/>
          </a:xfrm>
          <a:prstGeom prst="roundRect">
            <a:avLst>
              <a:gd name="adj" fmla="val 4000"/>
            </a:avLst>
          </a:prstGeom>
          <a:solidFill>
            <a:srgbClr val="FFFFFF"/>
          </a:solidFill>
          <a:ln w="19050">
            <a:solidFill>
              <a:srgbClr val="BA0C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2267712"/>
            <a:ext cx="3017520" cy="292608"/>
          </a:xfrm>
          <a:prstGeom prst="rect">
            <a:avLst/>
          </a:prstGeom>
          <a:noFill/>
        </p:spPr>
        <p:txBody>
          <a:bodyPr wrap="square" lIns="0" rIns="0" tIns="0" bIns="0" anchor="t">
            <a:spAutoFit/>
          </a:bodyPr>
          <a:lstStyle/>
          <a:p>
            <a:pPr algn="l"/>
            <a:r>
              <a:rPr sz="1450" b="1" i="0">
                <a:solidFill>
                  <a:srgbClr val="BA0C2F"/>
                </a:solidFill>
                <a:latin typeface="Calibri"/>
              </a:rPr>
              <a:t>Then check three numbers</a:t>
            </a:r>
          </a:p>
        </p:txBody>
      </p:sp>
      <p:sp>
        <p:nvSpPr>
          <p:cNvPr id="17" name="TextBox 16"/>
          <p:cNvSpPr txBox="1"/>
          <p:nvPr/>
        </p:nvSpPr>
        <p:spPr>
          <a:xfrm>
            <a:off x="8247888" y="2633472"/>
            <a:ext cx="3017520" cy="822960"/>
          </a:xfrm>
          <a:prstGeom prst="rect">
            <a:avLst/>
          </a:prstGeom>
          <a:noFill/>
        </p:spPr>
        <p:txBody>
          <a:bodyPr wrap="square" lIns="0" rIns="0" tIns="0" bIns="0" anchor="t">
            <a:spAutoFit/>
          </a:bodyPr>
          <a:lstStyle/>
          <a:p>
            <a:pPr algn="l"/>
            <a:r>
              <a:rPr sz="1300" b="0" i="0">
                <a:solidFill>
                  <a:srgbClr val="17151A"/>
                </a:solidFill>
                <a:latin typeface="Calibri"/>
              </a:rPr>
              <a:t>Pick three figures at random from what you built. Confirm each one matches your analysis document.</a:t>
            </a:r>
          </a:p>
        </p:txBody>
      </p:sp>
      <p:sp>
        <p:nvSpPr>
          <p:cNvPr id="18" name="TextBox 17"/>
          <p:cNvSpPr txBox="1"/>
          <p:nvPr/>
        </p:nvSpPr>
        <p:spPr>
          <a:xfrm>
            <a:off x="8247888" y="3520440"/>
            <a:ext cx="3017520" cy="822960"/>
          </a:xfrm>
          <a:prstGeom prst="rect">
            <a:avLst/>
          </a:prstGeom>
          <a:noFill/>
        </p:spPr>
        <p:txBody>
          <a:bodyPr wrap="square" lIns="0" rIns="0" tIns="0" bIns="0" anchor="t">
            <a:spAutoFit/>
          </a:bodyPr>
          <a:lstStyle/>
          <a:p>
            <a:pPr algn="l"/>
            <a:r>
              <a:rPr sz="1300" b="0" i="0">
                <a:solidFill>
                  <a:srgbClr val="17151A"/>
                </a:solidFill>
                <a:latin typeface="Calibri"/>
              </a:rPr>
              <a:t>Mismatches between the built thing and the analysis are common, and they are fatal in a demo.</a:t>
            </a:r>
          </a:p>
        </p:txBody>
      </p:sp>
      <p:sp>
        <p:nvSpPr>
          <p:cNvPr id="19" name="Rectangle 18"/>
          <p:cNvSpPr/>
          <p:nvPr/>
        </p:nvSpPr>
        <p:spPr>
          <a:xfrm>
            <a:off x="8247888" y="4434840"/>
            <a:ext cx="3017520" cy="10972"/>
          </a:xfrm>
          <a:prstGeom prst="rect">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7888" y="4617720"/>
            <a:ext cx="3017520" cy="1005840"/>
          </a:xfrm>
          <a:prstGeom prst="rect">
            <a:avLst/>
          </a:prstGeom>
          <a:noFill/>
        </p:spPr>
        <p:txBody>
          <a:bodyPr wrap="square" lIns="0" rIns="0" tIns="0" bIns="0" anchor="t">
            <a:spAutoFit/>
          </a:bodyPr>
          <a:lstStyle/>
          <a:p>
            <a:pPr algn="l"/>
            <a:r>
              <a:rPr sz="1250" b="0" i="1">
                <a:solidFill>
                  <a:srgbClr val="54565B"/>
                </a:solidFill>
                <a:latin typeface="Calibri"/>
              </a:rPr>
              <a:t>Stuck? Ask it to build the smallest version that answers your question, then stop and show you.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THE MEMO</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Bottom line up front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572768"/>
            <a:ext cx="10515600" cy="320040"/>
          </a:xfrm>
          <a:prstGeom prst="rect">
            <a:avLst/>
          </a:prstGeom>
          <a:noFill/>
        </p:spPr>
        <p:txBody>
          <a:bodyPr wrap="square" lIns="0" rIns="0" tIns="0" bIns="0" anchor="t">
            <a:spAutoFit/>
          </a:bodyPr>
          <a:lstStyle/>
          <a:p>
            <a:pPr algn="l"/>
            <a:r>
              <a:rPr sz="1500" b="0" i="0">
                <a:solidFill>
                  <a:srgbClr val="54565B"/>
                </a:solidFill>
                <a:latin typeface="Calibri"/>
              </a:rPr>
              <a:t>Your reader spends ninety seconds on this. They read the first paragraph carefully and the rest selectively.</a:t>
            </a:r>
          </a:p>
        </p:txBody>
      </p:sp>
      <p:sp>
        <p:nvSpPr>
          <p:cNvPr id="6" name="Oval 5"/>
          <p:cNvSpPr/>
          <p:nvPr/>
        </p:nvSpPr>
        <p:spPr>
          <a:xfrm>
            <a:off x="640080" y="2194560"/>
            <a:ext cx="384048" cy="384048"/>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1207007" y="2185416"/>
            <a:ext cx="4023360" cy="320040"/>
          </a:xfrm>
          <a:prstGeom prst="rect">
            <a:avLst/>
          </a:prstGeom>
          <a:noFill/>
        </p:spPr>
        <p:txBody>
          <a:bodyPr wrap="square" lIns="0" rIns="0" tIns="0" bIns="0" anchor="t">
            <a:spAutoFit/>
          </a:bodyPr>
          <a:lstStyle/>
          <a:p>
            <a:pPr algn="l"/>
            <a:r>
              <a:rPr sz="1600" b="1" i="0">
                <a:solidFill>
                  <a:srgbClr val="17151A"/>
                </a:solidFill>
                <a:latin typeface="Calibri"/>
              </a:rPr>
              <a:t>Recommendation</a:t>
            </a:r>
          </a:p>
        </p:txBody>
      </p:sp>
      <p:sp>
        <p:nvSpPr>
          <p:cNvPr id="8" name="TextBox 7"/>
          <p:cNvSpPr txBox="1"/>
          <p:nvPr/>
        </p:nvSpPr>
        <p:spPr>
          <a:xfrm>
            <a:off x="5394960" y="2194560"/>
            <a:ext cx="5852160" cy="548640"/>
          </a:xfrm>
          <a:prstGeom prst="rect">
            <a:avLst/>
          </a:prstGeom>
          <a:noFill/>
        </p:spPr>
        <p:txBody>
          <a:bodyPr wrap="square" lIns="0" rIns="0" tIns="0" bIns="0" anchor="t">
            <a:spAutoFit/>
          </a:bodyPr>
          <a:lstStyle/>
          <a:p>
            <a:pPr algn="l"/>
            <a:r>
              <a:rPr sz="1400" b="0" i="0">
                <a:solidFill>
                  <a:srgbClr val="54565B"/>
                </a:solidFill>
                <a:latin typeface="Calibri"/>
              </a:rPr>
              <a:t>A verb and an object. What you want them to do.</a:t>
            </a:r>
          </a:p>
        </p:txBody>
      </p:sp>
      <p:sp>
        <p:nvSpPr>
          <p:cNvPr id="9" name="Oval 8"/>
          <p:cNvSpPr/>
          <p:nvPr/>
        </p:nvSpPr>
        <p:spPr>
          <a:xfrm>
            <a:off x="640080" y="2944368"/>
            <a:ext cx="384048" cy="384048"/>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0" name="TextBox 9"/>
          <p:cNvSpPr txBox="1"/>
          <p:nvPr/>
        </p:nvSpPr>
        <p:spPr>
          <a:xfrm>
            <a:off x="1207007" y="2935224"/>
            <a:ext cx="4023360" cy="320040"/>
          </a:xfrm>
          <a:prstGeom prst="rect">
            <a:avLst/>
          </a:prstGeom>
          <a:noFill/>
        </p:spPr>
        <p:txBody>
          <a:bodyPr wrap="square" lIns="0" rIns="0" tIns="0" bIns="0" anchor="t">
            <a:spAutoFit/>
          </a:bodyPr>
          <a:lstStyle/>
          <a:p>
            <a:pPr algn="l"/>
            <a:r>
              <a:rPr sz="1600" b="1" i="0">
                <a:solidFill>
                  <a:srgbClr val="17151A"/>
                </a:solidFill>
                <a:latin typeface="Calibri"/>
              </a:rPr>
              <a:t>The single strongest reason</a:t>
            </a:r>
          </a:p>
        </p:txBody>
      </p:sp>
      <p:sp>
        <p:nvSpPr>
          <p:cNvPr id="11" name="TextBox 10"/>
          <p:cNvSpPr txBox="1"/>
          <p:nvPr/>
        </p:nvSpPr>
        <p:spPr>
          <a:xfrm>
            <a:off x="5394960" y="2944368"/>
            <a:ext cx="5852160" cy="548640"/>
          </a:xfrm>
          <a:prstGeom prst="rect">
            <a:avLst/>
          </a:prstGeom>
          <a:noFill/>
        </p:spPr>
        <p:txBody>
          <a:bodyPr wrap="square" lIns="0" rIns="0" tIns="0" bIns="0" anchor="t">
            <a:spAutoFit/>
          </a:bodyPr>
          <a:lstStyle/>
          <a:p>
            <a:pPr algn="l"/>
            <a:r>
              <a:rPr sz="1400" b="0" i="0">
                <a:solidFill>
                  <a:srgbClr val="54565B"/>
                </a:solidFill>
                <a:latin typeface="Calibri"/>
              </a:rPr>
              <a:t>One sentence, with the number in it.</a:t>
            </a:r>
          </a:p>
        </p:txBody>
      </p:sp>
      <p:sp>
        <p:nvSpPr>
          <p:cNvPr id="12" name="Oval 11"/>
          <p:cNvSpPr/>
          <p:nvPr/>
        </p:nvSpPr>
        <p:spPr>
          <a:xfrm>
            <a:off x="640080" y="3694176"/>
            <a:ext cx="384048" cy="384048"/>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3" name="TextBox 12"/>
          <p:cNvSpPr txBox="1"/>
          <p:nvPr/>
        </p:nvSpPr>
        <p:spPr>
          <a:xfrm>
            <a:off x="1207007" y="3685032"/>
            <a:ext cx="4023360" cy="320040"/>
          </a:xfrm>
          <a:prstGeom prst="rect">
            <a:avLst/>
          </a:prstGeom>
          <a:noFill/>
        </p:spPr>
        <p:txBody>
          <a:bodyPr wrap="square" lIns="0" rIns="0" tIns="0" bIns="0" anchor="t">
            <a:spAutoFit/>
          </a:bodyPr>
          <a:lstStyle/>
          <a:p>
            <a:pPr algn="l"/>
            <a:r>
              <a:rPr sz="1600" b="1" i="0">
                <a:solidFill>
                  <a:srgbClr val="17151A"/>
                </a:solidFill>
                <a:latin typeface="Calibri"/>
              </a:rPr>
              <a:t>What it costs or risks</a:t>
            </a:r>
          </a:p>
        </p:txBody>
      </p:sp>
      <p:sp>
        <p:nvSpPr>
          <p:cNvPr id="14" name="TextBox 13"/>
          <p:cNvSpPr txBox="1"/>
          <p:nvPr/>
        </p:nvSpPr>
        <p:spPr>
          <a:xfrm>
            <a:off x="5394960" y="3694176"/>
            <a:ext cx="5852160" cy="548640"/>
          </a:xfrm>
          <a:prstGeom prst="rect">
            <a:avLst/>
          </a:prstGeom>
          <a:noFill/>
        </p:spPr>
        <p:txBody>
          <a:bodyPr wrap="square" lIns="0" rIns="0" tIns="0" bIns="0" anchor="t">
            <a:spAutoFit/>
          </a:bodyPr>
          <a:lstStyle/>
          <a:p>
            <a:pPr algn="l"/>
            <a:r>
              <a:rPr sz="1400" b="0" i="0">
                <a:solidFill>
                  <a:srgbClr val="54565B"/>
                </a:solidFill>
                <a:latin typeface="Calibri"/>
              </a:rPr>
              <a:t>Stated, not hidden. Credibility is built here.</a:t>
            </a:r>
          </a:p>
        </p:txBody>
      </p:sp>
      <p:sp>
        <p:nvSpPr>
          <p:cNvPr id="15" name="Oval 14"/>
          <p:cNvSpPr/>
          <p:nvPr/>
        </p:nvSpPr>
        <p:spPr>
          <a:xfrm>
            <a:off x="640080" y="4443984"/>
            <a:ext cx="384048" cy="384048"/>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6" name="TextBox 15"/>
          <p:cNvSpPr txBox="1"/>
          <p:nvPr/>
        </p:nvSpPr>
        <p:spPr>
          <a:xfrm>
            <a:off x="1207007" y="4434840"/>
            <a:ext cx="4023360" cy="320040"/>
          </a:xfrm>
          <a:prstGeom prst="rect">
            <a:avLst/>
          </a:prstGeom>
          <a:noFill/>
        </p:spPr>
        <p:txBody>
          <a:bodyPr wrap="square" lIns="0" rIns="0" tIns="0" bIns="0" anchor="t">
            <a:spAutoFit/>
          </a:bodyPr>
          <a:lstStyle/>
          <a:p>
            <a:pPr algn="l"/>
            <a:r>
              <a:rPr sz="1600" b="1" i="0">
                <a:solidFill>
                  <a:srgbClr val="17151A"/>
                </a:solidFill>
                <a:latin typeface="Calibri"/>
              </a:rPr>
              <a:t>What you need from them</a:t>
            </a:r>
          </a:p>
        </p:txBody>
      </p:sp>
      <p:sp>
        <p:nvSpPr>
          <p:cNvPr id="17" name="TextBox 16"/>
          <p:cNvSpPr txBox="1"/>
          <p:nvPr/>
        </p:nvSpPr>
        <p:spPr>
          <a:xfrm>
            <a:off x="5394960" y="4443984"/>
            <a:ext cx="5852160" cy="548640"/>
          </a:xfrm>
          <a:prstGeom prst="rect">
            <a:avLst/>
          </a:prstGeom>
          <a:noFill/>
        </p:spPr>
        <p:txBody>
          <a:bodyPr wrap="square" lIns="0" rIns="0" tIns="0" bIns="0" anchor="t">
            <a:spAutoFit/>
          </a:bodyPr>
          <a:lstStyle/>
          <a:p>
            <a:pPr algn="l"/>
            <a:r>
              <a:rPr sz="1400" b="0" i="0">
                <a:solidFill>
                  <a:srgbClr val="54565B"/>
                </a:solidFill>
                <a:latin typeface="Calibri"/>
              </a:rPr>
              <a:t>Approval, a decision by a date, or nothing.</a:t>
            </a:r>
          </a:p>
        </p:txBody>
      </p:sp>
      <p:sp>
        <p:nvSpPr>
          <p:cNvPr id="18" name="Rounded Rectangle 17"/>
          <p:cNvSpPr/>
          <p:nvPr/>
        </p:nvSpPr>
        <p:spPr>
          <a:xfrm>
            <a:off x="640080" y="5303520"/>
            <a:ext cx="10911535" cy="91440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532120"/>
            <a:ext cx="10058400" cy="320040"/>
          </a:xfrm>
          <a:prstGeom prst="rect">
            <a:avLst/>
          </a:prstGeom>
          <a:noFill/>
        </p:spPr>
        <p:txBody>
          <a:bodyPr wrap="square" lIns="0" rIns="0" tIns="0" bIns="0" anchor="t">
            <a:spAutoFit/>
          </a:bodyPr>
          <a:lstStyle/>
          <a:p>
            <a:pPr algn="l"/>
            <a:r>
              <a:rPr sz="1550" b="1" i="0">
                <a:solidFill>
                  <a:srgbClr val="BA0C2F"/>
                </a:solidFill>
                <a:latin typeface="Calibri"/>
              </a:rPr>
              <a:t>The test: if they read only that paragraph and acted, would they act correctly?</a:t>
            </a:r>
          </a:p>
        </p:txBody>
      </p:sp>
      <p:sp>
        <p:nvSpPr>
          <p:cNvPr id="20" name="TextBox 19"/>
          <p:cNvSpPr txBox="1"/>
          <p:nvPr/>
        </p:nvSpPr>
        <p:spPr>
          <a:xfrm>
            <a:off x="1051560" y="5833872"/>
            <a:ext cx="10058400" cy="292608"/>
          </a:xfrm>
          <a:prstGeom prst="rect">
            <a:avLst/>
          </a:prstGeom>
          <a:noFill/>
        </p:spPr>
        <p:txBody>
          <a:bodyPr wrap="square" lIns="0" rIns="0" tIns="0" bIns="0" anchor="t">
            <a:spAutoFit/>
          </a:bodyPr>
          <a:lstStyle/>
          <a:p>
            <a:pPr algn="l"/>
            <a:r>
              <a:rPr sz="1350" b="0" i="0">
                <a:solidFill>
                  <a:srgbClr val="17151A"/>
                </a:solidFill>
                <a:latin typeface="Calibri"/>
              </a:rPr>
              <a:t>If not, rewrite it. If it takes more than five sentences, the recommendation is not sharp enough yet.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WHAT GOOD LOOKS LIKE</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The same analysis, two openings</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691640"/>
            <a:ext cx="5294376" cy="393192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7" y="1920240"/>
            <a:ext cx="4480560" cy="256032"/>
          </a:xfrm>
          <a:prstGeom prst="rect">
            <a:avLst/>
          </a:prstGeom>
          <a:noFill/>
        </p:spPr>
        <p:txBody>
          <a:bodyPr wrap="square" lIns="0" rIns="0" tIns="0" bIns="0" anchor="t">
            <a:spAutoFit/>
          </a:bodyPr>
          <a:lstStyle/>
          <a:p>
            <a:pPr algn="l"/>
            <a:r>
              <a:rPr sz="1100" b="1" i="0">
                <a:solidFill>
                  <a:srgbClr val="54565B"/>
                </a:solidFill>
                <a:latin typeface="Calibri"/>
              </a:rPr>
              <a:t>HOW MOST PEOPLE OPEN</a:t>
            </a:r>
          </a:p>
        </p:txBody>
      </p:sp>
      <p:sp>
        <p:nvSpPr>
          <p:cNvPr id="7" name="TextBox 6"/>
          <p:cNvSpPr txBox="1"/>
          <p:nvPr/>
        </p:nvSpPr>
        <p:spPr>
          <a:xfrm>
            <a:off x="1024127" y="2286000"/>
            <a:ext cx="4526280" cy="2011680"/>
          </a:xfrm>
          <a:prstGeom prst="rect">
            <a:avLst/>
          </a:prstGeom>
          <a:noFill/>
        </p:spPr>
        <p:txBody>
          <a:bodyPr wrap="square" lIns="0" rIns="0" tIns="0" bIns="0" anchor="t">
            <a:spAutoFit/>
          </a:bodyPr>
          <a:lstStyle/>
          <a:p>
            <a:pPr algn="l"/>
            <a:r>
              <a:rPr sz="1350" b="0" i="0">
                <a:solidFill>
                  <a:srgbClr val="17151A"/>
                </a:solidFill>
                <a:latin typeface="Calibri"/>
              </a:rPr>
              <a:t>“As you know, the support backlog has been growing since Q2. I pulled ticket data from Zendesk covering the last four years and cleaned it, then looked at several staffing scenarios using a model I built. This memo walks through the methodology and findings.”</a:t>
            </a:r>
          </a:p>
        </p:txBody>
      </p:sp>
      <p:sp>
        <p:nvSpPr>
          <p:cNvPr id="8" name="TextBox 7"/>
          <p:cNvSpPr txBox="1"/>
          <p:nvPr/>
        </p:nvSpPr>
        <p:spPr>
          <a:xfrm>
            <a:off x="1024127" y="5029200"/>
            <a:ext cx="4526280" cy="457200"/>
          </a:xfrm>
          <a:prstGeom prst="rect">
            <a:avLst/>
          </a:prstGeom>
          <a:noFill/>
        </p:spPr>
        <p:txBody>
          <a:bodyPr wrap="square" lIns="0" rIns="0" tIns="0" bIns="0" anchor="t">
            <a:spAutoFit/>
          </a:bodyPr>
          <a:lstStyle/>
          <a:p>
            <a:pPr algn="l"/>
            <a:r>
              <a:rPr sz="1250" b="0" i="1">
                <a:solidFill>
                  <a:srgbClr val="54565B"/>
                </a:solidFill>
                <a:latin typeface="Calibri"/>
              </a:rPr>
              <a:t>Four sentences. No recommendation. The reader still does not know what you want.</a:t>
            </a:r>
          </a:p>
        </p:txBody>
      </p:sp>
      <p:sp>
        <p:nvSpPr>
          <p:cNvPr id="9" name="Rounded Rectangle 8"/>
          <p:cNvSpPr/>
          <p:nvPr/>
        </p:nvSpPr>
        <p:spPr>
          <a:xfrm>
            <a:off x="6190488" y="1691640"/>
            <a:ext cx="5294376" cy="393192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4536" y="1920240"/>
            <a:ext cx="4480560" cy="256032"/>
          </a:xfrm>
          <a:prstGeom prst="rect">
            <a:avLst/>
          </a:prstGeom>
          <a:noFill/>
        </p:spPr>
        <p:txBody>
          <a:bodyPr wrap="square" lIns="0" rIns="0" tIns="0" bIns="0" anchor="t">
            <a:spAutoFit/>
          </a:bodyPr>
          <a:lstStyle/>
          <a:p>
            <a:pPr algn="l"/>
            <a:r>
              <a:rPr sz="1100" b="1" i="0">
                <a:solidFill>
                  <a:srgbClr val="BA0C2F"/>
                </a:solidFill>
                <a:latin typeface="Calibri"/>
              </a:rPr>
              <a:t>HOW IT SHOULD OPEN</a:t>
            </a:r>
          </a:p>
        </p:txBody>
      </p:sp>
      <p:sp>
        <p:nvSpPr>
          <p:cNvPr id="11" name="TextBox 10"/>
          <p:cNvSpPr txBox="1"/>
          <p:nvPr/>
        </p:nvSpPr>
        <p:spPr>
          <a:xfrm>
            <a:off x="6574536" y="2286000"/>
            <a:ext cx="4526280" cy="2011680"/>
          </a:xfrm>
          <a:prstGeom prst="rect">
            <a:avLst/>
          </a:prstGeom>
          <a:noFill/>
        </p:spPr>
        <p:txBody>
          <a:bodyPr wrap="square" lIns="0" rIns="0" tIns="0" bIns="0" anchor="t">
            <a:spAutoFit/>
          </a:bodyPr>
          <a:lstStyle/>
          <a:p>
            <a:pPr algn="l"/>
            <a:r>
              <a:rPr sz="1350" b="0" i="0">
                <a:solidFill>
                  <a:srgbClr val="17151A"/>
                </a:solidFill>
                <a:latin typeface="Calibri"/>
              </a:rPr>
              <a:t>“Extend the contractor bridge through Q4 and defer two of the five open reqs to January. New hires ramp in eight weeks, which lands after the peak we are trying to cover, so hiring now costs about $180K more for the same coverage. I need your decision by August 15th.”</a:t>
            </a:r>
          </a:p>
        </p:txBody>
      </p:sp>
      <p:sp>
        <p:nvSpPr>
          <p:cNvPr id="12" name="TextBox 11"/>
          <p:cNvSpPr txBox="1"/>
          <p:nvPr/>
        </p:nvSpPr>
        <p:spPr>
          <a:xfrm>
            <a:off x="6574536" y="5029200"/>
            <a:ext cx="4526280" cy="457200"/>
          </a:xfrm>
          <a:prstGeom prst="rect">
            <a:avLst/>
          </a:prstGeom>
          <a:noFill/>
        </p:spPr>
        <p:txBody>
          <a:bodyPr wrap="square" lIns="0" rIns="0" tIns="0" bIns="0" anchor="t">
            <a:spAutoFit/>
          </a:bodyPr>
          <a:lstStyle/>
          <a:p>
            <a:pPr algn="l"/>
            <a:r>
              <a:rPr sz="1250" b="1" i="1">
                <a:solidFill>
                  <a:srgbClr val="BA0C2F"/>
                </a:solidFill>
                <a:latin typeface="Calibri"/>
              </a:rPr>
              <a:t>Recommendation, reason with a number, cost, and the ask. Three sentences.</a:t>
            </a:r>
          </a:p>
        </p:txBody>
      </p:sp>
      <p:sp>
        <p:nvSpPr>
          <p:cNvPr id="13" name="TextBox 12"/>
          <p:cNvSpPr txBox="1"/>
          <p:nvPr/>
        </p:nvSpPr>
        <p:spPr>
          <a:xfrm>
            <a:off x="640080" y="5897880"/>
            <a:ext cx="10789920" cy="365760"/>
          </a:xfrm>
          <a:prstGeom prst="rect">
            <a:avLst/>
          </a:prstGeom>
          <a:noFill/>
        </p:spPr>
        <p:txBody>
          <a:bodyPr wrap="square" lIns="0" rIns="0" tIns="0" bIns="0" anchor="t">
            <a:spAutoFit/>
          </a:bodyPr>
          <a:lstStyle/>
          <a:p>
            <a:pPr algn="l"/>
            <a:r>
              <a:rPr sz="1600" b="1" i="0">
                <a:solidFill>
                  <a:srgbClr val="17151A"/>
                </a:solidFill>
                <a:latin typeface="Calibri"/>
              </a:rPr>
              <a:t>Same analysis. Same author. Only the order changed.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5 MINUTES</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Your turn</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691640"/>
            <a:ext cx="2743200" cy="274320"/>
          </a:xfrm>
          <a:prstGeom prst="rect">
            <a:avLst/>
          </a:prstGeom>
          <a:noFill/>
        </p:spPr>
        <p:txBody>
          <a:bodyPr wrap="square" lIns="0" rIns="0" tIns="0" bIns="0" anchor="t">
            <a:spAutoFit/>
          </a:bodyPr>
          <a:lstStyle/>
          <a:p>
            <a:pPr algn="l"/>
            <a:r>
              <a:rPr sz="1400" b="0" i="0">
                <a:solidFill>
                  <a:srgbClr val="54565B"/>
                </a:solidFill>
                <a:latin typeface="Calibri"/>
              </a:rPr>
              <a:t>Say:</a:t>
            </a:r>
          </a:p>
        </p:txBody>
      </p:sp>
      <p:sp>
        <p:nvSpPr>
          <p:cNvPr id="6" name="Rounded Rectangle 5"/>
          <p:cNvSpPr/>
          <p:nvPr/>
        </p:nvSpPr>
        <p:spPr>
          <a:xfrm>
            <a:off x="640080" y="2011680"/>
            <a:ext cx="6766560" cy="65836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76272"/>
            <a:ext cx="6217920" cy="365760"/>
          </a:xfrm>
          <a:prstGeom prst="rect">
            <a:avLst/>
          </a:prstGeom>
          <a:noFill/>
        </p:spPr>
        <p:txBody>
          <a:bodyPr wrap="square" lIns="0" rIns="0" tIns="0" bIns="0" anchor="t">
            <a:spAutoFit/>
          </a:bodyPr>
          <a:lstStyle/>
          <a:p>
            <a:pPr algn="l"/>
            <a:r>
              <a:rPr sz="1700" b="0" i="0">
                <a:solidFill>
                  <a:srgbClr val="BA0C2F"/>
                </a:solidFill>
                <a:latin typeface="Consolas"/>
              </a:rPr>
              <a:t>write this up for my VP</a:t>
            </a:r>
          </a:p>
        </p:txBody>
      </p:sp>
      <p:sp>
        <p:nvSpPr>
          <p:cNvPr id="8" name="TextBox 7"/>
          <p:cNvSpPr txBox="1"/>
          <p:nvPr/>
        </p:nvSpPr>
        <p:spPr>
          <a:xfrm>
            <a:off x="640080" y="2926080"/>
            <a:ext cx="6766560" cy="1005840"/>
          </a:xfrm>
          <a:prstGeom prst="rect">
            <a:avLst/>
          </a:prstGeom>
          <a:noFill/>
        </p:spPr>
        <p:txBody>
          <a:bodyPr wrap="square" lIns="0" rIns="0" tIns="0" bIns="0" anchor="t">
            <a:spAutoFit/>
          </a:bodyPr>
          <a:lstStyle/>
          <a:p>
            <a:pPr algn="l"/>
            <a:r>
              <a:rPr sz="1400" b="0" i="0">
                <a:solidFill>
                  <a:srgbClr val="17151A"/>
                </a:solidFill>
                <a:latin typeface="Calibri"/>
              </a:rPr>
              <a:t>Fill in the reader block at the top of your template first. Who reads this, what they already believe, and what they optimize for. The same analysis produces a genuinely different memo for a CFO than for an operations director.</a:t>
            </a:r>
          </a:p>
        </p:txBody>
      </p:sp>
      <p:sp>
        <p:nvSpPr>
          <p:cNvPr id="9" name="TextBox 8"/>
          <p:cNvSpPr txBox="1"/>
          <p:nvPr/>
        </p:nvSpPr>
        <p:spPr>
          <a:xfrm>
            <a:off x="640080" y="4069080"/>
            <a:ext cx="6766560" cy="914400"/>
          </a:xfrm>
          <a:prstGeom prst="rect">
            <a:avLst/>
          </a:prstGeom>
          <a:noFill/>
        </p:spPr>
        <p:txBody>
          <a:bodyPr wrap="square" lIns="0" rIns="0" tIns="0" bIns="0" anchor="t">
            <a:spAutoFit/>
          </a:bodyPr>
          <a:lstStyle/>
          <a:p>
            <a:pPr algn="l"/>
            <a:r>
              <a:rPr sz="1400" b="0" i="0">
                <a:solidFill>
                  <a:srgbClr val="17151A"/>
                </a:solidFill>
                <a:latin typeface="Calibri"/>
              </a:rPr>
              <a:t>If your honest recommendation is “we do not know yet, here is what would settle it,” write that memo. It beats a confident answer the evidence does not support.</a:t>
            </a:r>
          </a:p>
        </p:txBody>
      </p:sp>
      <p:sp>
        <p:nvSpPr>
          <p:cNvPr id="10" name="Rounded Rectangle 9"/>
          <p:cNvSpPr/>
          <p:nvPr/>
        </p:nvSpPr>
        <p:spPr>
          <a:xfrm>
            <a:off x="7955279" y="2011680"/>
            <a:ext cx="3593592" cy="3383280"/>
          </a:xfrm>
          <a:prstGeom prst="roundRect">
            <a:avLst>
              <a:gd name="adj" fmla="val 4000"/>
            </a:avLst>
          </a:prstGeom>
          <a:solidFill>
            <a:srgbClr val="FFFFFF"/>
          </a:solidFill>
          <a:ln w="19050">
            <a:solidFill>
              <a:srgbClr val="BA0C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7888" y="2286000"/>
            <a:ext cx="3017520" cy="292608"/>
          </a:xfrm>
          <a:prstGeom prst="rect">
            <a:avLst/>
          </a:prstGeom>
          <a:noFill/>
        </p:spPr>
        <p:txBody>
          <a:bodyPr wrap="square" lIns="0" rIns="0" tIns="0" bIns="0" anchor="t">
            <a:spAutoFit/>
          </a:bodyPr>
          <a:lstStyle/>
          <a:p>
            <a:pPr algn="l"/>
            <a:r>
              <a:rPr sz="1500" b="1" i="0">
                <a:solidFill>
                  <a:srgbClr val="BA0C2F"/>
                </a:solidFill>
                <a:latin typeface="Calibri"/>
              </a:rPr>
              <a:t>You sign this one</a:t>
            </a:r>
          </a:p>
        </p:txBody>
      </p:sp>
      <p:sp>
        <p:nvSpPr>
          <p:cNvPr id="12" name="TextBox 11"/>
          <p:cNvSpPr txBox="1"/>
          <p:nvPr/>
        </p:nvSpPr>
        <p:spPr>
          <a:xfrm>
            <a:off x="8247888" y="2670048"/>
            <a:ext cx="3017520" cy="292608"/>
          </a:xfrm>
          <a:prstGeom prst="rect">
            <a:avLst/>
          </a:prstGeom>
          <a:noFill/>
        </p:spPr>
        <p:txBody>
          <a:bodyPr wrap="square" lIns="0" rIns="0" tIns="0" bIns="0" anchor="t">
            <a:spAutoFit/>
          </a:bodyPr>
          <a:lstStyle/>
          <a:p>
            <a:pPr algn="l"/>
            <a:r>
              <a:rPr sz="1350" b="1" i="0">
                <a:solidFill>
                  <a:srgbClr val="17151A"/>
                </a:solidFill>
                <a:latin typeface="Calibri"/>
              </a:rPr>
              <a:t>It has to sound like you.</a:t>
            </a:r>
          </a:p>
        </p:txBody>
      </p:sp>
      <p:sp>
        <p:nvSpPr>
          <p:cNvPr id="13" name="TextBox 12"/>
          <p:cNvSpPr txBox="1"/>
          <p:nvPr/>
        </p:nvSpPr>
        <p:spPr>
          <a:xfrm>
            <a:off x="8247888" y="3017520"/>
            <a:ext cx="3017520" cy="822960"/>
          </a:xfrm>
          <a:prstGeom prst="rect">
            <a:avLst/>
          </a:prstGeom>
          <a:noFill/>
        </p:spPr>
        <p:txBody>
          <a:bodyPr wrap="square" lIns="0" rIns="0" tIns="0" bIns="0" anchor="t">
            <a:spAutoFit/>
          </a:bodyPr>
          <a:lstStyle/>
          <a:p>
            <a:pPr algn="l"/>
            <a:r>
              <a:rPr sz="1350" b="0" i="0">
                <a:solidFill>
                  <a:srgbClr val="17151A"/>
                </a:solidFill>
                <a:latin typeface="Calibri"/>
              </a:rPr>
              <a:t>And you have to be able to defend every line of it in a meeting the AI will not be in.</a:t>
            </a:r>
          </a:p>
        </p:txBody>
      </p:sp>
      <p:sp>
        <p:nvSpPr>
          <p:cNvPr id="14" name="Rectangle 13"/>
          <p:cNvSpPr/>
          <p:nvPr/>
        </p:nvSpPr>
        <p:spPr>
          <a:xfrm>
            <a:off x="8247888" y="3931920"/>
            <a:ext cx="3017520" cy="10972"/>
          </a:xfrm>
          <a:prstGeom prst="rect">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4114800"/>
            <a:ext cx="3017520" cy="1005840"/>
          </a:xfrm>
          <a:prstGeom prst="rect">
            <a:avLst/>
          </a:prstGeom>
          <a:noFill/>
        </p:spPr>
        <p:txBody>
          <a:bodyPr wrap="square" lIns="0" rIns="0" tIns="0" bIns="0" anchor="t">
            <a:spAutoFit/>
          </a:bodyPr>
          <a:lstStyle/>
          <a:p>
            <a:pPr algn="l"/>
            <a:r>
              <a:rPr sz="1300" b="0" i="1">
                <a:solidFill>
                  <a:srgbClr val="54565B"/>
                </a:solidFill>
                <a:latin typeface="Calibri"/>
              </a:rPr>
              <a:t>Read what it wrote. Change what does not sound like you. That edit is the work.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280160"/>
            <a:ext cx="10058400" cy="777240"/>
          </a:xfrm>
          <a:prstGeom prst="rect">
            <a:avLst/>
          </a:prstGeom>
          <a:noFill/>
        </p:spPr>
        <p:txBody>
          <a:bodyPr wrap="square" lIns="0" rIns="0" tIns="0" bIns="0" anchor="t">
            <a:spAutoFit/>
          </a:bodyPr>
          <a:lstStyle/>
          <a:p>
            <a:pPr algn="l"/>
            <a:r>
              <a:rPr sz="4000" b="1" i="0">
                <a:solidFill>
                  <a:srgbClr val="FFFFFF"/>
                </a:solidFill>
                <a:latin typeface="Cambria"/>
              </a:rPr>
              <a:t>What to take back to work</a:t>
            </a:r>
          </a:p>
        </p:txBody>
      </p:sp>
      <p:sp>
        <p:nvSpPr>
          <p:cNvPr id="4" name="Oval 3"/>
          <p:cNvSpPr/>
          <p:nvPr/>
        </p:nvSpPr>
        <p:spPr>
          <a:xfrm>
            <a:off x="640080" y="2286000"/>
            <a:ext cx="402336" cy="40233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BA0C2F"/>
                </a:solidFill>
                <a:latin typeface="Calibri"/>
              </a:rPr>
              <a:t>1</a:t>
            </a:r>
          </a:p>
        </p:txBody>
      </p:sp>
      <p:sp>
        <p:nvSpPr>
          <p:cNvPr id="5" name="TextBox 4"/>
          <p:cNvSpPr txBox="1"/>
          <p:nvPr/>
        </p:nvSpPr>
        <p:spPr>
          <a:xfrm>
            <a:off x="1261872" y="2295144"/>
            <a:ext cx="5669280" cy="329184"/>
          </a:xfrm>
          <a:prstGeom prst="rect">
            <a:avLst/>
          </a:prstGeom>
          <a:noFill/>
        </p:spPr>
        <p:txBody>
          <a:bodyPr wrap="square" lIns="0" rIns="0" tIns="0" bIns="0" anchor="t">
            <a:spAutoFit/>
          </a:bodyPr>
          <a:lstStyle/>
          <a:p>
            <a:pPr algn="l"/>
            <a:r>
              <a:rPr sz="1800" b="1" i="0">
                <a:solidFill>
                  <a:srgbClr val="FFFFFF"/>
                </a:solidFill>
                <a:latin typeface="Calibri"/>
              </a:rPr>
              <a:t>Start from the decision, not the data</a:t>
            </a:r>
          </a:p>
        </p:txBody>
      </p:sp>
      <p:sp>
        <p:nvSpPr>
          <p:cNvPr id="6" name="TextBox 5"/>
          <p:cNvSpPr txBox="1"/>
          <p:nvPr/>
        </p:nvSpPr>
        <p:spPr>
          <a:xfrm>
            <a:off x="7040880" y="2331720"/>
            <a:ext cx="4480560" cy="365760"/>
          </a:xfrm>
          <a:prstGeom prst="rect">
            <a:avLst/>
          </a:prstGeom>
          <a:noFill/>
        </p:spPr>
        <p:txBody>
          <a:bodyPr wrap="square" lIns="0" rIns="0" tIns="0" bIns="0" anchor="t">
            <a:spAutoFit/>
          </a:bodyPr>
          <a:lstStyle/>
          <a:p>
            <a:pPr algn="l"/>
            <a:r>
              <a:rPr sz="1350" b="0" i="0">
                <a:solidFill>
                  <a:srgbClr val="D5D2C5"/>
                </a:solidFill>
                <a:latin typeface="Calibri"/>
              </a:rPr>
              <a:t>The habit that makes everything else worth doing.</a:t>
            </a:r>
          </a:p>
        </p:txBody>
      </p:sp>
      <p:sp>
        <p:nvSpPr>
          <p:cNvPr id="7" name="Oval 6"/>
          <p:cNvSpPr/>
          <p:nvPr/>
        </p:nvSpPr>
        <p:spPr>
          <a:xfrm>
            <a:off x="640080" y="3063240"/>
            <a:ext cx="402336" cy="40233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BA0C2F"/>
                </a:solidFill>
                <a:latin typeface="Calibri"/>
              </a:rPr>
              <a:t>2</a:t>
            </a:r>
          </a:p>
        </p:txBody>
      </p:sp>
      <p:sp>
        <p:nvSpPr>
          <p:cNvPr id="8" name="TextBox 7"/>
          <p:cNvSpPr txBox="1"/>
          <p:nvPr/>
        </p:nvSpPr>
        <p:spPr>
          <a:xfrm>
            <a:off x="1261872" y="3072384"/>
            <a:ext cx="5669280" cy="329184"/>
          </a:xfrm>
          <a:prstGeom prst="rect">
            <a:avLst/>
          </a:prstGeom>
          <a:noFill/>
        </p:spPr>
        <p:txBody>
          <a:bodyPr wrap="square" lIns="0" rIns="0" tIns="0" bIns="0" anchor="t">
            <a:spAutoFit/>
          </a:bodyPr>
          <a:lstStyle/>
          <a:p>
            <a:pPr algn="l"/>
            <a:r>
              <a:rPr sz="1800" b="1" i="0">
                <a:solidFill>
                  <a:srgbClr val="FFFFFF"/>
                </a:solidFill>
                <a:latin typeface="Calibri"/>
              </a:rPr>
              <a:t>Show the range, always</a:t>
            </a:r>
          </a:p>
        </p:txBody>
      </p:sp>
      <p:sp>
        <p:nvSpPr>
          <p:cNvPr id="9" name="TextBox 8"/>
          <p:cNvSpPr txBox="1"/>
          <p:nvPr/>
        </p:nvSpPr>
        <p:spPr>
          <a:xfrm>
            <a:off x="7040880" y="3108960"/>
            <a:ext cx="4480560" cy="365760"/>
          </a:xfrm>
          <a:prstGeom prst="rect">
            <a:avLst/>
          </a:prstGeom>
          <a:noFill/>
        </p:spPr>
        <p:txBody>
          <a:bodyPr wrap="square" lIns="0" rIns="0" tIns="0" bIns="0" anchor="t">
            <a:spAutoFit/>
          </a:bodyPr>
          <a:lstStyle/>
          <a:p>
            <a:pPr algn="l"/>
            <a:r>
              <a:rPr sz="1350" b="0" i="0">
                <a:solidFill>
                  <a:srgbClr val="D5D2C5"/>
                </a:solidFill>
                <a:latin typeface="Calibri"/>
              </a:rPr>
              <a:t>The width of it is the finding, not a hedge.</a:t>
            </a:r>
          </a:p>
        </p:txBody>
      </p:sp>
      <p:sp>
        <p:nvSpPr>
          <p:cNvPr id="10" name="Oval 9"/>
          <p:cNvSpPr/>
          <p:nvPr/>
        </p:nvSpPr>
        <p:spPr>
          <a:xfrm>
            <a:off x="640080" y="3840480"/>
            <a:ext cx="402336" cy="40233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BA0C2F"/>
                </a:solidFill>
                <a:latin typeface="Calibri"/>
              </a:rPr>
              <a:t>3</a:t>
            </a:r>
          </a:p>
        </p:txBody>
      </p:sp>
      <p:sp>
        <p:nvSpPr>
          <p:cNvPr id="11" name="TextBox 10"/>
          <p:cNvSpPr txBox="1"/>
          <p:nvPr/>
        </p:nvSpPr>
        <p:spPr>
          <a:xfrm>
            <a:off x="1261872" y="3849624"/>
            <a:ext cx="5669280" cy="329184"/>
          </a:xfrm>
          <a:prstGeom prst="rect">
            <a:avLst/>
          </a:prstGeom>
          <a:noFill/>
        </p:spPr>
        <p:txBody>
          <a:bodyPr wrap="square" lIns="0" rIns="0" tIns="0" bIns="0" anchor="t">
            <a:spAutoFit/>
          </a:bodyPr>
          <a:lstStyle/>
          <a:p>
            <a:pPr algn="l"/>
            <a:r>
              <a:rPr sz="1800" b="1" i="0">
                <a:solidFill>
                  <a:srgbClr val="FFFFFF"/>
                </a:solidFill>
                <a:latin typeface="Calibri"/>
              </a:rPr>
              <a:t>Log what you changed and why</a:t>
            </a:r>
          </a:p>
        </p:txBody>
      </p:sp>
      <p:sp>
        <p:nvSpPr>
          <p:cNvPr id="12" name="TextBox 11"/>
          <p:cNvSpPr txBox="1"/>
          <p:nvPr/>
        </p:nvSpPr>
        <p:spPr>
          <a:xfrm>
            <a:off x="7040880" y="3886200"/>
            <a:ext cx="4480560" cy="365760"/>
          </a:xfrm>
          <a:prstGeom prst="rect">
            <a:avLst/>
          </a:prstGeom>
          <a:noFill/>
        </p:spPr>
        <p:txBody>
          <a:bodyPr wrap="square" lIns="0" rIns="0" tIns="0" bIns="0" anchor="t">
            <a:spAutoFit/>
          </a:bodyPr>
          <a:lstStyle/>
          <a:p>
            <a:pPr algn="l"/>
            <a:r>
              <a:rPr sz="1350" b="0" i="0">
                <a:solidFill>
                  <a:srgbClr val="D5D2C5"/>
                </a:solidFill>
                <a:latin typeface="Calibri"/>
              </a:rPr>
              <a:t>It is what you pull up when someone challenges a number.</a:t>
            </a:r>
          </a:p>
        </p:txBody>
      </p:sp>
      <p:sp>
        <p:nvSpPr>
          <p:cNvPr id="13" name="Oval 12"/>
          <p:cNvSpPr/>
          <p:nvPr/>
        </p:nvSpPr>
        <p:spPr>
          <a:xfrm>
            <a:off x="640080" y="4617720"/>
            <a:ext cx="402336" cy="40233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BA0C2F"/>
                </a:solidFill>
                <a:latin typeface="Calibri"/>
              </a:rPr>
              <a:t>4</a:t>
            </a:r>
          </a:p>
        </p:txBody>
      </p:sp>
      <p:sp>
        <p:nvSpPr>
          <p:cNvPr id="14" name="TextBox 13"/>
          <p:cNvSpPr txBox="1"/>
          <p:nvPr/>
        </p:nvSpPr>
        <p:spPr>
          <a:xfrm>
            <a:off x="1261872" y="4626864"/>
            <a:ext cx="5669280" cy="329184"/>
          </a:xfrm>
          <a:prstGeom prst="rect">
            <a:avLst/>
          </a:prstGeom>
          <a:noFill/>
        </p:spPr>
        <p:txBody>
          <a:bodyPr wrap="square" lIns="0" rIns="0" tIns="0" bIns="0" anchor="t">
            <a:spAutoFit/>
          </a:bodyPr>
          <a:lstStyle/>
          <a:p>
            <a:pPr algn="l"/>
            <a:r>
              <a:rPr sz="1800" b="1" i="0">
                <a:solidFill>
                  <a:srgbClr val="FFFFFF"/>
                </a:solidFill>
                <a:latin typeface="Calibri"/>
              </a:rPr>
              <a:t>Say what you could not determine</a:t>
            </a:r>
          </a:p>
        </p:txBody>
      </p:sp>
      <p:sp>
        <p:nvSpPr>
          <p:cNvPr id="15" name="TextBox 14"/>
          <p:cNvSpPr txBox="1"/>
          <p:nvPr/>
        </p:nvSpPr>
        <p:spPr>
          <a:xfrm>
            <a:off x="7040880" y="4663440"/>
            <a:ext cx="4480560" cy="365760"/>
          </a:xfrm>
          <a:prstGeom prst="rect">
            <a:avLst/>
          </a:prstGeom>
          <a:noFill/>
        </p:spPr>
        <p:txBody>
          <a:bodyPr wrap="square" lIns="0" rIns="0" tIns="0" bIns="0" anchor="t">
            <a:spAutoFit/>
          </a:bodyPr>
          <a:lstStyle/>
          <a:p>
            <a:pPr algn="l"/>
            <a:r>
              <a:rPr sz="1350" b="0" i="0">
                <a:solidFill>
                  <a:srgbClr val="D5D2C5"/>
                </a:solidFill>
                <a:latin typeface="Calibri"/>
              </a:rPr>
              <a:t>It makes you more persuasive, not less.</a:t>
            </a:r>
          </a:p>
        </p:txBody>
      </p:sp>
      <p:sp>
        <p:nvSpPr>
          <p:cNvPr id="16" name="Rectangle 15"/>
          <p:cNvSpPr/>
          <p:nvPr/>
        </p:nvSpPr>
        <p:spPr>
          <a:xfrm>
            <a:off x="640080" y="5623560"/>
            <a:ext cx="1005840" cy="32004"/>
          </a:xfrm>
          <a:prstGeom prst="rect">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897880"/>
            <a:ext cx="10789920" cy="320040"/>
          </a:xfrm>
          <a:prstGeom prst="rect">
            <a:avLst/>
          </a:prstGeom>
          <a:noFill/>
        </p:spPr>
        <p:txBody>
          <a:bodyPr wrap="square" lIns="0" rIns="0" tIns="0" bIns="0" anchor="t">
            <a:spAutoFit/>
          </a:bodyPr>
          <a:lstStyle/>
          <a:p>
            <a:pPr algn="l"/>
            <a:r>
              <a:rPr sz="1400" b="1" i="0">
                <a:solidFill>
                  <a:srgbClr val="FFFFFF"/>
                </a:solidFill>
                <a:latin typeface="Calibri"/>
              </a:rPr>
              <a:t>The workspace is yours to keep:  github.com/data-love-co/info4610-analytics-os</a:t>
            </a:r>
          </a:p>
        </p:txBody>
      </p:sp>
      <p:sp>
        <p:nvSpPr>
          <p:cNvPr id="18" name="TextBox 17"/>
          <p:cNvSpPr txBox="1"/>
          <p:nvPr/>
        </p:nvSpPr>
        <p:spPr>
          <a:xfrm>
            <a:off x="640080" y="6217920"/>
            <a:ext cx="10789920" cy="292608"/>
          </a:xfrm>
          <a:prstGeom prst="rect">
            <a:avLst/>
          </a:prstGeom>
          <a:noFill/>
        </p:spPr>
        <p:txBody>
          <a:bodyPr wrap="square" lIns="0" rIns="0" tIns="0" bIns="0" anchor="t">
            <a:spAutoFit/>
          </a:bodyPr>
          <a:lstStyle/>
          <a:p>
            <a:pPr algn="l"/>
            <a:r>
              <a:rPr sz="1300" b="0" i="0">
                <a:solidFill>
                  <a:srgbClr val="D5D2C5"/>
                </a:solidFill>
                <a:latin typeface="Calibri"/>
              </a:rPr>
              <a:t>Student guide:  data-love-co.github.io/info4610-analytics-os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