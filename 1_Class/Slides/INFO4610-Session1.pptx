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7" d="100"/>
          <a:sy n="97" d="100"/>
        </p:scale>
        <p:origin x="76" y="1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du-daniels-logo-horizontal-white.png"/>
          <p:cNvPicPr>
            <a:picLocks noChangeAspect="1"/>
          </p:cNvPicPr>
          <p:nvPr/>
        </p:nvPicPr>
        <p:blipFill>
          <a:blip r:embed="rId2"/>
          <a:stretch>
            <a:fillRect/>
          </a:stretch>
        </p:blipFill>
        <p:spPr>
          <a:xfrm>
            <a:off x="640080" y="685800"/>
            <a:ext cx="2286000" cy="306324"/>
          </a:xfrm>
          <a:prstGeom prst="rect">
            <a:avLst/>
          </a:prstGeom>
        </p:spPr>
      </p:pic>
      <p:sp>
        <p:nvSpPr>
          <p:cNvPr id="4" name="TextBox 3"/>
          <p:cNvSpPr txBox="1"/>
          <p:nvPr/>
        </p:nvSpPr>
        <p:spPr>
          <a:xfrm>
            <a:off x="640080" y="1965960"/>
            <a:ext cx="9601200" cy="2103120"/>
          </a:xfrm>
          <a:prstGeom prst="rect">
            <a:avLst/>
          </a:prstGeom>
          <a:noFill/>
        </p:spPr>
        <p:txBody>
          <a:bodyPr wrap="square" lIns="0" tIns="0" rIns="0" bIns="0" anchor="t">
            <a:spAutoFit/>
          </a:bodyPr>
          <a:lstStyle/>
          <a:p>
            <a:pPr algn="l">
              <a:lnSpc>
                <a:spcPts val="5400"/>
              </a:lnSpc>
            </a:pPr>
            <a:r>
              <a:rPr sz="4800" b="1" i="0">
                <a:solidFill>
                  <a:srgbClr val="FFFFFF"/>
                </a:solidFill>
                <a:latin typeface="Cambria"/>
              </a:rPr>
              <a:t>Using AI on a Real</a:t>
            </a:r>
          </a:p>
          <a:p>
            <a:pPr algn="l">
              <a:lnSpc>
                <a:spcPts val="5400"/>
              </a:lnSpc>
            </a:pPr>
            <a:r>
              <a:rPr sz="4800" b="1" i="0">
                <a:solidFill>
                  <a:srgbClr val="FFFFFF"/>
                </a:solidFill>
                <a:latin typeface="Cambria"/>
              </a:rPr>
              <a:t>Business Decision</a:t>
            </a:r>
          </a:p>
        </p:txBody>
      </p:sp>
      <p:sp>
        <p:nvSpPr>
          <p:cNvPr id="5" name="TextBox 4"/>
          <p:cNvSpPr txBox="1"/>
          <p:nvPr/>
        </p:nvSpPr>
        <p:spPr>
          <a:xfrm>
            <a:off x="640080" y="4160520"/>
            <a:ext cx="9601200" cy="365760"/>
          </a:xfrm>
          <a:prstGeom prst="rect">
            <a:avLst/>
          </a:prstGeom>
          <a:noFill/>
        </p:spPr>
        <p:txBody>
          <a:bodyPr wrap="square" lIns="0" tIns="0" rIns="0" bIns="0" anchor="t">
            <a:spAutoFit/>
          </a:bodyPr>
          <a:lstStyle/>
          <a:p>
            <a:pPr algn="l"/>
            <a:r>
              <a:rPr sz="1800" b="0" i="0">
                <a:solidFill>
                  <a:srgbClr val="D5D2C5"/>
                </a:solidFill>
                <a:latin typeface="Calibri"/>
              </a:rPr>
              <a:t>Session 1  |  Frame the decision, then interrogate the data</a:t>
            </a:r>
          </a:p>
        </p:txBody>
      </p:sp>
      <p:sp>
        <p:nvSpPr>
          <p:cNvPr id="6" name="Rectangle 5"/>
          <p:cNvSpPr/>
          <p:nvPr/>
        </p:nvSpPr>
        <p:spPr>
          <a:xfrm>
            <a:off x="640080" y="4892040"/>
            <a:ext cx="1005840" cy="32004"/>
          </a:xfrm>
          <a:prstGeom prst="rect">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5138928"/>
            <a:ext cx="9144000" cy="274320"/>
          </a:xfrm>
          <a:prstGeom prst="rect">
            <a:avLst/>
          </a:prstGeom>
          <a:noFill/>
        </p:spPr>
        <p:txBody>
          <a:bodyPr wrap="square" lIns="0" tIns="0" rIns="0" bIns="0" anchor="t">
            <a:spAutoFit/>
          </a:bodyPr>
          <a:lstStyle/>
          <a:p>
            <a:pPr algn="l"/>
            <a:r>
              <a:rPr sz="1300" b="0" i="0">
                <a:solidFill>
                  <a:srgbClr val="FFFFFF"/>
                </a:solidFill>
                <a:latin typeface="Calibri"/>
              </a:rPr>
              <a:t>INFO 4610  |  Business Analytics  |  6:00 - 7:50 PM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8229600" cy="256032"/>
          </a:xfrm>
          <a:prstGeom prst="rect">
            <a:avLst/>
          </a:prstGeom>
          <a:noFill/>
        </p:spPr>
        <p:txBody>
          <a:bodyPr wrap="square" lIns="0" tIns="0" rIns="0" bIns="0" anchor="t">
            <a:spAutoFit/>
          </a:bodyPr>
          <a:lstStyle/>
          <a:p>
            <a:pPr algn="l"/>
            <a:r>
              <a:rPr sz="1100" b="1" i="0">
                <a:solidFill>
                  <a:srgbClr val="BA0C2F"/>
                </a:solidFill>
                <a:latin typeface="Calibri"/>
              </a:rPr>
              <a:t>AGENDA</a:t>
            </a:r>
          </a:p>
        </p:txBody>
      </p:sp>
      <p:sp>
        <p:nvSpPr>
          <p:cNvPr id="3" name="TextBox 2"/>
          <p:cNvSpPr txBox="1"/>
          <p:nvPr/>
        </p:nvSpPr>
        <p:spPr>
          <a:xfrm>
            <a:off x="640080" y="658368"/>
            <a:ext cx="9265615" cy="777240"/>
          </a:xfrm>
          <a:prstGeom prst="rect">
            <a:avLst/>
          </a:prstGeom>
          <a:noFill/>
        </p:spPr>
        <p:txBody>
          <a:bodyPr wrap="square" lIns="0" tIns="0" rIns="0" bIns="0" anchor="t">
            <a:spAutoFit/>
          </a:bodyPr>
          <a:lstStyle/>
          <a:p>
            <a:pPr algn="l"/>
            <a:r>
              <a:rPr sz="3200" b="1" i="0">
                <a:solidFill>
                  <a:srgbClr val="17151A"/>
                </a:solidFill>
                <a:latin typeface="Cambria"/>
              </a:rPr>
              <a:t>Tonight</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79" y="1783080"/>
            <a:ext cx="957235" cy="369332"/>
          </a:xfrm>
          <a:prstGeom prst="rect">
            <a:avLst/>
          </a:prstGeom>
          <a:noFill/>
        </p:spPr>
        <p:txBody>
          <a:bodyPr wrap="square" lIns="0" tIns="0" rIns="0" bIns="0" anchor="t">
            <a:spAutoFit/>
          </a:bodyPr>
          <a:lstStyle/>
          <a:p>
            <a:pPr algn="l"/>
            <a:r>
              <a:rPr sz="2400" b="1" i="0">
                <a:solidFill>
                  <a:srgbClr val="BA0C2F"/>
                </a:solidFill>
                <a:latin typeface="Calibri"/>
              </a:rPr>
              <a:t>6:00</a:t>
            </a:r>
          </a:p>
        </p:txBody>
      </p:sp>
      <p:sp>
        <p:nvSpPr>
          <p:cNvPr id="6" name="TextBox 5"/>
          <p:cNvSpPr txBox="1"/>
          <p:nvPr/>
        </p:nvSpPr>
        <p:spPr>
          <a:xfrm>
            <a:off x="1554479" y="1783080"/>
            <a:ext cx="6650267" cy="369332"/>
          </a:xfrm>
          <a:prstGeom prst="rect">
            <a:avLst/>
          </a:prstGeom>
          <a:noFill/>
        </p:spPr>
        <p:txBody>
          <a:bodyPr wrap="square" lIns="0" tIns="0" rIns="0" bIns="0" anchor="t">
            <a:spAutoFit/>
          </a:bodyPr>
          <a:lstStyle/>
          <a:p>
            <a:pPr algn="l"/>
            <a:r>
              <a:rPr sz="2400" b="1" i="0">
                <a:solidFill>
                  <a:srgbClr val="17151A"/>
                </a:solidFill>
                <a:latin typeface="Calibri"/>
              </a:rPr>
              <a:t>Set up and fetch the workspace</a:t>
            </a:r>
          </a:p>
        </p:txBody>
      </p:sp>
      <p:sp>
        <p:nvSpPr>
          <p:cNvPr id="7" name="TextBox 6"/>
          <p:cNvSpPr txBox="1"/>
          <p:nvPr/>
        </p:nvSpPr>
        <p:spPr>
          <a:xfrm>
            <a:off x="8923623" y="1819656"/>
            <a:ext cx="1007616" cy="369332"/>
          </a:xfrm>
          <a:prstGeom prst="rect">
            <a:avLst/>
          </a:prstGeom>
          <a:noFill/>
        </p:spPr>
        <p:txBody>
          <a:bodyPr wrap="square" lIns="0" tIns="0" rIns="0" bIns="0" anchor="t">
            <a:spAutoFit/>
          </a:bodyPr>
          <a:lstStyle/>
          <a:p>
            <a:pPr algn="l"/>
            <a:r>
              <a:rPr sz="2400" b="0" i="0" dirty="0">
                <a:solidFill>
                  <a:srgbClr val="54565B"/>
                </a:solidFill>
                <a:latin typeface="Calibri"/>
              </a:rPr>
              <a:t>25 min</a:t>
            </a:r>
          </a:p>
        </p:txBody>
      </p:sp>
      <p:sp>
        <p:nvSpPr>
          <p:cNvPr id="8" name="TextBox 7"/>
          <p:cNvSpPr txBox="1"/>
          <p:nvPr/>
        </p:nvSpPr>
        <p:spPr>
          <a:xfrm>
            <a:off x="1554480" y="2112263"/>
            <a:ext cx="10076162" cy="246221"/>
          </a:xfrm>
          <a:prstGeom prst="rect">
            <a:avLst/>
          </a:prstGeom>
          <a:noFill/>
        </p:spPr>
        <p:txBody>
          <a:bodyPr wrap="square" lIns="0" tIns="0" rIns="0" bIns="0" anchor="t">
            <a:spAutoFit/>
          </a:bodyPr>
          <a:lstStyle/>
          <a:p>
            <a:pPr algn="l"/>
            <a:r>
              <a:rPr sz="1600" b="0" i="0">
                <a:solidFill>
                  <a:srgbClr val="54565B"/>
                </a:solidFill>
                <a:latin typeface="Calibri"/>
              </a:rPr>
              <a:t>You will watch the AI build your project folder from one sentence.</a:t>
            </a:r>
          </a:p>
        </p:txBody>
      </p:sp>
      <p:sp>
        <p:nvSpPr>
          <p:cNvPr id="9" name="TextBox 8"/>
          <p:cNvSpPr txBox="1"/>
          <p:nvPr/>
        </p:nvSpPr>
        <p:spPr>
          <a:xfrm>
            <a:off x="640079" y="2743200"/>
            <a:ext cx="957235" cy="369332"/>
          </a:xfrm>
          <a:prstGeom prst="rect">
            <a:avLst/>
          </a:prstGeom>
          <a:noFill/>
        </p:spPr>
        <p:txBody>
          <a:bodyPr wrap="square" lIns="0" tIns="0" rIns="0" bIns="0" anchor="t">
            <a:spAutoFit/>
          </a:bodyPr>
          <a:lstStyle/>
          <a:p>
            <a:pPr algn="l"/>
            <a:r>
              <a:rPr sz="2400" b="1" i="0">
                <a:solidFill>
                  <a:srgbClr val="BA0C2F"/>
                </a:solidFill>
                <a:latin typeface="Calibri"/>
              </a:rPr>
              <a:t>6:25</a:t>
            </a:r>
          </a:p>
        </p:txBody>
      </p:sp>
      <p:sp>
        <p:nvSpPr>
          <p:cNvPr id="10" name="TextBox 9"/>
          <p:cNvSpPr txBox="1"/>
          <p:nvPr/>
        </p:nvSpPr>
        <p:spPr>
          <a:xfrm>
            <a:off x="1554479" y="2743200"/>
            <a:ext cx="6650267" cy="369332"/>
          </a:xfrm>
          <a:prstGeom prst="rect">
            <a:avLst/>
          </a:prstGeom>
          <a:noFill/>
        </p:spPr>
        <p:txBody>
          <a:bodyPr wrap="square" lIns="0" tIns="0" rIns="0" bIns="0" anchor="t">
            <a:spAutoFit/>
          </a:bodyPr>
          <a:lstStyle/>
          <a:p>
            <a:pPr algn="l"/>
            <a:r>
              <a:rPr sz="2400" b="1" i="0">
                <a:solidFill>
                  <a:srgbClr val="17151A"/>
                </a:solidFill>
                <a:latin typeface="Calibri"/>
              </a:rPr>
              <a:t>Frame your decision</a:t>
            </a:r>
          </a:p>
        </p:txBody>
      </p:sp>
      <p:sp>
        <p:nvSpPr>
          <p:cNvPr id="11" name="TextBox 10"/>
          <p:cNvSpPr txBox="1"/>
          <p:nvPr/>
        </p:nvSpPr>
        <p:spPr>
          <a:xfrm>
            <a:off x="8923623" y="2779776"/>
            <a:ext cx="1007616" cy="369332"/>
          </a:xfrm>
          <a:prstGeom prst="rect">
            <a:avLst/>
          </a:prstGeom>
          <a:noFill/>
        </p:spPr>
        <p:txBody>
          <a:bodyPr wrap="square" lIns="0" tIns="0" rIns="0" bIns="0" anchor="t">
            <a:spAutoFit/>
          </a:bodyPr>
          <a:lstStyle/>
          <a:p>
            <a:pPr algn="l"/>
            <a:r>
              <a:rPr sz="2400" b="0" i="0">
                <a:solidFill>
                  <a:srgbClr val="54565B"/>
                </a:solidFill>
                <a:latin typeface="Calibri"/>
              </a:rPr>
              <a:t>30 min</a:t>
            </a:r>
          </a:p>
        </p:txBody>
      </p:sp>
      <p:sp>
        <p:nvSpPr>
          <p:cNvPr id="12" name="TextBox 11"/>
          <p:cNvSpPr txBox="1"/>
          <p:nvPr/>
        </p:nvSpPr>
        <p:spPr>
          <a:xfrm>
            <a:off x="1554480" y="3072383"/>
            <a:ext cx="10076162" cy="246221"/>
          </a:xfrm>
          <a:prstGeom prst="rect">
            <a:avLst/>
          </a:prstGeom>
          <a:noFill/>
        </p:spPr>
        <p:txBody>
          <a:bodyPr wrap="square" lIns="0" tIns="0" rIns="0" bIns="0" anchor="t">
            <a:spAutoFit/>
          </a:bodyPr>
          <a:lstStyle/>
          <a:p>
            <a:pPr algn="l"/>
            <a:r>
              <a:rPr sz="1600" b="0" i="0">
                <a:solidFill>
                  <a:srgbClr val="54565B"/>
                </a:solidFill>
                <a:latin typeface="Calibri"/>
              </a:rPr>
              <a:t>Turn the thing your boss asked for into a question you can actually answer.</a:t>
            </a:r>
          </a:p>
        </p:txBody>
      </p:sp>
      <p:sp>
        <p:nvSpPr>
          <p:cNvPr id="13" name="TextBox 12"/>
          <p:cNvSpPr txBox="1"/>
          <p:nvPr/>
        </p:nvSpPr>
        <p:spPr>
          <a:xfrm>
            <a:off x="640079" y="3703320"/>
            <a:ext cx="957235" cy="369332"/>
          </a:xfrm>
          <a:prstGeom prst="rect">
            <a:avLst/>
          </a:prstGeom>
          <a:noFill/>
        </p:spPr>
        <p:txBody>
          <a:bodyPr wrap="square" lIns="0" tIns="0" rIns="0" bIns="0" anchor="t">
            <a:spAutoFit/>
          </a:bodyPr>
          <a:lstStyle/>
          <a:p>
            <a:pPr algn="l"/>
            <a:r>
              <a:rPr sz="2400" b="1" i="0">
                <a:solidFill>
                  <a:srgbClr val="BA0C2F"/>
                </a:solidFill>
                <a:latin typeface="Calibri"/>
              </a:rPr>
              <a:t>6:55</a:t>
            </a:r>
          </a:p>
        </p:txBody>
      </p:sp>
      <p:sp>
        <p:nvSpPr>
          <p:cNvPr id="14" name="TextBox 13"/>
          <p:cNvSpPr txBox="1"/>
          <p:nvPr/>
        </p:nvSpPr>
        <p:spPr>
          <a:xfrm>
            <a:off x="1554479" y="3703320"/>
            <a:ext cx="6650267" cy="369332"/>
          </a:xfrm>
          <a:prstGeom prst="rect">
            <a:avLst/>
          </a:prstGeom>
          <a:noFill/>
        </p:spPr>
        <p:txBody>
          <a:bodyPr wrap="square" lIns="0" tIns="0" rIns="0" bIns="0" anchor="t">
            <a:spAutoFit/>
          </a:bodyPr>
          <a:lstStyle/>
          <a:p>
            <a:pPr algn="l"/>
            <a:r>
              <a:rPr sz="2400" b="1" i="0">
                <a:solidFill>
                  <a:srgbClr val="17151A"/>
                </a:solidFill>
                <a:latin typeface="Calibri"/>
              </a:rPr>
              <a:t>Audit your data</a:t>
            </a:r>
          </a:p>
        </p:txBody>
      </p:sp>
      <p:sp>
        <p:nvSpPr>
          <p:cNvPr id="15" name="TextBox 14"/>
          <p:cNvSpPr txBox="1"/>
          <p:nvPr/>
        </p:nvSpPr>
        <p:spPr>
          <a:xfrm>
            <a:off x="8923623" y="3739896"/>
            <a:ext cx="1007616" cy="369332"/>
          </a:xfrm>
          <a:prstGeom prst="rect">
            <a:avLst/>
          </a:prstGeom>
          <a:noFill/>
        </p:spPr>
        <p:txBody>
          <a:bodyPr wrap="square" lIns="0" tIns="0" rIns="0" bIns="0" anchor="t">
            <a:spAutoFit/>
          </a:bodyPr>
          <a:lstStyle/>
          <a:p>
            <a:pPr algn="l"/>
            <a:r>
              <a:rPr sz="2400" b="0" i="0">
                <a:solidFill>
                  <a:srgbClr val="54565B"/>
                </a:solidFill>
                <a:latin typeface="Calibri"/>
              </a:rPr>
              <a:t>45 min</a:t>
            </a:r>
          </a:p>
        </p:txBody>
      </p:sp>
      <p:sp>
        <p:nvSpPr>
          <p:cNvPr id="16" name="TextBox 15"/>
          <p:cNvSpPr txBox="1"/>
          <p:nvPr/>
        </p:nvSpPr>
        <p:spPr>
          <a:xfrm>
            <a:off x="1554480" y="4032503"/>
            <a:ext cx="10076162" cy="246221"/>
          </a:xfrm>
          <a:prstGeom prst="rect">
            <a:avLst/>
          </a:prstGeom>
          <a:noFill/>
        </p:spPr>
        <p:txBody>
          <a:bodyPr wrap="square" lIns="0" tIns="0" rIns="0" bIns="0" anchor="t">
            <a:spAutoFit/>
          </a:bodyPr>
          <a:lstStyle/>
          <a:p>
            <a:pPr algn="l"/>
            <a:r>
              <a:rPr sz="1600" b="0" i="0">
                <a:solidFill>
                  <a:srgbClr val="54565B"/>
                </a:solidFill>
                <a:latin typeface="Calibri"/>
              </a:rPr>
              <a:t>Find out whether it can carry the weight you are about to put on it.</a:t>
            </a:r>
          </a:p>
        </p:txBody>
      </p:sp>
      <p:sp>
        <p:nvSpPr>
          <p:cNvPr id="17" name="TextBox 16"/>
          <p:cNvSpPr txBox="1"/>
          <p:nvPr/>
        </p:nvSpPr>
        <p:spPr>
          <a:xfrm>
            <a:off x="640079" y="4663440"/>
            <a:ext cx="957235" cy="369332"/>
          </a:xfrm>
          <a:prstGeom prst="rect">
            <a:avLst/>
          </a:prstGeom>
          <a:noFill/>
        </p:spPr>
        <p:txBody>
          <a:bodyPr wrap="square" lIns="0" tIns="0" rIns="0" bIns="0" anchor="t">
            <a:spAutoFit/>
          </a:bodyPr>
          <a:lstStyle/>
          <a:p>
            <a:pPr algn="l"/>
            <a:r>
              <a:rPr sz="2400" b="1" i="0">
                <a:solidFill>
                  <a:srgbClr val="BA0C2F"/>
                </a:solidFill>
                <a:latin typeface="Calibri"/>
              </a:rPr>
              <a:t>7:40</a:t>
            </a:r>
          </a:p>
        </p:txBody>
      </p:sp>
      <p:sp>
        <p:nvSpPr>
          <p:cNvPr id="18" name="TextBox 17"/>
          <p:cNvSpPr txBox="1"/>
          <p:nvPr/>
        </p:nvSpPr>
        <p:spPr>
          <a:xfrm>
            <a:off x="1554479" y="4663440"/>
            <a:ext cx="6650267" cy="369332"/>
          </a:xfrm>
          <a:prstGeom prst="rect">
            <a:avLst/>
          </a:prstGeom>
          <a:noFill/>
        </p:spPr>
        <p:txBody>
          <a:bodyPr wrap="square" lIns="0" tIns="0" rIns="0" bIns="0" anchor="t">
            <a:spAutoFit/>
          </a:bodyPr>
          <a:lstStyle/>
          <a:p>
            <a:pPr algn="l"/>
            <a:r>
              <a:rPr sz="2400" b="1" i="0">
                <a:solidFill>
                  <a:srgbClr val="17151A"/>
                </a:solidFill>
                <a:latin typeface="Calibri"/>
              </a:rPr>
              <a:t>Where we pick up next week</a:t>
            </a:r>
          </a:p>
        </p:txBody>
      </p:sp>
      <p:sp>
        <p:nvSpPr>
          <p:cNvPr id="19" name="TextBox 18"/>
          <p:cNvSpPr txBox="1"/>
          <p:nvPr/>
        </p:nvSpPr>
        <p:spPr>
          <a:xfrm>
            <a:off x="8923623" y="4700016"/>
            <a:ext cx="1007616" cy="369332"/>
          </a:xfrm>
          <a:prstGeom prst="rect">
            <a:avLst/>
          </a:prstGeom>
          <a:noFill/>
        </p:spPr>
        <p:txBody>
          <a:bodyPr wrap="square" lIns="0" tIns="0" rIns="0" bIns="0" anchor="t">
            <a:spAutoFit/>
          </a:bodyPr>
          <a:lstStyle/>
          <a:p>
            <a:pPr algn="l"/>
            <a:r>
              <a:rPr sz="2400" b="0" i="0">
                <a:solidFill>
                  <a:srgbClr val="54565B"/>
                </a:solidFill>
                <a:latin typeface="Calibri"/>
              </a:rPr>
              <a:t>10 min</a:t>
            </a:r>
          </a:p>
        </p:txBody>
      </p:sp>
      <p:sp>
        <p:nvSpPr>
          <p:cNvPr id="20" name="TextBox 19"/>
          <p:cNvSpPr txBox="1"/>
          <p:nvPr/>
        </p:nvSpPr>
        <p:spPr>
          <a:xfrm>
            <a:off x="1554480" y="4992623"/>
            <a:ext cx="10076162" cy="246221"/>
          </a:xfrm>
          <a:prstGeom prst="rect">
            <a:avLst/>
          </a:prstGeom>
          <a:noFill/>
        </p:spPr>
        <p:txBody>
          <a:bodyPr wrap="square" lIns="0" tIns="0" rIns="0" bIns="0" anchor="t">
            <a:spAutoFit/>
          </a:bodyPr>
          <a:lstStyle/>
          <a:p>
            <a:pPr algn="l"/>
            <a:r>
              <a:rPr sz="1600" b="0" i="0">
                <a:solidFill>
                  <a:srgbClr val="54565B"/>
                </a:solidFill>
                <a:latin typeface="Calibri"/>
              </a:rPr>
              <a:t>You will arrive ready to build in an hour instead of a week.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8229600" cy="256032"/>
          </a:xfrm>
          <a:prstGeom prst="rect">
            <a:avLst/>
          </a:prstGeom>
          <a:noFill/>
        </p:spPr>
        <p:txBody>
          <a:bodyPr wrap="square" lIns="0" tIns="0" rIns="0" bIns="0" anchor="t">
            <a:spAutoFit/>
          </a:bodyPr>
          <a:lstStyle/>
          <a:p>
            <a:pPr algn="l"/>
            <a:r>
              <a:rPr sz="1100" b="1" i="0">
                <a:solidFill>
                  <a:srgbClr val="BA0C2F"/>
                </a:solidFill>
                <a:latin typeface="Calibri"/>
              </a:rPr>
              <a:t>THE PROMISE</a:t>
            </a:r>
          </a:p>
        </p:txBody>
      </p:sp>
      <p:sp>
        <p:nvSpPr>
          <p:cNvPr id="3" name="TextBox 2"/>
          <p:cNvSpPr txBox="1"/>
          <p:nvPr/>
        </p:nvSpPr>
        <p:spPr>
          <a:xfrm>
            <a:off x="640080" y="658368"/>
            <a:ext cx="9265615" cy="777240"/>
          </a:xfrm>
          <a:prstGeom prst="rect">
            <a:avLst/>
          </a:prstGeom>
          <a:noFill/>
        </p:spPr>
        <p:txBody>
          <a:bodyPr wrap="square" lIns="0" tIns="0" rIns="0" bIns="0" anchor="t">
            <a:spAutoFit/>
          </a:bodyPr>
          <a:lstStyle/>
          <a:p>
            <a:pPr algn="l"/>
            <a:r>
              <a:rPr sz="3200" b="1" i="0">
                <a:solidFill>
                  <a:srgbClr val="17151A"/>
                </a:solidFill>
                <a:latin typeface="Cambria"/>
              </a:rPr>
              <a:t>What you leave with tonight</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874519"/>
            <a:ext cx="3429000" cy="251460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32688" y="2176272"/>
            <a:ext cx="420624" cy="42062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1</a:t>
            </a:r>
          </a:p>
        </p:txBody>
      </p:sp>
      <p:sp>
        <p:nvSpPr>
          <p:cNvPr id="7" name="TextBox 6"/>
          <p:cNvSpPr txBox="1"/>
          <p:nvPr/>
        </p:nvSpPr>
        <p:spPr>
          <a:xfrm>
            <a:off x="932688" y="2761488"/>
            <a:ext cx="2880360" cy="307777"/>
          </a:xfrm>
          <a:prstGeom prst="rect">
            <a:avLst/>
          </a:prstGeom>
          <a:noFill/>
        </p:spPr>
        <p:txBody>
          <a:bodyPr wrap="square" lIns="0" tIns="0" rIns="0" bIns="0" anchor="t">
            <a:spAutoFit/>
          </a:bodyPr>
          <a:lstStyle/>
          <a:p>
            <a:pPr algn="l"/>
            <a:r>
              <a:rPr sz="2000" b="1" i="0" dirty="0">
                <a:solidFill>
                  <a:srgbClr val="17151A"/>
                </a:solidFill>
                <a:latin typeface="Cambria"/>
              </a:rPr>
              <a:t>A decision</a:t>
            </a:r>
          </a:p>
        </p:txBody>
      </p:sp>
      <p:sp>
        <p:nvSpPr>
          <p:cNvPr id="8" name="TextBox 7"/>
          <p:cNvSpPr txBox="1"/>
          <p:nvPr/>
        </p:nvSpPr>
        <p:spPr>
          <a:xfrm>
            <a:off x="932688" y="3218688"/>
            <a:ext cx="2880360" cy="830997"/>
          </a:xfrm>
          <a:prstGeom prst="rect">
            <a:avLst/>
          </a:prstGeom>
          <a:noFill/>
        </p:spPr>
        <p:txBody>
          <a:bodyPr wrap="square" lIns="0" tIns="0" rIns="0" bIns="0" anchor="t">
            <a:spAutoFit/>
          </a:bodyPr>
          <a:lstStyle/>
          <a:p>
            <a:pPr algn="l"/>
            <a:r>
              <a:rPr b="0" i="0" dirty="0">
                <a:solidFill>
                  <a:srgbClr val="54565B"/>
                </a:solidFill>
                <a:latin typeface="Calibri"/>
              </a:rPr>
              <a:t>Written down, with an owner and a deadline, specific enough to be wrong.</a:t>
            </a:r>
          </a:p>
        </p:txBody>
      </p:sp>
      <p:sp>
        <p:nvSpPr>
          <p:cNvPr id="9" name="Rounded Rectangle 8"/>
          <p:cNvSpPr/>
          <p:nvPr/>
        </p:nvSpPr>
        <p:spPr>
          <a:xfrm>
            <a:off x="4343400" y="1874519"/>
            <a:ext cx="3429000" cy="251460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636008" y="2176272"/>
            <a:ext cx="420624" cy="42062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2</a:t>
            </a:r>
          </a:p>
        </p:txBody>
      </p:sp>
      <p:sp>
        <p:nvSpPr>
          <p:cNvPr id="11" name="TextBox 10"/>
          <p:cNvSpPr txBox="1"/>
          <p:nvPr/>
        </p:nvSpPr>
        <p:spPr>
          <a:xfrm>
            <a:off x="4636008" y="2761488"/>
            <a:ext cx="2880360" cy="307777"/>
          </a:xfrm>
          <a:prstGeom prst="rect">
            <a:avLst/>
          </a:prstGeom>
          <a:noFill/>
        </p:spPr>
        <p:txBody>
          <a:bodyPr wrap="square" lIns="0" tIns="0" rIns="0" bIns="0" anchor="t">
            <a:spAutoFit/>
          </a:bodyPr>
          <a:lstStyle/>
          <a:p>
            <a:pPr algn="l"/>
            <a:r>
              <a:rPr sz="2000" b="1" i="0">
                <a:solidFill>
                  <a:srgbClr val="17151A"/>
                </a:solidFill>
                <a:latin typeface="Cambria"/>
              </a:rPr>
              <a:t>A verdict on your data</a:t>
            </a:r>
          </a:p>
        </p:txBody>
      </p:sp>
      <p:sp>
        <p:nvSpPr>
          <p:cNvPr id="12" name="TextBox 11"/>
          <p:cNvSpPr txBox="1"/>
          <p:nvPr/>
        </p:nvSpPr>
        <p:spPr>
          <a:xfrm>
            <a:off x="4636008" y="3218688"/>
            <a:ext cx="2880360" cy="830997"/>
          </a:xfrm>
          <a:prstGeom prst="rect">
            <a:avLst/>
          </a:prstGeom>
          <a:noFill/>
        </p:spPr>
        <p:txBody>
          <a:bodyPr wrap="square" lIns="0" tIns="0" rIns="0" bIns="0" anchor="t">
            <a:spAutoFit/>
          </a:bodyPr>
          <a:lstStyle/>
          <a:p>
            <a:pPr algn="l"/>
            <a:r>
              <a:rPr b="0" i="0">
                <a:solidFill>
                  <a:srgbClr val="54565B"/>
                </a:solidFill>
                <a:latin typeface="Calibri"/>
              </a:rPr>
              <a:t>What it can support, what it can support with caveats, and what it cannot.</a:t>
            </a:r>
          </a:p>
        </p:txBody>
      </p:sp>
      <p:sp>
        <p:nvSpPr>
          <p:cNvPr id="13" name="Rounded Rectangle 12"/>
          <p:cNvSpPr/>
          <p:nvPr/>
        </p:nvSpPr>
        <p:spPr>
          <a:xfrm>
            <a:off x="8046719" y="1874519"/>
            <a:ext cx="3429000" cy="251460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339327" y="2176272"/>
            <a:ext cx="420624" cy="42062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3</a:t>
            </a:r>
          </a:p>
        </p:txBody>
      </p:sp>
      <p:sp>
        <p:nvSpPr>
          <p:cNvPr id="15" name="TextBox 14"/>
          <p:cNvSpPr txBox="1"/>
          <p:nvPr/>
        </p:nvSpPr>
        <p:spPr>
          <a:xfrm>
            <a:off x="8339327" y="2761488"/>
            <a:ext cx="2880360" cy="307777"/>
          </a:xfrm>
          <a:prstGeom prst="rect">
            <a:avLst/>
          </a:prstGeom>
          <a:noFill/>
        </p:spPr>
        <p:txBody>
          <a:bodyPr wrap="square" lIns="0" tIns="0" rIns="0" bIns="0" anchor="t">
            <a:spAutoFit/>
          </a:bodyPr>
          <a:lstStyle/>
          <a:p>
            <a:pPr algn="l"/>
            <a:r>
              <a:rPr sz="2000" b="1" i="0">
                <a:solidFill>
                  <a:srgbClr val="17151A"/>
                </a:solidFill>
                <a:latin typeface="Cambria"/>
              </a:rPr>
              <a:t>A cleaning log</a:t>
            </a:r>
          </a:p>
        </p:txBody>
      </p:sp>
      <p:sp>
        <p:nvSpPr>
          <p:cNvPr id="16" name="TextBox 15"/>
          <p:cNvSpPr txBox="1"/>
          <p:nvPr/>
        </p:nvSpPr>
        <p:spPr>
          <a:xfrm>
            <a:off x="8339327" y="3218688"/>
            <a:ext cx="2880360" cy="1107996"/>
          </a:xfrm>
          <a:prstGeom prst="rect">
            <a:avLst/>
          </a:prstGeom>
          <a:noFill/>
        </p:spPr>
        <p:txBody>
          <a:bodyPr wrap="square" lIns="0" tIns="0" rIns="0" bIns="0" anchor="t">
            <a:spAutoFit/>
          </a:bodyPr>
          <a:lstStyle/>
          <a:p>
            <a:pPr algn="l"/>
            <a:r>
              <a:rPr b="0" i="0">
                <a:solidFill>
                  <a:srgbClr val="54565B"/>
                </a:solidFill>
                <a:latin typeface="Calibri"/>
              </a:rPr>
              <a:t>Every change you made and why. This is what you pull up when someone challenges a number.</a:t>
            </a:r>
          </a:p>
        </p:txBody>
      </p:sp>
      <p:sp>
        <p:nvSpPr>
          <p:cNvPr id="17" name="TextBox 16"/>
          <p:cNvSpPr txBox="1"/>
          <p:nvPr/>
        </p:nvSpPr>
        <p:spPr>
          <a:xfrm>
            <a:off x="640080" y="4846320"/>
            <a:ext cx="10515600" cy="369332"/>
          </a:xfrm>
          <a:prstGeom prst="rect">
            <a:avLst/>
          </a:prstGeom>
          <a:noFill/>
        </p:spPr>
        <p:txBody>
          <a:bodyPr wrap="square" lIns="0" tIns="0" rIns="0" bIns="0" anchor="t">
            <a:spAutoFit/>
          </a:bodyPr>
          <a:lstStyle/>
          <a:p>
            <a:pPr algn="l"/>
            <a:r>
              <a:rPr sz="2400" b="0" i="1" dirty="0">
                <a:solidFill>
                  <a:srgbClr val="BA0C2F"/>
                </a:solidFill>
                <a:latin typeface="Calibri"/>
              </a:rPr>
              <a:t>None of these require you to bring a single row of company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8229600" cy="256032"/>
          </a:xfrm>
          <a:prstGeom prst="rect">
            <a:avLst/>
          </a:prstGeom>
          <a:noFill/>
        </p:spPr>
        <p:txBody>
          <a:bodyPr wrap="square" lIns="0" tIns="0" rIns="0" bIns="0" anchor="t">
            <a:spAutoFit/>
          </a:bodyPr>
          <a:lstStyle/>
          <a:p>
            <a:pPr algn="l"/>
            <a:r>
              <a:rPr sz="1100" b="1" i="0">
                <a:solidFill>
                  <a:srgbClr val="BA0C2F"/>
                </a:solidFill>
                <a:latin typeface="Calibri"/>
              </a:rPr>
              <a:t>WHERE THIS CONNECTS</a:t>
            </a:r>
          </a:p>
        </p:txBody>
      </p:sp>
      <p:sp>
        <p:nvSpPr>
          <p:cNvPr id="3" name="TextBox 2"/>
          <p:cNvSpPr txBox="1"/>
          <p:nvPr/>
        </p:nvSpPr>
        <p:spPr>
          <a:xfrm>
            <a:off x="640080" y="658368"/>
            <a:ext cx="9265615" cy="777240"/>
          </a:xfrm>
          <a:prstGeom prst="rect">
            <a:avLst/>
          </a:prstGeom>
          <a:noFill/>
        </p:spPr>
        <p:txBody>
          <a:bodyPr wrap="square" lIns="0" tIns="0" rIns="0" bIns="0" anchor="t">
            <a:spAutoFit/>
          </a:bodyPr>
          <a:lstStyle/>
          <a:p>
            <a:pPr algn="l"/>
            <a:r>
              <a:rPr sz="3200" b="1" i="0">
                <a:solidFill>
                  <a:srgbClr val="17151A"/>
                </a:solidFill>
                <a:latin typeface="Cambria"/>
              </a:rPr>
              <a:t>You already know the statistics</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257003"/>
            <a:ext cx="10515600" cy="369332"/>
          </a:xfrm>
          <a:prstGeom prst="rect">
            <a:avLst/>
          </a:prstGeom>
          <a:noFill/>
        </p:spPr>
        <p:txBody>
          <a:bodyPr wrap="square" lIns="0" tIns="0" rIns="0" bIns="0" anchor="t">
            <a:spAutoFit/>
          </a:bodyPr>
          <a:lstStyle/>
          <a:p>
            <a:pPr algn="l"/>
            <a:r>
              <a:rPr sz="2400" b="0" i="0" dirty="0">
                <a:solidFill>
                  <a:srgbClr val="54565B"/>
                </a:solidFill>
                <a:latin typeface="Calibri"/>
              </a:rPr>
              <a:t>Every use case you can build next week is a module you have already finished.</a:t>
            </a:r>
          </a:p>
        </p:txBody>
      </p:sp>
      <p:sp>
        <p:nvSpPr>
          <p:cNvPr id="6" name="TextBox 5"/>
          <p:cNvSpPr txBox="1"/>
          <p:nvPr/>
        </p:nvSpPr>
        <p:spPr>
          <a:xfrm>
            <a:off x="640080" y="2103120"/>
            <a:ext cx="3931920" cy="276999"/>
          </a:xfrm>
          <a:prstGeom prst="rect">
            <a:avLst/>
          </a:prstGeom>
          <a:noFill/>
        </p:spPr>
        <p:txBody>
          <a:bodyPr wrap="square" lIns="0" tIns="0" rIns="0" bIns="0" anchor="t">
            <a:spAutoFit/>
          </a:bodyPr>
          <a:lstStyle/>
          <a:p>
            <a:pPr algn="l"/>
            <a:r>
              <a:rPr b="1" i="0" dirty="0">
                <a:solidFill>
                  <a:srgbClr val="17151A"/>
                </a:solidFill>
                <a:latin typeface="Calibri"/>
              </a:rPr>
              <a:t>Executive KPI dashboard</a:t>
            </a:r>
          </a:p>
        </p:txBody>
      </p:sp>
      <p:sp>
        <p:nvSpPr>
          <p:cNvPr id="7" name="TextBox 6"/>
          <p:cNvSpPr txBox="1"/>
          <p:nvPr/>
        </p:nvSpPr>
        <p:spPr>
          <a:xfrm>
            <a:off x="4754880" y="2103120"/>
            <a:ext cx="1737360" cy="276999"/>
          </a:xfrm>
          <a:prstGeom prst="rect">
            <a:avLst/>
          </a:prstGeom>
          <a:noFill/>
        </p:spPr>
        <p:txBody>
          <a:bodyPr wrap="square" lIns="0" tIns="0" rIns="0" bIns="0" anchor="t">
            <a:spAutoFit/>
          </a:bodyPr>
          <a:lstStyle/>
          <a:p>
            <a:pPr algn="l"/>
            <a:r>
              <a:rPr b="1" i="0">
                <a:solidFill>
                  <a:srgbClr val="375060"/>
                </a:solidFill>
                <a:latin typeface="Calibri"/>
              </a:rPr>
              <a:t>Module 01</a:t>
            </a:r>
          </a:p>
        </p:txBody>
      </p:sp>
      <p:sp>
        <p:nvSpPr>
          <p:cNvPr id="8" name="TextBox 7"/>
          <p:cNvSpPr txBox="1"/>
          <p:nvPr/>
        </p:nvSpPr>
        <p:spPr>
          <a:xfrm>
            <a:off x="6675120" y="2103120"/>
            <a:ext cx="4754880" cy="276999"/>
          </a:xfrm>
          <a:prstGeom prst="rect">
            <a:avLst/>
          </a:prstGeom>
          <a:noFill/>
        </p:spPr>
        <p:txBody>
          <a:bodyPr wrap="square" lIns="0" tIns="0" rIns="0" bIns="0" anchor="t">
            <a:spAutoFit/>
          </a:bodyPr>
          <a:lstStyle/>
          <a:p>
            <a:pPr algn="l"/>
            <a:r>
              <a:rPr b="0" i="0">
                <a:solidFill>
                  <a:srgbClr val="54565B"/>
                </a:solidFill>
                <a:latin typeface="Calibri"/>
              </a:rPr>
              <a:t>Descriptive statistics</a:t>
            </a:r>
          </a:p>
        </p:txBody>
      </p:sp>
      <p:sp>
        <p:nvSpPr>
          <p:cNvPr id="9" name="TextBox 8"/>
          <p:cNvSpPr txBox="1"/>
          <p:nvPr/>
        </p:nvSpPr>
        <p:spPr>
          <a:xfrm>
            <a:off x="640080" y="2724912"/>
            <a:ext cx="3931920" cy="276999"/>
          </a:xfrm>
          <a:prstGeom prst="rect">
            <a:avLst/>
          </a:prstGeom>
          <a:noFill/>
        </p:spPr>
        <p:txBody>
          <a:bodyPr wrap="square" lIns="0" tIns="0" rIns="0" bIns="0" anchor="t">
            <a:spAutoFit/>
          </a:bodyPr>
          <a:lstStyle/>
          <a:p>
            <a:pPr algn="l"/>
            <a:r>
              <a:rPr b="1" i="0">
                <a:solidFill>
                  <a:srgbClr val="17151A"/>
                </a:solidFill>
                <a:latin typeface="Calibri"/>
              </a:rPr>
              <a:t>A/B test readout</a:t>
            </a:r>
          </a:p>
        </p:txBody>
      </p:sp>
      <p:sp>
        <p:nvSpPr>
          <p:cNvPr id="10" name="TextBox 9"/>
          <p:cNvSpPr txBox="1"/>
          <p:nvPr/>
        </p:nvSpPr>
        <p:spPr>
          <a:xfrm>
            <a:off x="4754880" y="2724912"/>
            <a:ext cx="1737360" cy="276999"/>
          </a:xfrm>
          <a:prstGeom prst="rect">
            <a:avLst/>
          </a:prstGeom>
          <a:noFill/>
        </p:spPr>
        <p:txBody>
          <a:bodyPr wrap="square" lIns="0" tIns="0" rIns="0" bIns="0" anchor="t">
            <a:spAutoFit/>
          </a:bodyPr>
          <a:lstStyle/>
          <a:p>
            <a:pPr algn="l"/>
            <a:r>
              <a:rPr b="1" i="0">
                <a:solidFill>
                  <a:srgbClr val="375060"/>
                </a:solidFill>
                <a:latin typeface="Calibri"/>
              </a:rPr>
              <a:t>Modules 04-06</a:t>
            </a:r>
          </a:p>
        </p:txBody>
      </p:sp>
      <p:sp>
        <p:nvSpPr>
          <p:cNvPr id="11" name="TextBox 10"/>
          <p:cNvSpPr txBox="1"/>
          <p:nvPr/>
        </p:nvSpPr>
        <p:spPr>
          <a:xfrm>
            <a:off x="6675120" y="2724912"/>
            <a:ext cx="4754880" cy="276999"/>
          </a:xfrm>
          <a:prstGeom prst="rect">
            <a:avLst/>
          </a:prstGeom>
          <a:noFill/>
        </p:spPr>
        <p:txBody>
          <a:bodyPr wrap="square" lIns="0" tIns="0" rIns="0" bIns="0" anchor="t">
            <a:spAutoFit/>
          </a:bodyPr>
          <a:lstStyle/>
          <a:p>
            <a:pPr algn="l"/>
            <a:r>
              <a:rPr b="0" i="0">
                <a:solidFill>
                  <a:srgbClr val="54565B"/>
                </a:solidFill>
                <a:latin typeface="Calibri"/>
              </a:rPr>
              <a:t>Hypothesis testing, ANOVA, chi-square</a:t>
            </a:r>
          </a:p>
        </p:txBody>
      </p:sp>
      <p:sp>
        <p:nvSpPr>
          <p:cNvPr id="12" name="TextBox 11"/>
          <p:cNvSpPr txBox="1"/>
          <p:nvPr/>
        </p:nvSpPr>
        <p:spPr>
          <a:xfrm>
            <a:off x="640080" y="3346704"/>
            <a:ext cx="3931920" cy="276999"/>
          </a:xfrm>
          <a:prstGeom prst="rect">
            <a:avLst/>
          </a:prstGeom>
          <a:noFill/>
        </p:spPr>
        <p:txBody>
          <a:bodyPr wrap="square" lIns="0" tIns="0" rIns="0" bIns="0" anchor="t">
            <a:spAutoFit/>
          </a:bodyPr>
          <a:lstStyle/>
          <a:p>
            <a:pPr algn="l"/>
            <a:r>
              <a:rPr b="1" i="0">
                <a:solidFill>
                  <a:srgbClr val="17151A"/>
                </a:solidFill>
                <a:latin typeface="Calibri"/>
              </a:rPr>
              <a:t>Forecast with uncertainty</a:t>
            </a:r>
          </a:p>
        </p:txBody>
      </p:sp>
      <p:sp>
        <p:nvSpPr>
          <p:cNvPr id="13" name="TextBox 12"/>
          <p:cNvSpPr txBox="1"/>
          <p:nvPr/>
        </p:nvSpPr>
        <p:spPr>
          <a:xfrm>
            <a:off x="4754880" y="3346704"/>
            <a:ext cx="1737360" cy="276999"/>
          </a:xfrm>
          <a:prstGeom prst="rect">
            <a:avLst/>
          </a:prstGeom>
          <a:noFill/>
        </p:spPr>
        <p:txBody>
          <a:bodyPr wrap="square" lIns="0" tIns="0" rIns="0" bIns="0" anchor="t">
            <a:spAutoFit/>
          </a:bodyPr>
          <a:lstStyle/>
          <a:p>
            <a:pPr algn="l"/>
            <a:r>
              <a:rPr b="1" i="0">
                <a:solidFill>
                  <a:srgbClr val="375060"/>
                </a:solidFill>
                <a:latin typeface="Calibri"/>
              </a:rPr>
              <a:t>Module 09</a:t>
            </a:r>
          </a:p>
        </p:txBody>
      </p:sp>
      <p:sp>
        <p:nvSpPr>
          <p:cNvPr id="14" name="TextBox 13"/>
          <p:cNvSpPr txBox="1"/>
          <p:nvPr/>
        </p:nvSpPr>
        <p:spPr>
          <a:xfrm>
            <a:off x="6675120" y="3346704"/>
            <a:ext cx="4754880" cy="276999"/>
          </a:xfrm>
          <a:prstGeom prst="rect">
            <a:avLst/>
          </a:prstGeom>
          <a:noFill/>
        </p:spPr>
        <p:txBody>
          <a:bodyPr wrap="square" lIns="0" tIns="0" rIns="0" bIns="0" anchor="t">
            <a:spAutoFit/>
          </a:bodyPr>
          <a:lstStyle/>
          <a:p>
            <a:pPr algn="l"/>
            <a:r>
              <a:rPr b="0" i="0">
                <a:solidFill>
                  <a:srgbClr val="54565B"/>
                </a:solidFill>
                <a:latin typeface="Calibri"/>
              </a:rPr>
              <a:t>Time series</a:t>
            </a:r>
          </a:p>
        </p:txBody>
      </p:sp>
      <p:sp>
        <p:nvSpPr>
          <p:cNvPr id="15" name="TextBox 14"/>
          <p:cNvSpPr txBox="1"/>
          <p:nvPr/>
        </p:nvSpPr>
        <p:spPr>
          <a:xfrm>
            <a:off x="640080" y="3968496"/>
            <a:ext cx="3931920" cy="276999"/>
          </a:xfrm>
          <a:prstGeom prst="rect">
            <a:avLst/>
          </a:prstGeom>
          <a:noFill/>
        </p:spPr>
        <p:txBody>
          <a:bodyPr wrap="square" lIns="0" tIns="0" rIns="0" bIns="0" anchor="t">
            <a:spAutoFit/>
          </a:bodyPr>
          <a:lstStyle/>
          <a:p>
            <a:pPr algn="l"/>
            <a:r>
              <a:rPr b="1" i="0">
                <a:solidFill>
                  <a:srgbClr val="17151A"/>
                </a:solidFill>
                <a:latin typeface="Calibri"/>
              </a:rPr>
              <a:t>Churn or risk scorer</a:t>
            </a:r>
          </a:p>
        </p:txBody>
      </p:sp>
      <p:sp>
        <p:nvSpPr>
          <p:cNvPr id="16" name="TextBox 15"/>
          <p:cNvSpPr txBox="1"/>
          <p:nvPr/>
        </p:nvSpPr>
        <p:spPr>
          <a:xfrm>
            <a:off x="4754880" y="3968496"/>
            <a:ext cx="1737360" cy="276999"/>
          </a:xfrm>
          <a:prstGeom prst="rect">
            <a:avLst/>
          </a:prstGeom>
          <a:noFill/>
        </p:spPr>
        <p:txBody>
          <a:bodyPr wrap="square" lIns="0" tIns="0" rIns="0" bIns="0" anchor="t">
            <a:spAutoFit/>
          </a:bodyPr>
          <a:lstStyle/>
          <a:p>
            <a:pPr algn="l"/>
            <a:r>
              <a:rPr b="1" i="0">
                <a:solidFill>
                  <a:srgbClr val="375060"/>
                </a:solidFill>
                <a:latin typeface="Calibri"/>
              </a:rPr>
              <a:t>Module 07</a:t>
            </a:r>
          </a:p>
        </p:txBody>
      </p:sp>
      <p:sp>
        <p:nvSpPr>
          <p:cNvPr id="17" name="TextBox 16"/>
          <p:cNvSpPr txBox="1"/>
          <p:nvPr/>
        </p:nvSpPr>
        <p:spPr>
          <a:xfrm>
            <a:off x="6675120" y="3968496"/>
            <a:ext cx="4754880" cy="276999"/>
          </a:xfrm>
          <a:prstGeom prst="rect">
            <a:avLst/>
          </a:prstGeom>
          <a:noFill/>
        </p:spPr>
        <p:txBody>
          <a:bodyPr wrap="square" lIns="0" tIns="0" rIns="0" bIns="0" anchor="t">
            <a:spAutoFit/>
          </a:bodyPr>
          <a:lstStyle/>
          <a:p>
            <a:pPr algn="l"/>
            <a:r>
              <a:rPr b="0" i="0">
                <a:solidFill>
                  <a:srgbClr val="54565B"/>
                </a:solidFill>
                <a:latin typeface="Calibri"/>
              </a:rPr>
              <a:t>Regression</a:t>
            </a:r>
          </a:p>
        </p:txBody>
      </p:sp>
      <p:sp>
        <p:nvSpPr>
          <p:cNvPr id="18" name="TextBox 17"/>
          <p:cNvSpPr txBox="1"/>
          <p:nvPr/>
        </p:nvSpPr>
        <p:spPr>
          <a:xfrm>
            <a:off x="640080" y="4590288"/>
            <a:ext cx="3931920" cy="276999"/>
          </a:xfrm>
          <a:prstGeom prst="rect">
            <a:avLst/>
          </a:prstGeom>
          <a:noFill/>
        </p:spPr>
        <p:txBody>
          <a:bodyPr wrap="square" lIns="0" tIns="0" rIns="0" bIns="0" anchor="t">
            <a:spAutoFit/>
          </a:bodyPr>
          <a:lstStyle/>
          <a:p>
            <a:pPr algn="l"/>
            <a:r>
              <a:rPr b="1" i="0">
                <a:solidFill>
                  <a:srgbClr val="17151A"/>
                </a:solidFill>
                <a:latin typeface="Calibri"/>
              </a:rPr>
              <a:t>What-if scenario calculator</a:t>
            </a:r>
          </a:p>
        </p:txBody>
      </p:sp>
      <p:sp>
        <p:nvSpPr>
          <p:cNvPr id="19" name="TextBox 18"/>
          <p:cNvSpPr txBox="1"/>
          <p:nvPr/>
        </p:nvSpPr>
        <p:spPr>
          <a:xfrm>
            <a:off x="4754880" y="4590288"/>
            <a:ext cx="1737360" cy="276999"/>
          </a:xfrm>
          <a:prstGeom prst="rect">
            <a:avLst/>
          </a:prstGeom>
          <a:noFill/>
        </p:spPr>
        <p:txBody>
          <a:bodyPr wrap="square" lIns="0" tIns="0" rIns="0" bIns="0" anchor="t">
            <a:spAutoFit/>
          </a:bodyPr>
          <a:lstStyle/>
          <a:p>
            <a:pPr algn="l"/>
            <a:r>
              <a:rPr b="1" i="0">
                <a:solidFill>
                  <a:srgbClr val="375060"/>
                </a:solidFill>
                <a:latin typeface="Calibri"/>
              </a:rPr>
              <a:t>Module 08</a:t>
            </a:r>
          </a:p>
        </p:txBody>
      </p:sp>
      <p:sp>
        <p:nvSpPr>
          <p:cNvPr id="20" name="TextBox 19"/>
          <p:cNvSpPr txBox="1"/>
          <p:nvPr/>
        </p:nvSpPr>
        <p:spPr>
          <a:xfrm>
            <a:off x="6675120" y="4590288"/>
            <a:ext cx="4754880" cy="276999"/>
          </a:xfrm>
          <a:prstGeom prst="rect">
            <a:avLst/>
          </a:prstGeom>
          <a:noFill/>
        </p:spPr>
        <p:txBody>
          <a:bodyPr wrap="square" lIns="0" tIns="0" rIns="0" bIns="0" anchor="t">
            <a:spAutoFit/>
          </a:bodyPr>
          <a:lstStyle/>
          <a:p>
            <a:pPr algn="l"/>
            <a:r>
              <a:rPr b="0" i="0">
                <a:solidFill>
                  <a:srgbClr val="54565B"/>
                </a:solidFill>
                <a:latin typeface="Calibri"/>
              </a:rPr>
              <a:t>Optimization</a:t>
            </a:r>
          </a:p>
        </p:txBody>
      </p:sp>
      <p:sp>
        <p:nvSpPr>
          <p:cNvPr id="21" name="Rounded Rectangle 20"/>
          <p:cNvSpPr/>
          <p:nvPr/>
        </p:nvSpPr>
        <p:spPr>
          <a:xfrm>
            <a:off x="530352" y="5138927"/>
            <a:ext cx="11130991" cy="54864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640080" y="5212079"/>
            <a:ext cx="3931920" cy="276999"/>
          </a:xfrm>
          <a:prstGeom prst="rect">
            <a:avLst/>
          </a:prstGeom>
          <a:noFill/>
        </p:spPr>
        <p:txBody>
          <a:bodyPr wrap="square" lIns="0" tIns="0" rIns="0" bIns="0" anchor="t">
            <a:spAutoFit/>
          </a:bodyPr>
          <a:lstStyle/>
          <a:p>
            <a:pPr algn="l"/>
            <a:r>
              <a:rPr b="1" i="0">
                <a:solidFill>
                  <a:srgbClr val="BA0C2F"/>
                </a:solidFill>
                <a:latin typeface="Calibri"/>
              </a:rPr>
              <a:t>Every one of them</a:t>
            </a:r>
          </a:p>
        </p:txBody>
      </p:sp>
      <p:sp>
        <p:nvSpPr>
          <p:cNvPr id="23" name="TextBox 22"/>
          <p:cNvSpPr txBox="1"/>
          <p:nvPr/>
        </p:nvSpPr>
        <p:spPr>
          <a:xfrm>
            <a:off x="4754880" y="5212079"/>
            <a:ext cx="1737360" cy="276999"/>
          </a:xfrm>
          <a:prstGeom prst="rect">
            <a:avLst/>
          </a:prstGeom>
          <a:noFill/>
        </p:spPr>
        <p:txBody>
          <a:bodyPr wrap="square" lIns="0" tIns="0" rIns="0" bIns="0" anchor="t">
            <a:spAutoFit/>
          </a:bodyPr>
          <a:lstStyle/>
          <a:p>
            <a:pPr algn="l"/>
            <a:r>
              <a:rPr b="1" i="0">
                <a:solidFill>
                  <a:srgbClr val="375060"/>
                </a:solidFill>
                <a:latin typeface="Calibri"/>
              </a:rPr>
              <a:t>Module 03</a:t>
            </a:r>
          </a:p>
        </p:txBody>
      </p:sp>
      <p:sp>
        <p:nvSpPr>
          <p:cNvPr id="24" name="TextBox 23"/>
          <p:cNvSpPr txBox="1"/>
          <p:nvPr/>
        </p:nvSpPr>
        <p:spPr>
          <a:xfrm>
            <a:off x="6675120" y="5212079"/>
            <a:ext cx="4754880" cy="276999"/>
          </a:xfrm>
          <a:prstGeom prst="rect">
            <a:avLst/>
          </a:prstGeom>
          <a:noFill/>
        </p:spPr>
        <p:txBody>
          <a:bodyPr wrap="square" lIns="0" tIns="0" rIns="0" bIns="0" anchor="t">
            <a:spAutoFit/>
          </a:bodyPr>
          <a:lstStyle/>
          <a:p>
            <a:pPr algn="l"/>
            <a:r>
              <a:rPr b="0" i="0">
                <a:solidFill>
                  <a:srgbClr val="54565B"/>
                </a:solidFill>
                <a:latin typeface="Calibri"/>
              </a:rPr>
              <a:t>Sampling and confidence intervals</a:t>
            </a:r>
          </a:p>
        </p:txBody>
      </p:sp>
      <p:sp>
        <p:nvSpPr>
          <p:cNvPr id="25" name="TextBox 24"/>
          <p:cNvSpPr txBox="1"/>
          <p:nvPr/>
        </p:nvSpPr>
        <p:spPr>
          <a:xfrm>
            <a:off x="640080" y="5806440"/>
            <a:ext cx="10607040" cy="276999"/>
          </a:xfrm>
          <a:prstGeom prst="rect">
            <a:avLst/>
          </a:prstGeom>
          <a:noFill/>
        </p:spPr>
        <p:txBody>
          <a:bodyPr wrap="square" lIns="0" tIns="0" rIns="0" bIns="0" anchor="t">
            <a:spAutoFit/>
          </a:bodyPr>
          <a:lstStyle/>
          <a:p>
            <a:pPr algn="l"/>
            <a:r>
              <a:rPr b="1" i="0">
                <a:solidFill>
                  <a:srgbClr val="17151A"/>
                </a:solidFill>
                <a:latin typeface="Calibri"/>
              </a:rPr>
              <a:t>What is new tonight is not the statistics. It is choosing what is worth computing,</a:t>
            </a:r>
          </a:p>
        </p:txBody>
      </p:sp>
      <p:sp>
        <p:nvSpPr>
          <p:cNvPr id="26" name="TextBox 25"/>
          <p:cNvSpPr txBox="1"/>
          <p:nvPr/>
        </p:nvSpPr>
        <p:spPr>
          <a:xfrm>
            <a:off x="640080" y="6108192"/>
            <a:ext cx="10607040" cy="276999"/>
          </a:xfrm>
          <a:prstGeom prst="rect">
            <a:avLst/>
          </a:prstGeom>
          <a:noFill/>
        </p:spPr>
        <p:txBody>
          <a:bodyPr wrap="square" lIns="0" tIns="0" rIns="0" bIns="0" anchor="t">
            <a:spAutoFit/>
          </a:bodyPr>
          <a:lstStyle/>
          <a:p>
            <a:pPr algn="l"/>
            <a:r>
              <a:rPr b="1" i="0">
                <a:solidFill>
                  <a:srgbClr val="17151A"/>
                </a:solidFill>
                <a:latin typeface="Calibri"/>
              </a:rPr>
              <a:t>and being able to defend it when someone asks how you know.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40080" y="868680"/>
            <a:ext cx="10911535" cy="507492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1234440"/>
            <a:ext cx="7315200" cy="274320"/>
          </a:xfrm>
          <a:prstGeom prst="rect">
            <a:avLst/>
          </a:prstGeom>
          <a:noFill/>
        </p:spPr>
        <p:txBody>
          <a:bodyPr wrap="square" lIns="0" tIns="0" rIns="0" bIns="0" anchor="t">
            <a:spAutoFit/>
          </a:bodyPr>
          <a:lstStyle/>
          <a:p>
            <a:pPr algn="l"/>
            <a:r>
              <a:rPr sz="1200" b="1" i="0">
                <a:solidFill>
                  <a:srgbClr val="BA0C2F"/>
                </a:solidFill>
                <a:latin typeface="Calibri"/>
              </a:rPr>
              <a:t>YOUR COMPANY'S DATA</a:t>
            </a:r>
          </a:p>
        </p:txBody>
      </p:sp>
      <p:sp>
        <p:nvSpPr>
          <p:cNvPr id="4" name="TextBox 3"/>
          <p:cNvSpPr txBox="1"/>
          <p:nvPr/>
        </p:nvSpPr>
        <p:spPr>
          <a:xfrm>
            <a:off x="1143000" y="1572768"/>
            <a:ext cx="9601200" cy="640080"/>
          </a:xfrm>
          <a:prstGeom prst="rect">
            <a:avLst/>
          </a:prstGeom>
          <a:noFill/>
        </p:spPr>
        <p:txBody>
          <a:bodyPr wrap="square" lIns="0" tIns="0" rIns="0" bIns="0" anchor="t">
            <a:spAutoFit/>
          </a:bodyPr>
          <a:lstStyle/>
          <a:p>
            <a:pPr algn="l"/>
            <a:r>
              <a:rPr sz="3300" b="1" i="0">
                <a:solidFill>
                  <a:srgbClr val="17151A"/>
                </a:solidFill>
                <a:latin typeface="Cambria"/>
              </a:rPr>
              <a:t>You do not need to bring any.</a:t>
            </a:r>
          </a:p>
        </p:txBody>
      </p:sp>
      <p:sp>
        <p:nvSpPr>
          <p:cNvPr id="5" name="Oval 4"/>
          <p:cNvSpPr/>
          <p:nvPr/>
        </p:nvSpPr>
        <p:spPr>
          <a:xfrm>
            <a:off x="1188719" y="2560320"/>
            <a:ext cx="100584" cy="10058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08760" y="2487168"/>
            <a:ext cx="9326880" cy="384048"/>
          </a:xfrm>
          <a:prstGeom prst="rect">
            <a:avLst/>
          </a:prstGeom>
          <a:noFill/>
        </p:spPr>
        <p:txBody>
          <a:bodyPr wrap="square" lIns="0" tIns="0" rIns="0" bIns="0" anchor="t">
            <a:spAutoFit/>
          </a:bodyPr>
          <a:lstStyle/>
          <a:p>
            <a:pPr algn="l"/>
            <a:r>
              <a:rPr sz="1450" b="0" i="0">
                <a:solidFill>
                  <a:srgbClr val="17151A"/>
                </a:solidFill>
                <a:latin typeface="Calibri"/>
              </a:rPr>
              <a:t>You all have obligations to your employers. Those come first, tonight and always.</a:t>
            </a:r>
          </a:p>
        </p:txBody>
      </p:sp>
      <p:sp>
        <p:nvSpPr>
          <p:cNvPr id="7" name="Oval 6"/>
          <p:cNvSpPr/>
          <p:nvPr/>
        </p:nvSpPr>
        <p:spPr>
          <a:xfrm>
            <a:off x="1188719" y="3200400"/>
            <a:ext cx="100584" cy="10058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08760" y="3127248"/>
            <a:ext cx="9326880" cy="384048"/>
          </a:xfrm>
          <a:prstGeom prst="rect">
            <a:avLst/>
          </a:prstGeom>
          <a:noFill/>
        </p:spPr>
        <p:txBody>
          <a:bodyPr wrap="square" lIns="0" tIns="0" rIns="0" bIns="0" anchor="t">
            <a:spAutoFit/>
          </a:bodyPr>
          <a:lstStyle/>
          <a:p>
            <a:pPr algn="l"/>
            <a:r>
              <a:rPr sz="1450" b="0" i="0">
                <a:solidFill>
                  <a:srgbClr val="17151A"/>
                </a:solidFill>
                <a:latin typeface="Calibri"/>
              </a:rPr>
              <a:t>If you are unsure whether something can leave your company's systems, it stays there.</a:t>
            </a:r>
          </a:p>
        </p:txBody>
      </p:sp>
      <p:sp>
        <p:nvSpPr>
          <p:cNvPr id="9" name="Oval 8"/>
          <p:cNvSpPr/>
          <p:nvPr/>
        </p:nvSpPr>
        <p:spPr>
          <a:xfrm>
            <a:off x="1188719" y="3840480"/>
            <a:ext cx="100584" cy="10058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08760" y="3767328"/>
            <a:ext cx="9326880" cy="384048"/>
          </a:xfrm>
          <a:prstGeom prst="rect">
            <a:avLst/>
          </a:prstGeom>
          <a:noFill/>
        </p:spPr>
        <p:txBody>
          <a:bodyPr wrap="square" lIns="0" tIns="0" rIns="0" bIns="0" anchor="t">
            <a:spAutoFit/>
          </a:bodyPr>
          <a:lstStyle/>
          <a:p>
            <a:pPr algn="l"/>
            <a:r>
              <a:rPr sz="1450" b="0" i="0">
                <a:solidFill>
                  <a:srgbClr val="17151A"/>
                </a:solidFill>
                <a:latin typeface="Calibri"/>
              </a:rPr>
              <a:t>The workspace ships with realistic, messy, completely fictional practice data for every exercise.</a:t>
            </a:r>
          </a:p>
        </p:txBody>
      </p:sp>
      <p:sp>
        <p:nvSpPr>
          <p:cNvPr id="11" name="Oval 10"/>
          <p:cNvSpPr/>
          <p:nvPr/>
        </p:nvSpPr>
        <p:spPr>
          <a:xfrm>
            <a:off x="1188719" y="4480560"/>
            <a:ext cx="100584" cy="10058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08760" y="4407408"/>
            <a:ext cx="9326880" cy="384048"/>
          </a:xfrm>
          <a:prstGeom prst="rect">
            <a:avLst/>
          </a:prstGeom>
          <a:noFill/>
        </p:spPr>
        <p:txBody>
          <a:bodyPr wrap="square" lIns="0" tIns="0" rIns="0" bIns="0" anchor="t">
            <a:spAutoFit/>
          </a:bodyPr>
          <a:lstStyle/>
          <a:p>
            <a:pPr algn="l"/>
            <a:r>
              <a:rPr sz="1450" b="0" i="0">
                <a:solidFill>
                  <a:srgbClr val="17151A"/>
                </a:solidFill>
                <a:latin typeface="Calibri"/>
              </a:rPr>
              <a:t>Build the method here. Point it at your real numbers later, inside your own systems, on your own time.</a:t>
            </a:r>
          </a:p>
        </p:txBody>
      </p:sp>
      <p:sp>
        <p:nvSpPr>
          <p:cNvPr id="13" name="Oval 12"/>
          <p:cNvSpPr/>
          <p:nvPr/>
        </p:nvSpPr>
        <p:spPr>
          <a:xfrm>
            <a:off x="1188719" y="5120640"/>
            <a:ext cx="100584" cy="100584"/>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508760" y="5047488"/>
            <a:ext cx="9326880" cy="384048"/>
          </a:xfrm>
          <a:prstGeom prst="rect">
            <a:avLst/>
          </a:prstGeom>
          <a:noFill/>
        </p:spPr>
        <p:txBody>
          <a:bodyPr wrap="square" lIns="0" tIns="0" rIns="0" bIns="0" anchor="t">
            <a:spAutoFit/>
          </a:bodyPr>
          <a:lstStyle/>
          <a:p>
            <a:pPr algn="l"/>
            <a:r>
              <a:rPr sz="1450" b="0" i="0">
                <a:solidFill>
                  <a:srgbClr val="17151A"/>
                </a:solidFill>
                <a:latin typeface="Calibri"/>
              </a:rPr>
              <a:t>Using work data anyway? Check your employer's AI policy first. Most have one. Most people have not read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8229600" cy="256032"/>
          </a:xfrm>
          <a:prstGeom prst="rect">
            <a:avLst/>
          </a:prstGeom>
          <a:noFill/>
        </p:spPr>
        <p:txBody>
          <a:bodyPr wrap="square" lIns="0" tIns="0" rIns="0" bIns="0" anchor="t">
            <a:spAutoFit/>
          </a:bodyPr>
          <a:lstStyle/>
          <a:p>
            <a:pPr algn="l"/>
            <a:r>
              <a:rPr sz="1100" b="1" i="0">
                <a:solidFill>
                  <a:srgbClr val="BA0C2F"/>
                </a:solidFill>
                <a:latin typeface="Calibri"/>
              </a:rPr>
              <a:t>SETUP</a:t>
            </a:r>
          </a:p>
        </p:txBody>
      </p:sp>
      <p:sp>
        <p:nvSpPr>
          <p:cNvPr id="3" name="TextBox 2"/>
          <p:cNvSpPr txBox="1"/>
          <p:nvPr/>
        </p:nvSpPr>
        <p:spPr>
          <a:xfrm>
            <a:off x="640080" y="658368"/>
            <a:ext cx="9265615" cy="777240"/>
          </a:xfrm>
          <a:prstGeom prst="rect">
            <a:avLst/>
          </a:prstGeom>
          <a:noFill/>
        </p:spPr>
        <p:txBody>
          <a:bodyPr wrap="square" lIns="0" tIns="0" rIns="0" bIns="0" anchor="t">
            <a:spAutoFit/>
          </a:bodyPr>
          <a:lstStyle/>
          <a:p>
            <a:pPr algn="l"/>
            <a:r>
              <a:rPr sz="3200" b="1" i="0">
                <a:solidFill>
                  <a:srgbClr val="17151A"/>
                </a:solidFill>
                <a:latin typeface="Cambria"/>
              </a:rPr>
              <a:t>Any of these will work</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828800"/>
            <a:ext cx="2578608" cy="2331720"/>
          </a:xfrm>
          <a:prstGeom prst="roundRect">
            <a:avLst>
              <a:gd name="adj" fmla="val 4000"/>
            </a:avLst>
          </a:prstGeom>
          <a:solidFill>
            <a:srgbClr val="FFFFFF"/>
          </a:solidFill>
          <a:ln w="15875">
            <a:solidFill>
              <a:srgbClr val="D5D2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96112" y="2103120"/>
            <a:ext cx="292608" cy="292608"/>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2523744"/>
            <a:ext cx="2194560" cy="292608"/>
          </a:xfrm>
          <a:prstGeom prst="rect">
            <a:avLst/>
          </a:prstGeom>
          <a:noFill/>
        </p:spPr>
        <p:txBody>
          <a:bodyPr wrap="square" lIns="0" tIns="0" rIns="0" bIns="0" anchor="t">
            <a:spAutoFit/>
          </a:bodyPr>
          <a:lstStyle/>
          <a:p>
            <a:pPr algn="l"/>
            <a:r>
              <a:rPr sz="1450" b="1" i="0">
                <a:solidFill>
                  <a:srgbClr val="17151A"/>
                </a:solidFill>
                <a:latin typeface="Calibri"/>
              </a:rPr>
              <a:t>Claude Code</a:t>
            </a:r>
          </a:p>
        </p:txBody>
      </p:sp>
      <p:sp>
        <p:nvSpPr>
          <p:cNvPr id="8" name="TextBox 7"/>
          <p:cNvSpPr txBox="1"/>
          <p:nvPr/>
        </p:nvSpPr>
        <p:spPr>
          <a:xfrm>
            <a:off x="896112" y="2871216"/>
            <a:ext cx="2194560" cy="731520"/>
          </a:xfrm>
          <a:prstGeom prst="rect">
            <a:avLst/>
          </a:prstGeom>
          <a:noFill/>
        </p:spPr>
        <p:txBody>
          <a:bodyPr wrap="square" lIns="0" tIns="0" rIns="0" bIns="0" anchor="t">
            <a:spAutoFit/>
          </a:bodyPr>
          <a:lstStyle/>
          <a:p>
            <a:pPr algn="l"/>
            <a:r>
              <a:rPr sz="1200" b="0" i="0">
                <a:solidFill>
                  <a:srgbClr val="54565B"/>
                </a:solidFill>
                <a:latin typeface="Calibri"/>
              </a:rPr>
              <a:t>Everything, automatic</a:t>
            </a:r>
          </a:p>
        </p:txBody>
      </p:sp>
      <p:sp>
        <p:nvSpPr>
          <p:cNvPr id="9" name="TextBox 8"/>
          <p:cNvSpPr txBox="1"/>
          <p:nvPr/>
        </p:nvSpPr>
        <p:spPr>
          <a:xfrm>
            <a:off x="896112" y="3675887"/>
            <a:ext cx="2194560" cy="274320"/>
          </a:xfrm>
          <a:prstGeom prst="rect">
            <a:avLst/>
          </a:prstGeom>
          <a:noFill/>
        </p:spPr>
        <p:txBody>
          <a:bodyPr wrap="square" lIns="0" tIns="0" rIns="0" bIns="0" anchor="t">
            <a:spAutoFit/>
          </a:bodyPr>
          <a:lstStyle/>
          <a:p>
            <a:pPr algn="l"/>
            <a:r>
              <a:rPr sz="1200" b="1" i="0">
                <a:solidFill>
                  <a:srgbClr val="BA0C2F"/>
                </a:solidFill>
                <a:latin typeface="Calibri"/>
              </a:rPr>
              <a:t>~$20/mo</a:t>
            </a:r>
          </a:p>
        </p:txBody>
      </p:sp>
      <p:sp>
        <p:nvSpPr>
          <p:cNvPr id="10" name="Rounded Rectangle 9"/>
          <p:cNvSpPr/>
          <p:nvPr/>
        </p:nvSpPr>
        <p:spPr>
          <a:xfrm>
            <a:off x="3438144" y="1828800"/>
            <a:ext cx="2578608" cy="2331720"/>
          </a:xfrm>
          <a:prstGeom prst="roundRect">
            <a:avLst>
              <a:gd name="adj" fmla="val 4000"/>
            </a:avLst>
          </a:prstGeom>
          <a:solidFill>
            <a:srgbClr val="FFFFFF"/>
          </a:solidFill>
          <a:ln w="15875">
            <a:solidFill>
              <a:srgbClr val="D5D2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694176" y="2103120"/>
            <a:ext cx="292608" cy="292608"/>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94176" y="2523744"/>
            <a:ext cx="2194560" cy="292608"/>
          </a:xfrm>
          <a:prstGeom prst="rect">
            <a:avLst/>
          </a:prstGeom>
          <a:noFill/>
        </p:spPr>
        <p:txBody>
          <a:bodyPr wrap="square" lIns="0" tIns="0" rIns="0" bIns="0" anchor="t">
            <a:spAutoFit/>
          </a:bodyPr>
          <a:lstStyle/>
          <a:p>
            <a:pPr algn="l"/>
            <a:r>
              <a:rPr sz="1450" b="1" i="0">
                <a:solidFill>
                  <a:srgbClr val="17151A"/>
                </a:solidFill>
                <a:latin typeface="Calibri"/>
              </a:rPr>
              <a:t>GitHub Copilot</a:t>
            </a:r>
          </a:p>
        </p:txBody>
      </p:sp>
      <p:sp>
        <p:nvSpPr>
          <p:cNvPr id="13" name="TextBox 12"/>
          <p:cNvSpPr txBox="1"/>
          <p:nvPr/>
        </p:nvSpPr>
        <p:spPr>
          <a:xfrm>
            <a:off x="3694176" y="2871216"/>
            <a:ext cx="2194560" cy="731520"/>
          </a:xfrm>
          <a:prstGeom prst="rect">
            <a:avLst/>
          </a:prstGeom>
          <a:noFill/>
        </p:spPr>
        <p:txBody>
          <a:bodyPr wrap="square" lIns="0" tIns="0" rIns="0" bIns="0" anchor="t">
            <a:spAutoFit/>
          </a:bodyPr>
          <a:lstStyle/>
          <a:p>
            <a:pPr algn="l"/>
            <a:r>
              <a:rPr sz="1200" b="0" i="0">
                <a:solidFill>
                  <a:srgbClr val="54565B"/>
                </a:solidFill>
                <a:latin typeface="Calibri"/>
              </a:rPr>
              <a:t>Everything, automatic</a:t>
            </a:r>
          </a:p>
        </p:txBody>
      </p:sp>
      <p:sp>
        <p:nvSpPr>
          <p:cNvPr id="14" name="TextBox 13"/>
          <p:cNvSpPr txBox="1"/>
          <p:nvPr/>
        </p:nvSpPr>
        <p:spPr>
          <a:xfrm>
            <a:off x="3694176" y="3675887"/>
            <a:ext cx="2194560" cy="274320"/>
          </a:xfrm>
          <a:prstGeom prst="rect">
            <a:avLst/>
          </a:prstGeom>
          <a:noFill/>
        </p:spPr>
        <p:txBody>
          <a:bodyPr wrap="square" lIns="0" tIns="0" rIns="0" bIns="0" anchor="t">
            <a:spAutoFit/>
          </a:bodyPr>
          <a:lstStyle/>
          <a:p>
            <a:pPr algn="l"/>
            <a:r>
              <a:rPr sz="1200" b="1" i="0">
                <a:solidFill>
                  <a:srgbClr val="375060"/>
                </a:solidFill>
                <a:latin typeface="Calibri"/>
              </a:rPr>
              <a:t>Free for students</a:t>
            </a:r>
          </a:p>
        </p:txBody>
      </p:sp>
      <p:sp>
        <p:nvSpPr>
          <p:cNvPr id="15" name="Rounded Rectangle 14"/>
          <p:cNvSpPr/>
          <p:nvPr/>
        </p:nvSpPr>
        <p:spPr>
          <a:xfrm>
            <a:off x="6236208" y="1828800"/>
            <a:ext cx="2578608" cy="2331720"/>
          </a:xfrm>
          <a:prstGeom prst="roundRect">
            <a:avLst>
              <a:gd name="adj" fmla="val 4000"/>
            </a:avLst>
          </a:prstGeom>
          <a:solidFill>
            <a:srgbClr val="FFFFFF"/>
          </a:solidFill>
          <a:ln w="15875">
            <a:solidFill>
              <a:srgbClr val="D5D2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92240" y="2103120"/>
            <a:ext cx="292608" cy="292608"/>
          </a:xfrm>
          <a:prstGeom prst="ellipse">
            <a:avLst/>
          </a:prstGeom>
          <a:solidFill>
            <a:srgbClr val="545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2523744"/>
            <a:ext cx="2194560" cy="292608"/>
          </a:xfrm>
          <a:prstGeom prst="rect">
            <a:avLst/>
          </a:prstGeom>
          <a:noFill/>
        </p:spPr>
        <p:txBody>
          <a:bodyPr wrap="square" lIns="0" tIns="0" rIns="0" bIns="0" anchor="t">
            <a:spAutoFit/>
          </a:bodyPr>
          <a:lstStyle/>
          <a:p>
            <a:pPr algn="l"/>
            <a:r>
              <a:rPr sz="1450" b="1" i="0">
                <a:solidFill>
                  <a:srgbClr val="17151A"/>
                </a:solidFill>
                <a:latin typeface="Calibri"/>
              </a:rPr>
              <a:t>ChatGPT / Gemini</a:t>
            </a:r>
          </a:p>
        </p:txBody>
      </p:sp>
      <p:sp>
        <p:nvSpPr>
          <p:cNvPr id="18" name="TextBox 17"/>
          <p:cNvSpPr txBox="1"/>
          <p:nvPr/>
        </p:nvSpPr>
        <p:spPr>
          <a:xfrm>
            <a:off x="6492240" y="2871216"/>
            <a:ext cx="2194560" cy="731520"/>
          </a:xfrm>
          <a:prstGeom prst="rect">
            <a:avLst/>
          </a:prstGeom>
          <a:noFill/>
        </p:spPr>
        <p:txBody>
          <a:bodyPr wrap="square" lIns="0" tIns="0" rIns="0" bIns="0" anchor="t">
            <a:spAutoFit/>
          </a:bodyPr>
          <a:lstStyle/>
          <a:p>
            <a:pPr algn="l"/>
            <a:r>
              <a:rPr sz="1200" b="0" i="0">
                <a:solidFill>
                  <a:srgbClr val="54565B"/>
                </a:solidFill>
                <a:latin typeface="Calibri"/>
              </a:rPr>
              <a:t>All ten use cases,</a:t>
            </a:r>
          </a:p>
          <a:p>
            <a:pPr algn="l"/>
            <a:r>
              <a:rPr sz="1200" b="0" i="0">
                <a:solidFill>
                  <a:srgbClr val="54565B"/>
                </a:solidFill>
                <a:latin typeface="Calibri"/>
              </a:rPr>
              <a:t>more copy and paste</a:t>
            </a:r>
          </a:p>
        </p:txBody>
      </p:sp>
      <p:sp>
        <p:nvSpPr>
          <p:cNvPr id="19" name="TextBox 18"/>
          <p:cNvSpPr txBox="1"/>
          <p:nvPr/>
        </p:nvSpPr>
        <p:spPr>
          <a:xfrm>
            <a:off x="6492240" y="3675887"/>
            <a:ext cx="2194560" cy="274320"/>
          </a:xfrm>
          <a:prstGeom prst="rect">
            <a:avLst/>
          </a:prstGeom>
          <a:noFill/>
        </p:spPr>
        <p:txBody>
          <a:bodyPr wrap="square" lIns="0" tIns="0" rIns="0" bIns="0" anchor="t">
            <a:spAutoFit/>
          </a:bodyPr>
          <a:lstStyle/>
          <a:p>
            <a:pPr algn="l"/>
            <a:r>
              <a:rPr sz="1200" b="1" i="0">
                <a:solidFill>
                  <a:srgbClr val="54565B"/>
                </a:solidFill>
                <a:latin typeface="Calibri"/>
              </a:rPr>
              <a:t>~$20/mo</a:t>
            </a:r>
          </a:p>
        </p:txBody>
      </p:sp>
      <p:sp>
        <p:nvSpPr>
          <p:cNvPr id="20" name="Rounded Rectangle 19"/>
          <p:cNvSpPr/>
          <p:nvPr/>
        </p:nvSpPr>
        <p:spPr>
          <a:xfrm>
            <a:off x="9034272" y="1828800"/>
            <a:ext cx="2578608" cy="2331720"/>
          </a:xfrm>
          <a:prstGeom prst="roundRect">
            <a:avLst>
              <a:gd name="adj" fmla="val 4000"/>
            </a:avLst>
          </a:prstGeom>
          <a:solidFill>
            <a:srgbClr val="FFFFFF"/>
          </a:solidFill>
          <a:ln w="15875">
            <a:solidFill>
              <a:srgbClr val="D5D2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290303" y="2103120"/>
            <a:ext cx="292608" cy="292608"/>
          </a:xfrm>
          <a:prstGeom prst="ellipse">
            <a:avLst/>
          </a:prstGeom>
          <a:solidFill>
            <a:srgbClr val="545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90303" y="2523744"/>
            <a:ext cx="2194560" cy="292608"/>
          </a:xfrm>
          <a:prstGeom prst="rect">
            <a:avLst/>
          </a:prstGeom>
          <a:noFill/>
        </p:spPr>
        <p:txBody>
          <a:bodyPr wrap="square" lIns="0" tIns="0" rIns="0" bIns="0" anchor="t">
            <a:spAutoFit/>
          </a:bodyPr>
          <a:lstStyle/>
          <a:p>
            <a:pPr algn="l"/>
            <a:r>
              <a:rPr sz="1450" b="1" i="0">
                <a:solidFill>
                  <a:srgbClr val="17151A"/>
                </a:solidFill>
                <a:latin typeface="Calibri"/>
              </a:rPr>
              <a:t>A free chat tool</a:t>
            </a:r>
          </a:p>
        </p:txBody>
      </p:sp>
      <p:sp>
        <p:nvSpPr>
          <p:cNvPr id="23" name="TextBox 22"/>
          <p:cNvSpPr txBox="1"/>
          <p:nvPr/>
        </p:nvSpPr>
        <p:spPr>
          <a:xfrm>
            <a:off x="9290303" y="2871216"/>
            <a:ext cx="2194560" cy="731520"/>
          </a:xfrm>
          <a:prstGeom prst="rect">
            <a:avLst/>
          </a:prstGeom>
          <a:noFill/>
        </p:spPr>
        <p:txBody>
          <a:bodyPr wrap="square" lIns="0" tIns="0" rIns="0" bIns="0" anchor="t">
            <a:spAutoFit/>
          </a:bodyPr>
          <a:lstStyle/>
          <a:p>
            <a:pPr algn="l"/>
            <a:r>
              <a:rPr sz="1200" b="0" i="0">
                <a:solidFill>
                  <a:srgbClr val="54565B"/>
                </a:solidFill>
                <a:latin typeface="Calibri"/>
              </a:rPr>
              <a:t>The five non-numeric</a:t>
            </a:r>
          </a:p>
          <a:p>
            <a:pPr algn="l"/>
            <a:r>
              <a:rPr sz="1200" b="0" i="0">
                <a:solidFill>
                  <a:srgbClr val="54565B"/>
                </a:solidFill>
                <a:latin typeface="Calibri"/>
              </a:rPr>
              <a:t>use cases</a:t>
            </a:r>
          </a:p>
        </p:txBody>
      </p:sp>
      <p:sp>
        <p:nvSpPr>
          <p:cNvPr id="24" name="TextBox 23"/>
          <p:cNvSpPr txBox="1"/>
          <p:nvPr/>
        </p:nvSpPr>
        <p:spPr>
          <a:xfrm>
            <a:off x="9290303" y="3675887"/>
            <a:ext cx="2194560" cy="274320"/>
          </a:xfrm>
          <a:prstGeom prst="rect">
            <a:avLst/>
          </a:prstGeom>
          <a:noFill/>
        </p:spPr>
        <p:txBody>
          <a:bodyPr wrap="square" lIns="0" tIns="0" rIns="0" bIns="0" anchor="t">
            <a:spAutoFit/>
          </a:bodyPr>
          <a:lstStyle/>
          <a:p>
            <a:pPr algn="l"/>
            <a:r>
              <a:rPr sz="1200" b="1" i="0">
                <a:solidFill>
                  <a:srgbClr val="54565B"/>
                </a:solidFill>
                <a:latin typeface="Calibri"/>
              </a:rPr>
              <a:t>Free</a:t>
            </a:r>
          </a:p>
        </p:txBody>
      </p:sp>
      <p:sp>
        <p:nvSpPr>
          <p:cNvPr id="25" name="TextBox 24"/>
          <p:cNvSpPr txBox="1"/>
          <p:nvPr/>
        </p:nvSpPr>
        <p:spPr>
          <a:xfrm>
            <a:off x="640080" y="4480560"/>
            <a:ext cx="10515600" cy="320040"/>
          </a:xfrm>
          <a:prstGeom prst="rect">
            <a:avLst/>
          </a:prstGeom>
          <a:noFill/>
        </p:spPr>
        <p:txBody>
          <a:bodyPr wrap="square" lIns="0" tIns="0" rIns="0" bIns="0" anchor="t">
            <a:spAutoFit/>
          </a:bodyPr>
          <a:lstStyle/>
          <a:p>
            <a:pPr algn="l"/>
            <a:r>
              <a:rPr sz="1500" b="0" i="0">
                <a:solidFill>
                  <a:srgbClr val="17151A"/>
                </a:solidFill>
                <a:latin typeface="Calibri"/>
              </a:rPr>
              <a:t>The workspace is plain text files, so it is not tied to one company's product.</a:t>
            </a:r>
          </a:p>
        </p:txBody>
      </p:sp>
      <p:sp>
        <p:nvSpPr>
          <p:cNvPr id="26" name="TextBox 25"/>
          <p:cNvSpPr txBox="1"/>
          <p:nvPr/>
        </p:nvSpPr>
        <p:spPr>
          <a:xfrm>
            <a:off x="640080" y="4800600"/>
            <a:ext cx="10515600" cy="320040"/>
          </a:xfrm>
          <a:prstGeom prst="rect">
            <a:avLst/>
          </a:prstGeom>
          <a:noFill/>
        </p:spPr>
        <p:txBody>
          <a:bodyPr wrap="square" lIns="0" tIns="0" rIns="0" bIns="0" anchor="t">
            <a:spAutoFit/>
          </a:bodyPr>
          <a:lstStyle/>
          <a:p>
            <a:pPr algn="l"/>
            <a:r>
              <a:rPr sz="1500" b="0" i="0">
                <a:solidFill>
                  <a:srgbClr val="54565B"/>
                </a:solidFill>
                <a:latin typeface="Calibri"/>
              </a:rPr>
              <a:t>What changes between tools is how much is automatic, not whether you can do the 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8229600" cy="256032"/>
          </a:xfrm>
          <a:prstGeom prst="rect">
            <a:avLst/>
          </a:prstGeom>
          <a:noFill/>
        </p:spPr>
        <p:txBody>
          <a:bodyPr wrap="square" lIns="0" tIns="0" rIns="0" bIns="0" anchor="t">
            <a:spAutoFit/>
          </a:bodyPr>
          <a:lstStyle/>
          <a:p>
            <a:pPr algn="l"/>
            <a:r>
              <a:rPr sz="1100" b="1" i="0">
                <a:solidFill>
                  <a:srgbClr val="BA0C2F"/>
                </a:solidFill>
                <a:latin typeface="Calibri"/>
              </a:rPr>
              <a:t>LIVE, TOGETHER</a:t>
            </a:r>
          </a:p>
        </p:txBody>
      </p:sp>
      <p:sp>
        <p:nvSpPr>
          <p:cNvPr id="3" name="TextBox 2"/>
          <p:cNvSpPr txBox="1"/>
          <p:nvPr/>
        </p:nvSpPr>
        <p:spPr>
          <a:xfrm>
            <a:off x="640080" y="658368"/>
            <a:ext cx="9265615" cy="777240"/>
          </a:xfrm>
          <a:prstGeom prst="rect">
            <a:avLst/>
          </a:prstGeom>
          <a:noFill/>
        </p:spPr>
        <p:txBody>
          <a:bodyPr wrap="square" lIns="0" tIns="0" rIns="0" bIns="0" anchor="t">
            <a:spAutoFit/>
          </a:bodyPr>
          <a:lstStyle/>
          <a:p>
            <a:pPr algn="l"/>
            <a:r>
              <a:rPr sz="3200" b="1" i="0">
                <a:solidFill>
                  <a:srgbClr val="17151A"/>
                </a:solidFill>
                <a:latin typeface="Cambria"/>
              </a:rPr>
              <a:t>Let the AI build your workspace</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691640"/>
            <a:ext cx="7315200" cy="274320"/>
          </a:xfrm>
          <a:prstGeom prst="rect">
            <a:avLst/>
          </a:prstGeom>
          <a:noFill/>
        </p:spPr>
        <p:txBody>
          <a:bodyPr wrap="square" lIns="0" tIns="0" rIns="0" bIns="0" anchor="t">
            <a:spAutoFit/>
          </a:bodyPr>
          <a:lstStyle/>
          <a:p>
            <a:pPr algn="l"/>
            <a:r>
              <a:rPr sz="1400" b="0" i="0">
                <a:solidFill>
                  <a:srgbClr val="54565B"/>
                </a:solidFill>
                <a:latin typeface="Calibri"/>
              </a:rPr>
              <a:t>Paste this into your assistant:</a:t>
            </a:r>
          </a:p>
        </p:txBody>
      </p:sp>
      <p:sp>
        <p:nvSpPr>
          <p:cNvPr id="6" name="Rounded Rectangle 5"/>
          <p:cNvSpPr/>
          <p:nvPr/>
        </p:nvSpPr>
        <p:spPr>
          <a:xfrm>
            <a:off x="640080" y="2029968"/>
            <a:ext cx="10911535" cy="132588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240280"/>
            <a:ext cx="10241280" cy="1005840"/>
          </a:xfrm>
          <a:prstGeom prst="rect">
            <a:avLst/>
          </a:prstGeom>
          <a:noFill/>
        </p:spPr>
        <p:txBody>
          <a:bodyPr wrap="square" lIns="0" tIns="0" rIns="0" bIns="0" anchor="t">
            <a:spAutoFit/>
          </a:bodyPr>
          <a:lstStyle/>
          <a:p>
            <a:pPr algn="l">
              <a:lnSpc>
                <a:spcPts val="2200"/>
              </a:lnSpc>
            </a:pPr>
            <a:r>
              <a:rPr sz="1400" b="0" i="0">
                <a:solidFill>
                  <a:srgbClr val="17151A"/>
                </a:solidFill>
                <a:latin typeface="Consolas"/>
              </a:rPr>
              <a:t>Clone https://github.com/data-love-co/info4610-analytics-os into</a:t>
            </a:r>
          </a:p>
          <a:p>
            <a:pPr algn="l">
              <a:lnSpc>
                <a:spcPts val="2200"/>
              </a:lnSpc>
            </a:pPr>
            <a:r>
              <a:rPr sz="1400" b="0" i="0">
                <a:solidFill>
                  <a:srgbClr val="17151A"/>
                </a:solidFill>
                <a:latin typeface="Consolas"/>
              </a:rPr>
              <a:t>a folder called info4610 directly inside my user folder, then</a:t>
            </a:r>
          </a:p>
          <a:p>
            <a:pPr algn="l">
              <a:lnSpc>
                <a:spcPts val="2200"/>
              </a:lnSpc>
            </a:pPr>
            <a:r>
              <a:rPr sz="1400" b="0" i="0">
                <a:solidFill>
                  <a:srgbClr val="17151A"/>
                </a:solidFill>
                <a:latin typeface="Consolas"/>
              </a:rPr>
              <a:t>open it and follow the setup.</a:t>
            </a:r>
          </a:p>
        </p:txBody>
      </p:sp>
      <p:sp>
        <p:nvSpPr>
          <p:cNvPr id="8" name="TextBox 7"/>
          <p:cNvSpPr txBox="1"/>
          <p:nvPr/>
        </p:nvSpPr>
        <p:spPr>
          <a:xfrm>
            <a:off x="640080" y="3584448"/>
            <a:ext cx="7315200" cy="365760"/>
          </a:xfrm>
          <a:prstGeom prst="rect">
            <a:avLst/>
          </a:prstGeom>
          <a:noFill/>
        </p:spPr>
        <p:txBody>
          <a:bodyPr wrap="square" lIns="0" tIns="0" rIns="0" bIns="0" anchor="t">
            <a:spAutoFit/>
          </a:bodyPr>
          <a:lstStyle/>
          <a:p>
            <a:pPr algn="l"/>
            <a:r>
              <a:rPr sz="1800" b="1" i="0">
                <a:solidFill>
                  <a:srgbClr val="BA0C2F"/>
                </a:solidFill>
                <a:latin typeface="Calibri"/>
              </a:rPr>
              <a:t>Then say:   get me started</a:t>
            </a:r>
          </a:p>
        </p:txBody>
      </p:sp>
      <p:sp>
        <p:nvSpPr>
          <p:cNvPr id="9" name="Rounded Rectangle 8"/>
          <p:cNvSpPr/>
          <p:nvPr/>
        </p:nvSpPr>
        <p:spPr>
          <a:xfrm>
            <a:off x="640080" y="4206240"/>
            <a:ext cx="10911535" cy="1325880"/>
          </a:xfrm>
          <a:prstGeom prst="roundRect">
            <a:avLst>
              <a:gd name="adj" fmla="val 4000"/>
            </a:avLst>
          </a:prstGeom>
          <a:solidFill>
            <a:srgbClr val="FFFFFF"/>
          </a:solidFill>
          <a:ln w="19050">
            <a:solidFill>
              <a:srgbClr val="BA0C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7" y="4407408"/>
            <a:ext cx="7315200" cy="274320"/>
          </a:xfrm>
          <a:prstGeom prst="rect">
            <a:avLst/>
          </a:prstGeom>
          <a:noFill/>
        </p:spPr>
        <p:txBody>
          <a:bodyPr wrap="square" lIns="0" tIns="0" rIns="0" bIns="0" anchor="t">
            <a:spAutoFit/>
          </a:bodyPr>
          <a:lstStyle/>
          <a:p>
            <a:pPr algn="l"/>
            <a:r>
              <a:rPr sz="1400" b="1" i="0">
                <a:solidFill>
                  <a:srgbClr val="BA0C2F"/>
                </a:solidFill>
                <a:latin typeface="Calibri"/>
              </a:rPr>
              <a:t>Where it lands matters</a:t>
            </a:r>
          </a:p>
        </p:txBody>
      </p:sp>
      <p:sp>
        <p:nvSpPr>
          <p:cNvPr id="11" name="TextBox 10"/>
          <p:cNvSpPr txBox="1"/>
          <p:nvPr/>
        </p:nvSpPr>
        <p:spPr>
          <a:xfrm>
            <a:off x="1024127" y="4709160"/>
            <a:ext cx="10058400" cy="685800"/>
          </a:xfrm>
          <a:prstGeom prst="rect">
            <a:avLst/>
          </a:prstGeom>
          <a:noFill/>
        </p:spPr>
        <p:txBody>
          <a:bodyPr wrap="square" lIns="0" tIns="0" rIns="0" bIns="0" anchor="t">
            <a:spAutoFit/>
          </a:bodyPr>
          <a:lstStyle/>
          <a:p>
            <a:pPr algn="l"/>
            <a:r>
              <a:rPr sz="1300" b="0" i="0">
                <a:solidFill>
                  <a:srgbClr val="17151A"/>
                </a:solidFill>
                <a:latin typeface="Calibri"/>
              </a:rPr>
              <a:t>Straight in your user folder, not Documents, Desktop, or anything under OneDrive. Synced folders corrupt the hidden files a code project needs, and long paths break on Windows.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645920"/>
            <a:ext cx="10515600" cy="3017520"/>
          </a:xfrm>
          <a:prstGeom prst="rect">
            <a:avLst/>
          </a:prstGeom>
          <a:noFill/>
        </p:spPr>
        <p:txBody>
          <a:bodyPr wrap="square" lIns="0" tIns="0" rIns="0" bIns="0" anchor="t">
            <a:spAutoFit/>
          </a:bodyPr>
          <a:lstStyle/>
          <a:p>
            <a:pPr algn="l">
              <a:lnSpc>
                <a:spcPts val="6000"/>
              </a:lnSpc>
            </a:pPr>
            <a:r>
              <a:rPr sz="5200" b="1" i="0">
                <a:solidFill>
                  <a:srgbClr val="FFFFFF"/>
                </a:solidFill>
                <a:latin typeface="Cambria"/>
              </a:rPr>
              <a:t>An analysis with no</a:t>
            </a:r>
          </a:p>
          <a:p>
            <a:pPr algn="l">
              <a:lnSpc>
                <a:spcPts val="6000"/>
              </a:lnSpc>
            </a:pPr>
            <a:r>
              <a:rPr sz="5200" b="1" i="0">
                <a:solidFill>
                  <a:srgbClr val="FFFFFF"/>
                </a:solidFill>
                <a:latin typeface="Cambria"/>
              </a:rPr>
              <a:t>decision attached</a:t>
            </a:r>
          </a:p>
          <a:p>
            <a:pPr algn="l">
              <a:lnSpc>
                <a:spcPts val="6000"/>
              </a:lnSpc>
            </a:pPr>
            <a:r>
              <a:rPr sz="5200" b="1" i="0">
                <a:solidFill>
                  <a:srgbClr val="FFFFFF"/>
                </a:solidFill>
                <a:latin typeface="Cambria"/>
              </a:rPr>
              <a:t>is a hobby.</a:t>
            </a:r>
          </a:p>
        </p:txBody>
      </p:sp>
      <p:sp>
        <p:nvSpPr>
          <p:cNvPr id="4" name="Rectangle 3"/>
          <p:cNvSpPr/>
          <p:nvPr/>
        </p:nvSpPr>
        <p:spPr>
          <a:xfrm>
            <a:off x="640080" y="4846320"/>
            <a:ext cx="1005840" cy="32004"/>
          </a:xfrm>
          <a:prstGeom prst="rect">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5138928"/>
            <a:ext cx="9692640" cy="685800"/>
          </a:xfrm>
          <a:prstGeom prst="rect">
            <a:avLst/>
          </a:prstGeom>
          <a:noFill/>
        </p:spPr>
        <p:txBody>
          <a:bodyPr wrap="square" lIns="0" tIns="0" rIns="0" bIns="0" anchor="t">
            <a:spAutoFit/>
          </a:bodyPr>
          <a:lstStyle/>
          <a:p>
            <a:pPr algn="l"/>
            <a:r>
              <a:rPr sz="1600" b="0" i="0">
                <a:solidFill>
                  <a:srgbClr val="D5D2C5"/>
                </a:solidFill>
                <a:latin typeface="Calibri"/>
              </a:rPr>
              <a:t>The next thirty minutes are the ones that feel least like progress, and decide whether everything after them is useful.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8229600" cy="256032"/>
          </a:xfrm>
          <a:prstGeom prst="rect">
            <a:avLst/>
          </a:prstGeom>
          <a:noFill/>
        </p:spPr>
        <p:txBody>
          <a:bodyPr wrap="square" lIns="0" tIns="0" rIns="0" bIns="0" anchor="t">
            <a:spAutoFit/>
          </a:bodyPr>
          <a:lstStyle/>
          <a:p>
            <a:pPr algn="l"/>
            <a:r>
              <a:rPr sz="1100" b="1" i="0">
                <a:solidFill>
                  <a:srgbClr val="BA0C2F"/>
                </a:solidFill>
                <a:latin typeface="Calibri"/>
              </a:rPr>
              <a:t>THE TWO FAILURE MODES</a:t>
            </a:r>
          </a:p>
        </p:txBody>
      </p:sp>
      <p:sp>
        <p:nvSpPr>
          <p:cNvPr id="3" name="TextBox 2"/>
          <p:cNvSpPr txBox="1"/>
          <p:nvPr/>
        </p:nvSpPr>
        <p:spPr>
          <a:xfrm>
            <a:off x="640080" y="658368"/>
            <a:ext cx="9265615" cy="777240"/>
          </a:xfrm>
          <a:prstGeom prst="rect">
            <a:avLst/>
          </a:prstGeom>
          <a:noFill/>
        </p:spPr>
        <p:txBody>
          <a:bodyPr wrap="square" lIns="0" tIns="0" rIns="0" bIns="0" anchor="t">
            <a:spAutoFit/>
          </a:bodyPr>
          <a:lstStyle/>
          <a:p>
            <a:pPr algn="l"/>
            <a:r>
              <a:rPr sz="3200" b="1" i="0">
                <a:solidFill>
                  <a:srgbClr val="17151A"/>
                </a:solidFill>
                <a:latin typeface="Cambria"/>
              </a:rPr>
              <a:t>How analytics projects actually fail</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828800"/>
            <a:ext cx="5294376" cy="269748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121408"/>
            <a:ext cx="4526280" cy="914400"/>
          </a:xfrm>
          <a:prstGeom prst="rect">
            <a:avLst/>
          </a:prstGeom>
          <a:noFill/>
        </p:spPr>
        <p:txBody>
          <a:bodyPr wrap="square" lIns="0" tIns="0" rIns="0" bIns="0" anchor="t">
            <a:spAutoFit/>
          </a:bodyPr>
          <a:lstStyle/>
          <a:p>
            <a:pPr algn="l"/>
            <a:r>
              <a:rPr sz="2100" b="1" i="0">
                <a:solidFill>
                  <a:srgbClr val="BA0C2F"/>
                </a:solidFill>
                <a:latin typeface="Cambria"/>
              </a:rPr>
              <a:t>It answers a question</a:t>
            </a:r>
          </a:p>
          <a:p>
            <a:pPr algn="l"/>
            <a:r>
              <a:rPr sz="2100" b="1" i="0">
                <a:solidFill>
                  <a:srgbClr val="BA0C2F"/>
                </a:solidFill>
                <a:latin typeface="Cambria"/>
              </a:rPr>
              <a:t>nobody asked</a:t>
            </a:r>
          </a:p>
        </p:txBody>
      </p:sp>
      <p:sp>
        <p:nvSpPr>
          <p:cNvPr id="7" name="TextBox 6"/>
          <p:cNvSpPr txBox="1"/>
          <p:nvPr/>
        </p:nvSpPr>
        <p:spPr>
          <a:xfrm>
            <a:off x="1051560" y="3127248"/>
            <a:ext cx="4526280" cy="1234440"/>
          </a:xfrm>
          <a:prstGeom prst="rect">
            <a:avLst/>
          </a:prstGeom>
          <a:noFill/>
        </p:spPr>
        <p:txBody>
          <a:bodyPr wrap="square" lIns="0" tIns="0" rIns="0" bIns="0" anchor="t">
            <a:spAutoFit/>
          </a:bodyPr>
          <a:lstStyle/>
          <a:p>
            <a:pPr algn="l"/>
            <a:r>
              <a:rPr sz="1400" b="0" i="0">
                <a:solidFill>
                  <a:srgbClr val="17151A"/>
                </a:solidFill>
                <a:latin typeface="Calibri"/>
              </a:rPr>
              <a:t>The analyst started from the data that was available instead of the choice that was pending. The math is flawless and nobody uses it.</a:t>
            </a:r>
          </a:p>
        </p:txBody>
      </p:sp>
      <p:sp>
        <p:nvSpPr>
          <p:cNvPr id="8" name="Rounded Rectangle 7"/>
          <p:cNvSpPr/>
          <p:nvPr/>
        </p:nvSpPr>
        <p:spPr>
          <a:xfrm>
            <a:off x="6190488" y="1828800"/>
            <a:ext cx="5294376" cy="269748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01968" y="2121408"/>
            <a:ext cx="4526280" cy="914400"/>
          </a:xfrm>
          <a:prstGeom prst="rect">
            <a:avLst/>
          </a:prstGeom>
          <a:noFill/>
        </p:spPr>
        <p:txBody>
          <a:bodyPr wrap="square" lIns="0" tIns="0" rIns="0" bIns="0" anchor="t">
            <a:spAutoFit/>
          </a:bodyPr>
          <a:lstStyle/>
          <a:p>
            <a:pPr algn="l"/>
            <a:r>
              <a:rPr sz="2100" b="1" i="0">
                <a:solidFill>
                  <a:srgbClr val="BA0C2F"/>
                </a:solidFill>
                <a:latin typeface="Cambria"/>
              </a:rPr>
              <a:t>It rests on data that</a:t>
            </a:r>
          </a:p>
          <a:p>
            <a:pPr algn="l"/>
            <a:r>
              <a:rPr sz="2100" b="1" i="0">
                <a:solidFill>
                  <a:srgbClr val="BA0C2F"/>
                </a:solidFill>
                <a:latin typeface="Cambria"/>
              </a:rPr>
              <a:t>cannot hold it</a:t>
            </a:r>
          </a:p>
        </p:txBody>
      </p:sp>
      <p:sp>
        <p:nvSpPr>
          <p:cNvPr id="10" name="TextBox 9"/>
          <p:cNvSpPr txBox="1"/>
          <p:nvPr/>
        </p:nvSpPr>
        <p:spPr>
          <a:xfrm>
            <a:off x="6601968" y="3127248"/>
            <a:ext cx="4526280" cy="1234440"/>
          </a:xfrm>
          <a:prstGeom prst="rect">
            <a:avLst/>
          </a:prstGeom>
          <a:noFill/>
        </p:spPr>
        <p:txBody>
          <a:bodyPr wrap="square" lIns="0" tIns="0" rIns="0" bIns="0" anchor="t">
            <a:spAutoFit/>
          </a:bodyPr>
          <a:lstStyle/>
          <a:p>
            <a:pPr algn="l"/>
            <a:r>
              <a:rPr sz="1400" b="0" i="0">
                <a:solidFill>
                  <a:srgbClr val="17151A"/>
                </a:solidFill>
                <a:latin typeface="Calibri"/>
              </a:rPr>
              <a:t>Duplicate rows become a growth trend. A column that quietly changed meaning in 2024 becomes a strategy.</a:t>
            </a:r>
          </a:p>
        </p:txBody>
      </p:sp>
      <p:sp>
        <p:nvSpPr>
          <p:cNvPr id="11" name="TextBox 10"/>
          <p:cNvSpPr txBox="1"/>
          <p:nvPr/>
        </p:nvSpPr>
        <p:spPr>
          <a:xfrm>
            <a:off x="640080" y="4937760"/>
            <a:ext cx="10515600" cy="365760"/>
          </a:xfrm>
          <a:prstGeom prst="rect">
            <a:avLst/>
          </a:prstGeom>
          <a:noFill/>
        </p:spPr>
        <p:txBody>
          <a:bodyPr wrap="square" lIns="0" tIns="0" rIns="0" bIns="0" anchor="t">
            <a:spAutoFit/>
          </a:bodyPr>
          <a:lstStyle/>
          <a:p>
            <a:pPr algn="l"/>
            <a:r>
              <a:rPr sz="1700" b="1" i="0">
                <a:solidFill>
                  <a:srgbClr val="17151A"/>
                </a:solidFill>
                <a:latin typeface="Calibri"/>
              </a:rPr>
              <a:t>Neither one is a math problem. Tonight is built to catch both.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8229600" cy="256032"/>
          </a:xfrm>
          <a:prstGeom prst="rect">
            <a:avLst/>
          </a:prstGeom>
          <a:noFill/>
        </p:spPr>
        <p:txBody>
          <a:bodyPr wrap="square" lIns="0" tIns="0" rIns="0" bIns="0" anchor="t">
            <a:spAutoFit/>
          </a:bodyPr>
          <a:lstStyle/>
          <a:p>
            <a:pPr algn="l"/>
            <a:r>
              <a:rPr sz="1100" b="1" i="0">
                <a:solidFill>
                  <a:srgbClr val="BA0C2F"/>
                </a:solidFill>
                <a:latin typeface="Calibri"/>
              </a:rPr>
              <a:t>EXERCISE 1</a:t>
            </a:r>
          </a:p>
        </p:txBody>
      </p:sp>
      <p:sp>
        <p:nvSpPr>
          <p:cNvPr id="3" name="TextBox 2"/>
          <p:cNvSpPr txBox="1"/>
          <p:nvPr/>
        </p:nvSpPr>
        <p:spPr>
          <a:xfrm>
            <a:off x="640080" y="658368"/>
            <a:ext cx="9265615" cy="777240"/>
          </a:xfrm>
          <a:prstGeom prst="rect">
            <a:avLst/>
          </a:prstGeom>
          <a:noFill/>
        </p:spPr>
        <p:txBody>
          <a:bodyPr wrap="square" lIns="0" tIns="0" rIns="0" bIns="0" anchor="t">
            <a:spAutoFit/>
          </a:bodyPr>
          <a:lstStyle/>
          <a:p>
            <a:pPr algn="l"/>
            <a:r>
              <a:rPr sz="3200" b="1" i="0">
                <a:solidFill>
                  <a:srgbClr val="17151A"/>
                </a:solidFill>
                <a:latin typeface="Cambria"/>
              </a:rPr>
              <a:t>Five fields make a decision frame</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Oval 4"/>
          <p:cNvSpPr/>
          <p:nvPr/>
        </p:nvSpPr>
        <p:spPr>
          <a:xfrm>
            <a:off x="640080" y="1755648"/>
            <a:ext cx="384048" cy="384048"/>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1</a:t>
            </a:r>
          </a:p>
        </p:txBody>
      </p:sp>
      <p:sp>
        <p:nvSpPr>
          <p:cNvPr id="6" name="TextBox 5"/>
          <p:cNvSpPr txBox="1"/>
          <p:nvPr/>
        </p:nvSpPr>
        <p:spPr>
          <a:xfrm>
            <a:off x="1207007" y="1746504"/>
            <a:ext cx="4114800" cy="320040"/>
          </a:xfrm>
          <a:prstGeom prst="rect">
            <a:avLst/>
          </a:prstGeom>
          <a:noFill/>
        </p:spPr>
        <p:txBody>
          <a:bodyPr wrap="square" lIns="0" tIns="0" rIns="0" bIns="0" anchor="t">
            <a:spAutoFit/>
          </a:bodyPr>
          <a:lstStyle/>
          <a:p>
            <a:pPr algn="l"/>
            <a:r>
              <a:rPr sz="1650" b="1" i="0">
                <a:solidFill>
                  <a:srgbClr val="17151A"/>
                </a:solidFill>
                <a:latin typeface="Calibri"/>
              </a:rPr>
              <a:t>The decision</a:t>
            </a:r>
          </a:p>
        </p:txBody>
      </p:sp>
      <p:sp>
        <p:nvSpPr>
          <p:cNvPr id="7" name="TextBox 6"/>
          <p:cNvSpPr txBox="1"/>
          <p:nvPr/>
        </p:nvSpPr>
        <p:spPr>
          <a:xfrm>
            <a:off x="5394960" y="1755648"/>
            <a:ext cx="5852160" cy="548640"/>
          </a:xfrm>
          <a:prstGeom prst="rect">
            <a:avLst/>
          </a:prstGeom>
          <a:noFill/>
        </p:spPr>
        <p:txBody>
          <a:bodyPr wrap="square" lIns="0" tIns="0" rIns="0" bIns="0" anchor="t">
            <a:spAutoFit/>
          </a:bodyPr>
          <a:lstStyle/>
          <a:p>
            <a:pPr algn="l"/>
            <a:r>
              <a:rPr sz="1400" b="0" i="0">
                <a:solidFill>
                  <a:srgbClr val="54565B"/>
                </a:solidFill>
                <a:latin typeface="Calibri"/>
              </a:rPr>
              <a:t>A verb and at least two real options. Not a topic.</a:t>
            </a:r>
          </a:p>
        </p:txBody>
      </p:sp>
      <p:sp>
        <p:nvSpPr>
          <p:cNvPr id="8" name="Oval 7"/>
          <p:cNvSpPr/>
          <p:nvPr/>
        </p:nvSpPr>
        <p:spPr>
          <a:xfrm>
            <a:off x="640080" y="2560320"/>
            <a:ext cx="384048" cy="384048"/>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2</a:t>
            </a:r>
          </a:p>
        </p:txBody>
      </p:sp>
      <p:sp>
        <p:nvSpPr>
          <p:cNvPr id="9" name="TextBox 8"/>
          <p:cNvSpPr txBox="1"/>
          <p:nvPr/>
        </p:nvSpPr>
        <p:spPr>
          <a:xfrm>
            <a:off x="1207007" y="2551176"/>
            <a:ext cx="4114800" cy="320040"/>
          </a:xfrm>
          <a:prstGeom prst="rect">
            <a:avLst/>
          </a:prstGeom>
          <a:noFill/>
        </p:spPr>
        <p:txBody>
          <a:bodyPr wrap="square" lIns="0" tIns="0" rIns="0" bIns="0" anchor="t">
            <a:spAutoFit/>
          </a:bodyPr>
          <a:lstStyle/>
          <a:p>
            <a:pPr algn="l"/>
            <a:r>
              <a:rPr sz="1650" b="1" i="0">
                <a:solidFill>
                  <a:srgbClr val="17151A"/>
                </a:solidFill>
                <a:latin typeface="Calibri"/>
              </a:rPr>
              <a:t>The owner</a:t>
            </a:r>
          </a:p>
        </p:txBody>
      </p:sp>
      <p:sp>
        <p:nvSpPr>
          <p:cNvPr id="10" name="TextBox 9"/>
          <p:cNvSpPr txBox="1"/>
          <p:nvPr/>
        </p:nvSpPr>
        <p:spPr>
          <a:xfrm>
            <a:off x="5394960" y="2560320"/>
            <a:ext cx="5852160" cy="548640"/>
          </a:xfrm>
          <a:prstGeom prst="rect">
            <a:avLst/>
          </a:prstGeom>
          <a:noFill/>
        </p:spPr>
        <p:txBody>
          <a:bodyPr wrap="square" lIns="0" tIns="0" rIns="0" bIns="0" anchor="t">
            <a:spAutoFit/>
          </a:bodyPr>
          <a:lstStyle/>
          <a:p>
            <a:pPr algn="l"/>
            <a:r>
              <a:rPr sz="1400" b="0" i="0">
                <a:solidFill>
                  <a:srgbClr val="54565B"/>
                </a:solidFill>
                <a:latin typeface="Calibri"/>
              </a:rPr>
              <a:t>A person who can actually make the call. Not “leadership.”</a:t>
            </a:r>
          </a:p>
        </p:txBody>
      </p:sp>
      <p:sp>
        <p:nvSpPr>
          <p:cNvPr id="11" name="Oval 10"/>
          <p:cNvSpPr/>
          <p:nvPr/>
        </p:nvSpPr>
        <p:spPr>
          <a:xfrm>
            <a:off x="640080" y="3364991"/>
            <a:ext cx="384048" cy="384048"/>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3</a:t>
            </a:r>
          </a:p>
        </p:txBody>
      </p:sp>
      <p:sp>
        <p:nvSpPr>
          <p:cNvPr id="12" name="TextBox 11"/>
          <p:cNvSpPr txBox="1"/>
          <p:nvPr/>
        </p:nvSpPr>
        <p:spPr>
          <a:xfrm>
            <a:off x="1207007" y="3355848"/>
            <a:ext cx="4114800" cy="320040"/>
          </a:xfrm>
          <a:prstGeom prst="rect">
            <a:avLst/>
          </a:prstGeom>
          <a:noFill/>
        </p:spPr>
        <p:txBody>
          <a:bodyPr wrap="square" lIns="0" tIns="0" rIns="0" bIns="0" anchor="t">
            <a:spAutoFit/>
          </a:bodyPr>
          <a:lstStyle/>
          <a:p>
            <a:pPr algn="l"/>
            <a:r>
              <a:rPr sz="1650" b="1" i="0">
                <a:solidFill>
                  <a:srgbClr val="17151A"/>
                </a:solidFill>
                <a:latin typeface="Calibri"/>
              </a:rPr>
              <a:t>The trigger</a:t>
            </a:r>
          </a:p>
        </p:txBody>
      </p:sp>
      <p:sp>
        <p:nvSpPr>
          <p:cNvPr id="13" name="TextBox 12"/>
          <p:cNvSpPr txBox="1"/>
          <p:nvPr/>
        </p:nvSpPr>
        <p:spPr>
          <a:xfrm>
            <a:off x="5394960" y="3364991"/>
            <a:ext cx="5852160" cy="548640"/>
          </a:xfrm>
          <a:prstGeom prst="rect">
            <a:avLst/>
          </a:prstGeom>
          <a:noFill/>
        </p:spPr>
        <p:txBody>
          <a:bodyPr wrap="square" lIns="0" tIns="0" rIns="0" bIns="0" anchor="t">
            <a:spAutoFit/>
          </a:bodyPr>
          <a:lstStyle/>
          <a:p>
            <a:pPr algn="l"/>
            <a:r>
              <a:rPr sz="1400" b="0" i="0">
                <a:solidFill>
                  <a:srgbClr val="54565B"/>
                </a:solidFill>
                <a:latin typeface="Calibri"/>
              </a:rPr>
              <a:t>What forces it, and by when.</a:t>
            </a:r>
          </a:p>
        </p:txBody>
      </p:sp>
      <p:sp>
        <p:nvSpPr>
          <p:cNvPr id="14" name="Oval 13"/>
          <p:cNvSpPr/>
          <p:nvPr/>
        </p:nvSpPr>
        <p:spPr>
          <a:xfrm>
            <a:off x="640080" y="4169663"/>
            <a:ext cx="384048" cy="384048"/>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4</a:t>
            </a:r>
          </a:p>
        </p:txBody>
      </p:sp>
      <p:sp>
        <p:nvSpPr>
          <p:cNvPr id="15" name="TextBox 14"/>
          <p:cNvSpPr txBox="1"/>
          <p:nvPr/>
        </p:nvSpPr>
        <p:spPr>
          <a:xfrm>
            <a:off x="1207007" y="4160520"/>
            <a:ext cx="4114800" cy="320040"/>
          </a:xfrm>
          <a:prstGeom prst="rect">
            <a:avLst/>
          </a:prstGeom>
          <a:noFill/>
        </p:spPr>
        <p:txBody>
          <a:bodyPr wrap="square" lIns="0" tIns="0" rIns="0" bIns="0" anchor="t">
            <a:spAutoFit/>
          </a:bodyPr>
          <a:lstStyle/>
          <a:p>
            <a:pPr algn="l"/>
            <a:r>
              <a:rPr sz="1650" b="1" i="0">
                <a:solidFill>
                  <a:srgbClr val="BA0C2F"/>
                </a:solidFill>
                <a:latin typeface="Calibri"/>
              </a:rPr>
              <a:t>What would change their mind</a:t>
            </a:r>
          </a:p>
        </p:txBody>
      </p:sp>
      <p:sp>
        <p:nvSpPr>
          <p:cNvPr id="16" name="TextBox 15"/>
          <p:cNvSpPr txBox="1"/>
          <p:nvPr/>
        </p:nvSpPr>
        <p:spPr>
          <a:xfrm>
            <a:off x="5394960" y="4169663"/>
            <a:ext cx="5852160" cy="548640"/>
          </a:xfrm>
          <a:prstGeom prst="rect">
            <a:avLst/>
          </a:prstGeom>
          <a:noFill/>
        </p:spPr>
        <p:txBody>
          <a:bodyPr wrap="square" lIns="0" tIns="0" rIns="0" bIns="0" anchor="t">
            <a:spAutoFit/>
          </a:bodyPr>
          <a:lstStyle/>
          <a:p>
            <a:pPr algn="l"/>
            <a:r>
              <a:rPr sz="1400" b="0" i="0">
                <a:solidFill>
                  <a:srgbClr val="54565B"/>
                </a:solidFill>
                <a:latin typeface="Calibri"/>
              </a:rPr>
              <a:t>The evidence that would move them off their prior.</a:t>
            </a:r>
          </a:p>
        </p:txBody>
      </p:sp>
      <p:sp>
        <p:nvSpPr>
          <p:cNvPr id="17" name="Oval 16"/>
          <p:cNvSpPr/>
          <p:nvPr/>
        </p:nvSpPr>
        <p:spPr>
          <a:xfrm>
            <a:off x="640080" y="4974336"/>
            <a:ext cx="384048" cy="384048"/>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5</a:t>
            </a:r>
          </a:p>
        </p:txBody>
      </p:sp>
      <p:sp>
        <p:nvSpPr>
          <p:cNvPr id="18" name="TextBox 17"/>
          <p:cNvSpPr txBox="1"/>
          <p:nvPr/>
        </p:nvSpPr>
        <p:spPr>
          <a:xfrm>
            <a:off x="1207007" y="4965192"/>
            <a:ext cx="4114800" cy="320040"/>
          </a:xfrm>
          <a:prstGeom prst="rect">
            <a:avLst/>
          </a:prstGeom>
          <a:noFill/>
        </p:spPr>
        <p:txBody>
          <a:bodyPr wrap="square" lIns="0" tIns="0" rIns="0" bIns="0" anchor="t">
            <a:spAutoFit/>
          </a:bodyPr>
          <a:lstStyle/>
          <a:p>
            <a:pPr algn="l"/>
            <a:r>
              <a:rPr sz="1650" b="1" i="0">
                <a:solidFill>
                  <a:srgbClr val="17151A"/>
                </a:solidFill>
                <a:latin typeface="Calibri"/>
              </a:rPr>
              <a:t>Good enough to act on</a:t>
            </a:r>
          </a:p>
        </p:txBody>
      </p:sp>
      <p:sp>
        <p:nvSpPr>
          <p:cNvPr id="19" name="TextBox 18"/>
          <p:cNvSpPr txBox="1"/>
          <p:nvPr/>
        </p:nvSpPr>
        <p:spPr>
          <a:xfrm>
            <a:off x="5394960" y="4974336"/>
            <a:ext cx="5852160" cy="548640"/>
          </a:xfrm>
          <a:prstGeom prst="rect">
            <a:avLst/>
          </a:prstGeom>
          <a:noFill/>
        </p:spPr>
        <p:txBody>
          <a:bodyPr wrap="square" lIns="0" tIns="0" rIns="0" bIns="0" anchor="t">
            <a:spAutoFit/>
          </a:bodyPr>
          <a:lstStyle/>
          <a:p>
            <a:pPr algn="l"/>
            <a:r>
              <a:rPr sz="1400" b="0" i="0">
                <a:solidFill>
                  <a:srgbClr val="54565B"/>
                </a:solidFill>
                <a:latin typeface="Calibri"/>
              </a:rPr>
              <a:t>How wrong could this be and still lead to the same choice?</a:t>
            </a:r>
          </a:p>
        </p:txBody>
      </p:sp>
      <p:sp>
        <p:nvSpPr>
          <p:cNvPr id="20" name="TextBox 19"/>
          <p:cNvSpPr txBox="1"/>
          <p:nvPr/>
        </p:nvSpPr>
        <p:spPr>
          <a:xfrm>
            <a:off x="640080" y="5870448"/>
            <a:ext cx="10515600" cy="320040"/>
          </a:xfrm>
          <a:prstGeom prst="rect">
            <a:avLst/>
          </a:prstGeom>
          <a:noFill/>
        </p:spPr>
        <p:txBody>
          <a:bodyPr wrap="square" lIns="0" tIns="0" rIns="0" bIns="0" anchor="t">
            <a:spAutoFit/>
          </a:bodyPr>
          <a:lstStyle/>
          <a:p>
            <a:pPr algn="l"/>
            <a:r>
              <a:rPr sz="1400" b="0" i="1">
                <a:solidFill>
                  <a:srgbClr val="54565B"/>
                </a:solidFill>
                <a:latin typeface="Calibri"/>
              </a:rPr>
              <a:t>Each one has to be specific enough to be wrong. Vague is the failure mode, not incomplete.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417320"/>
            <a:ext cx="10789920" cy="2743200"/>
          </a:xfrm>
          <a:prstGeom prst="rect">
            <a:avLst/>
          </a:prstGeom>
          <a:noFill/>
        </p:spPr>
        <p:txBody>
          <a:bodyPr wrap="square" lIns="0" tIns="0" rIns="0" bIns="0" anchor="t">
            <a:spAutoFit/>
          </a:bodyPr>
          <a:lstStyle/>
          <a:p>
            <a:pPr algn="l">
              <a:lnSpc>
                <a:spcPts val="4400"/>
              </a:lnSpc>
            </a:pPr>
            <a:r>
              <a:rPr sz="3000" b="1" i="0">
                <a:solidFill>
                  <a:srgbClr val="FFFFFF"/>
                </a:solidFill>
                <a:latin typeface="Cambria"/>
              </a:rPr>
              <a:t>“If the analysis came back saying</a:t>
            </a:r>
          </a:p>
          <a:p>
            <a:pPr algn="l">
              <a:lnSpc>
                <a:spcPts val="4400"/>
              </a:lnSpc>
            </a:pPr>
            <a:r>
              <a:rPr sz="3000" b="1" i="0">
                <a:solidFill>
                  <a:srgbClr val="FFFFFF"/>
                </a:solidFill>
                <a:latin typeface="Cambria"/>
              </a:rPr>
              <a:t>the opposite of what your VP expects,</a:t>
            </a:r>
          </a:p>
          <a:p>
            <a:pPr algn="l">
              <a:lnSpc>
                <a:spcPts val="4400"/>
              </a:lnSpc>
            </a:pPr>
            <a:r>
              <a:rPr sz="3000" b="1" i="0">
                <a:solidFill>
                  <a:srgbClr val="FFFFFF"/>
                </a:solidFill>
                <a:latin typeface="Cambria"/>
              </a:rPr>
              <a:t>what would it have to show for them</a:t>
            </a:r>
          </a:p>
          <a:p>
            <a:pPr algn="l">
              <a:lnSpc>
                <a:spcPts val="4400"/>
              </a:lnSpc>
            </a:pPr>
            <a:r>
              <a:rPr sz="3000" b="1" i="0">
                <a:solidFill>
                  <a:srgbClr val="FFFFFF"/>
                </a:solidFill>
                <a:latin typeface="Cambria"/>
              </a:rPr>
              <a:t>to actually change course?”</a:t>
            </a:r>
          </a:p>
        </p:txBody>
      </p:sp>
      <p:sp>
        <p:nvSpPr>
          <p:cNvPr id="4" name="Rounded Rectangle 3"/>
          <p:cNvSpPr/>
          <p:nvPr/>
        </p:nvSpPr>
        <p:spPr>
          <a:xfrm>
            <a:off x="640080" y="4434840"/>
            <a:ext cx="10911535" cy="1463040"/>
          </a:xfrm>
          <a:prstGeom prst="roundRect">
            <a:avLst>
              <a:gd name="adj" fmla="val 4000"/>
            </a:avLst>
          </a:prstGeom>
          <a:solidFill>
            <a:srgbClr val="8A15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4617720"/>
            <a:ext cx="10058400" cy="292608"/>
          </a:xfrm>
          <a:prstGeom prst="rect">
            <a:avLst/>
          </a:prstGeom>
          <a:noFill/>
        </p:spPr>
        <p:txBody>
          <a:bodyPr wrap="square" lIns="0" tIns="0" rIns="0" bIns="0" anchor="t">
            <a:spAutoFit/>
          </a:bodyPr>
          <a:lstStyle/>
          <a:p>
            <a:pPr algn="l"/>
            <a:r>
              <a:rPr sz="1500" b="1" i="0">
                <a:solidFill>
                  <a:srgbClr val="D5D2C5"/>
                </a:solidFill>
                <a:latin typeface="Calibri"/>
              </a:rPr>
              <a:t>If the honest answer is “nothing”</a:t>
            </a:r>
          </a:p>
        </p:txBody>
      </p:sp>
      <p:sp>
        <p:nvSpPr>
          <p:cNvPr id="6" name="TextBox 5"/>
          <p:cNvSpPr txBox="1"/>
          <p:nvPr/>
        </p:nvSpPr>
        <p:spPr>
          <a:xfrm>
            <a:off x="1051560" y="4956048"/>
            <a:ext cx="10058400" cy="868680"/>
          </a:xfrm>
          <a:prstGeom prst="rect">
            <a:avLst/>
          </a:prstGeom>
          <a:noFill/>
        </p:spPr>
        <p:txBody>
          <a:bodyPr wrap="square" lIns="0" tIns="0" rIns="0" bIns="0" anchor="t">
            <a:spAutoFit/>
          </a:bodyPr>
          <a:lstStyle/>
          <a:p>
            <a:pPr algn="l"/>
            <a:r>
              <a:rPr sz="1350" b="0" i="0">
                <a:solidFill>
                  <a:srgbClr val="FFFFFF"/>
                </a:solidFill>
                <a:latin typeface="Calibri"/>
              </a:rPr>
              <a:t>The decision is already made and you are being asked for cover. That is worth knowing in minute ten rather than week three. It is a real finding, and you have three honest options: analyze it anyway, aim at a different question, or aim at a different audience.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8229600" cy="256032"/>
          </a:xfrm>
          <a:prstGeom prst="rect">
            <a:avLst/>
          </a:prstGeom>
          <a:noFill/>
        </p:spPr>
        <p:txBody>
          <a:bodyPr wrap="square" lIns="0" tIns="0" rIns="0" bIns="0" anchor="t">
            <a:spAutoFit/>
          </a:bodyPr>
          <a:lstStyle/>
          <a:p>
            <a:pPr algn="l"/>
            <a:r>
              <a:rPr sz="1100" b="1" i="0">
                <a:solidFill>
                  <a:srgbClr val="BA0C2F"/>
                </a:solidFill>
                <a:latin typeface="Calibri"/>
              </a:rPr>
              <a:t>30 MINUTES</a:t>
            </a:r>
          </a:p>
        </p:txBody>
      </p:sp>
      <p:sp>
        <p:nvSpPr>
          <p:cNvPr id="3" name="TextBox 2"/>
          <p:cNvSpPr txBox="1"/>
          <p:nvPr/>
        </p:nvSpPr>
        <p:spPr>
          <a:xfrm>
            <a:off x="640080" y="658368"/>
            <a:ext cx="9265615" cy="777240"/>
          </a:xfrm>
          <a:prstGeom prst="rect">
            <a:avLst/>
          </a:prstGeom>
          <a:noFill/>
        </p:spPr>
        <p:txBody>
          <a:bodyPr wrap="square" lIns="0" tIns="0" rIns="0" bIns="0" anchor="t">
            <a:spAutoFit/>
          </a:bodyPr>
          <a:lstStyle/>
          <a:p>
            <a:pPr algn="l"/>
            <a:r>
              <a:rPr sz="3200" b="1" i="0">
                <a:solidFill>
                  <a:srgbClr val="17151A"/>
                </a:solidFill>
                <a:latin typeface="Cambria"/>
              </a:rPr>
              <a:t>Your turn</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691640"/>
            <a:ext cx="7315200" cy="274320"/>
          </a:xfrm>
          <a:prstGeom prst="rect">
            <a:avLst/>
          </a:prstGeom>
          <a:noFill/>
        </p:spPr>
        <p:txBody>
          <a:bodyPr wrap="square" lIns="0" tIns="0" rIns="0" bIns="0" anchor="t">
            <a:spAutoFit/>
          </a:bodyPr>
          <a:lstStyle/>
          <a:p>
            <a:pPr algn="l"/>
            <a:r>
              <a:rPr sz="1400" b="0" i="0">
                <a:solidFill>
                  <a:srgbClr val="54565B"/>
                </a:solidFill>
                <a:latin typeface="Calibri"/>
              </a:rPr>
              <a:t>Open your assistant and say:</a:t>
            </a:r>
          </a:p>
        </p:txBody>
      </p:sp>
      <p:sp>
        <p:nvSpPr>
          <p:cNvPr id="6" name="Rounded Rectangle 5"/>
          <p:cNvSpPr/>
          <p:nvPr/>
        </p:nvSpPr>
        <p:spPr>
          <a:xfrm>
            <a:off x="640080" y="2011680"/>
            <a:ext cx="6675120" cy="65836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176272"/>
            <a:ext cx="6035040" cy="365760"/>
          </a:xfrm>
          <a:prstGeom prst="rect">
            <a:avLst/>
          </a:prstGeom>
          <a:noFill/>
        </p:spPr>
        <p:txBody>
          <a:bodyPr wrap="square" lIns="0" tIns="0" rIns="0" bIns="0" anchor="t">
            <a:spAutoFit/>
          </a:bodyPr>
          <a:lstStyle/>
          <a:p>
            <a:pPr algn="l"/>
            <a:r>
              <a:rPr sz="1700" b="0" i="0">
                <a:solidFill>
                  <a:srgbClr val="BA0C2F"/>
                </a:solidFill>
                <a:latin typeface="Consolas"/>
              </a:rPr>
              <a:t>help me frame my decision</a:t>
            </a:r>
          </a:p>
        </p:txBody>
      </p:sp>
      <p:sp>
        <p:nvSpPr>
          <p:cNvPr id="8" name="Oval 7"/>
          <p:cNvSpPr/>
          <p:nvPr/>
        </p:nvSpPr>
        <p:spPr>
          <a:xfrm>
            <a:off x="676656" y="3081527"/>
            <a:ext cx="91440" cy="91440"/>
          </a:xfrm>
          <a:prstGeom prst="ellipse">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9264" y="2999232"/>
            <a:ext cx="6492240" cy="411480"/>
          </a:xfrm>
          <a:prstGeom prst="rect">
            <a:avLst/>
          </a:prstGeom>
          <a:noFill/>
        </p:spPr>
        <p:txBody>
          <a:bodyPr wrap="square" lIns="0" tIns="0" rIns="0" bIns="0" anchor="t">
            <a:spAutoFit/>
          </a:bodyPr>
          <a:lstStyle/>
          <a:p>
            <a:pPr algn="l"/>
            <a:r>
              <a:rPr sz="1400" b="0" i="0">
                <a:solidFill>
                  <a:srgbClr val="17151A"/>
                </a:solidFill>
                <a:latin typeface="Calibri"/>
              </a:rPr>
              <a:t>It asks whether you have a specific ask from someone, or a problem with no ask.</a:t>
            </a:r>
          </a:p>
        </p:txBody>
      </p:sp>
      <p:sp>
        <p:nvSpPr>
          <p:cNvPr id="10" name="Oval 9"/>
          <p:cNvSpPr/>
          <p:nvPr/>
        </p:nvSpPr>
        <p:spPr>
          <a:xfrm>
            <a:off x="676656" y="3648456"/>
            <a:ext cx="91440" cy="91440"/>
          </a:xfrm>
          <a:prstGeom prst="ellipse">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3566160"/>
            <a:ext cx="6492240" cy="411480"/>
          </a:xfrm>
          <a:prstGeom prst="rect">
            <a:avLst/>
          </a:prstGeom>
          <a:noFill/>
        </p:spPr>
        <p:txBody>
          <a:bodyPr wrap="square" lIns="0" tIns="0" rIns="0" bIns="0" anchor="t">
            <a:spAutoFit/>
          </a:bodyPr>
          <a:lstStyle/>
          <a:p>
            <a:pPr algn="l"/>
            <a:r>
              <a:rPr sz="1400" b="0" i="0">
                <a:solidFill>
                  <a:srgbClr val="17151A"/>
                </a:solidFill>
                <a:latin typeface="Calibri"/>
              </a:rPr>
              <a:t>It works one field at a time and will push back on vague answers. Let it.</a:t>
            </a:r>
          </a:p>
        </p:txBody>
      </p:sp>
      <p:sp>
        <p:nvSpPr>
          <p:cNvPr id="12" name="Oval 11"/>
          <p:cNvSpPr/>
          <p:nvPr/>
        </p:nvSpPr>
        <p:spPr>
          <a:xfrm>
            <a:off x="676656" y="4215383"/>
            <a:ext cx="91440" cy="91440"/>
          </a:xfrm>
          <a:prstGeom prst="ellipse">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9264" y="4133087"/>
            <a:ext cx="6492240" cy="411480"/>
          </a:xfrm>
          <a:prstGeom prst="rect">
            <a:avLst/>
          </a:prstGeom>
          <a:noFill/>
        </p:spPr>
        <p:txBody>
          <a:bodyPr wrap="square" lIns="0" tIns="0" rIns="0" bIns="0" anchor="t">
            <a:spAutoFit/>
          </a:bodyPr>
          <a:lstStyle/>
          <a:p>
            <a:pPr algn="l"/>
            <a:r>
              <a:rPr sz="1400" b="0" i="0">
                <a:solidFill>
                  <a:srgbClr val="17151A"/>
                </a:solidFill>
                <a:latin typeface="Calibri"/>
              </a:rPr>
              <a:t>You write the answers into your template by hand. It will not write them for you.</a:t>
            </a:r>
          </a:p>
        </p:txBody>
      </p:sp>
      <p:sp>
        <p:nvSpPr>
          <p:cNvPr id="14" name="Oval 13"/>
          <p:cNvSpPr/>
          <p:nvPr/>
        </p:nvSpPr>
        <p:spPr>
          <a:xfrm>
            <a:off x="676656" y="4782312"/>
            <a:ext cx="91440" cy="91440"/>
          </a:xfrm>
          <a:prstGeom prst="ellipse">
            <a:avLst/>
          </a:prstGeom>
          <a:solidFill>
            <a:srgbClr val="A89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9264" y="4700016"/>
            <a:ext cx="6492240" cy="411480"/>
          </a:xfrm>
          <a:prstGeom prst="rect">
            <a:avLst/>
          </a:prstGeom>
          <a:noFill/>
        </p:spPr>
        <p:txBody>
          <a:bodyPr wrap="square" lIns="0" tIns="0" rIns="0" bIns="0" anchor="t">
            <a:spAutoFit/>
          </a:bodyPr>
          <a:lstStyle/>
          <a:p>
            <a:pPr algn="l"/>
            <a:r>
              <a:rPr sz="1400" b="0" i="0">
                <a:solidFill>
                  <a:srgbClr val="17151A"/>
                </a:solidFill>
                <a:latin typeface="Calibri"/>
              </a:rPr>
              <a:t>At the end it recommends which use case fits, and a runner-up.</a:t>
            </a:r>
          </a:p>
        </p:txBody>
      </p:sp>
      <p:sp>
        <p:nvSpPr>
          <p:cNvPr id="16" name="Rounded Rectangle 15"/>
          <p:cNvSpPr/>
          <p:nvPr/>
        </p:nvSpPr>
        <p:spPr>
          <a:xfrm>
            <a:off x="7863840" y="2011680"/>
            <a:ext cx="3685032" cy="370332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2267712"/>
            <a:ext cx="3108960" cy="292608"/>
          </a:xfrm>
          <a:prstGeom prst="rect">
            <a:avLst/>
          </a:prstGeom>
          <a:noFill/>
        </p:spPr>
        <p:txBody>
          <a:bodyPr wrap="square" lIns="0" tIns="0" rIns="0" bIns="0" anchor="t">
            <a:spAutoFit/>
          </a:bodyPr>
          <a:lstStyle/>
          <a:p>
            <a:pPr algn="l"/>
            <a:r>
              <a:rPr sz="1500" b="1" i="0">
                <a:solidFill>
                  <a:srgbClr val="BA0C2F"/>
                </a:solidFill>
                <a:latin typeface="Calibri"/>
              </a:rPr>
              <a:t>Stuck for a decision?</a:t>
            </a:r>
          </a:p>
        </p:txBody>
      </p:sp>
      <p:sp>
        <p:nvSpPr>
          <p:cNvPr id="18" name="TextBox 17"/>
          <p:cNvSpPr txBox="1"/>
          <p:nvPr/>
        </p:nvSpPr>
        <p:spPr>
          <a:xfrm>
            <a:off x="8183879" y="2670048"/>
            <a:ext cx="3108960" cy="2834640"/>
          </a:xfrm>
          <a:prstGeom prst="rect">
            <a:avLst/>
          </a:prstGeom>
          <a:noFill/>
        </p:spPr>
        <p:txBody>
          <a:bodyPr wrap="square" lIns="0" tIns="0" rIns="0" bIns="0">
            <a:spAutoFit/>
          </a:bodyPr>
          <a:lstStyle/>
          <a:p>
            <a:pPr>
              <a:spcAft>
                <a:spcPts val="900"/>
              </a:spcAft>
            </a:pPr>
            <a:r>
              <a:rPr sz="1250">
                <a:solidFill>
                  <a:srgbClr val="17151A"/>
                </a:solidFill>
                <a:latin typeface="Calibri"/>
              </a:rPr>
              <a:t>Hire two people or extend the contractors?</a:t>
            </a:r>
          </a:p>
          <a:p>
            <a:pPr>
              <a:spcAft>
                <a:spcPts val="900"/>
              </a:spcAft>
            </a:pPr>
            <a:r>
              <a:rPr sz="1250">
                <a:solidFill>
                  <a:srgbClr val="17151A"/>
                </a:solidFill>
                <a:latin typeface="Calibri"/>
              </a:rPr>
              <a:t>Raise prices on this line, and by how much?</a:t>
            </a:r>
          </a:p>
          <a:p>
            <a:pPr>
              <a:spcAft>
                <a:spcPts val="900"/>
              </a:spcAft>
            </a:pPr>
            <a:r>
              <a:rPr sz="1250">
                <a:solidFill>
                  <a:srgbClr val="17151A"/>
                </a:solidFill>
                <a:latin typeface="Calibri"/>
              </a:rPr>
              <a:t>Which of three problems do we fix first?</a:t>
            </a:r>
          </a:p>
          <a:p>
            <a:pPr>
              <a:spcAft>
                <a:spcPts val="900"/>
              </a:spcAft>
            </a:pPr>
            <a:r>
              <a:rPr sz="1250">
                <a:solidFill>
                  <a:srgbClr val="17151A"/>
                </a:solidFill>
                <a:latin typeface="Calibri"/>
              </a:rPr>
              <a:t>Is this vendor worth renewing?</a:t>
            </a:r>
          </a:p>
          <a:p>
            <a:pPr>
              <a:spcAft>
                <a:spcPts val="900"/>
              </a:spcAft>
            </a:pPr>
            <a:r>
              <a:rPr sz="1250">
                <a:solidFill>
                  <a:srgbClr val="17151A"/>
                </a:solidFill>
                <a:latin typeface="Calibri"/>
              </a:rPr>
              <a:t>Do we keep the Tuesday report nobody reads?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286000"/>
            <a:ext cx="10607040" cy="1828800"/>
          </a:xfrm>
          <a:prstGeom prst="rect">
            <a:avLst/>
          </a:prstGeom>
          <a:noFill/>
        </p:spPr>
        <p:txBody>
          <a:bodyPr wrap="square" lIns="0" tIns="0" rIns="0" bIns="0" anchor="t">
            <a:spAutoFit/>
          </a:bodyPr>
          <a:lstStyle/>
          <a:p>
            <a:pPr algn="l">
              <a:lnSpc>
                <a:spcPts val="5000"/>
              </a:lnSpc>
            </a:pPr>
            <a:r>
              <a:rPr sz="4000" b="1" i="0">
                <a:solidFill>
                  <a:srgbClr val="FFFFFF"/>
                </a:solidFill>
                <a:latin typeface="Cambria"/>
              </a:rPr>
              <a:t>You have a question.</a:t>
            </a:r>
          </a:p>
          <a:p>
            <a:pPr algn="l">
              <a:lnSpc>
                <a:spcPts val="5000"/>
              </a:lnSpc>
            </a:pPr>
            <a:r>
              <a:rPr sz="4000" b="1" i="0">
                <a:solidFill>
                  <a:srgbClr val="FFFFFF"/>
                </a:solidFill>
                <a:latin typeface="Cambria"/>
              </a:rPr>
              <a:t>Now: can your data answer it?</a:t>
            </a:r>
          </a:p>
        </p:txBody>
      </p:sp>
      <p:sp>
        <p:nvSpPr>
          <p:cNvPr id="4" name="TextBox 3"/>
          <p:cNvSpPr txBox="1"/>
          <p:nvPr/>
        </p:nvSpPr>
        <p:spPr>
          <a:xfrm>
            <a:off x="640080" y="4343400"/>
            <a:ext cx="7315200" cy="365760"/>
          </a:xfrm>
          <a:prstGeom prst="rect">
            <a:avLst/>
          </a:prstGeom>
          <a:noFill/>
        </p:spPr>
        <p:txBody>
          <a:bodyPr wrap="square" lIns="0" tIns="0" rIns="0" bIns="0" anchor="t">
            <a:spAutoFit/>
          </a:bodyPr>
          <a:lstStyle/>
          <a:p>
            <a:pPr algn="l"/>
            <a:r>
              <a:rPr sz="1600" b="0" i="0">
                <a:solidFill>
                  <a:srgbClr val="D5D2C5"/>
                </a:solidFill>
                <a:latin typeface="Calibri"/>
              </a:rPr>
              <a:t>Second half  |  45 minutes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8229600" cy="256032"/>
          </a:xfrm>
          <a:prstGeom prst="rect">
            <a:avLst/>
          </a:prstGeom>
          <a:noFill/>
        </p:spPr>
        <p:txBody>
          <a:bodyPr wrap="square" lIns="0" tIns="0" rIns="0" bIns="0" anchor="t">
            <a:spAutoFit/>
          </a:bodyPr>
          <a:lstStyle/>
          <a:p>
            <a:pPr algn="l"/>
            <a:r>
              <a:rPr sz="1100" b="1" i="0">
                <a:solidFill>
                  <a:srgbClr val="BA0C2F"/>
                </a:solidFill>
                <a:latin typeface="Calibri"/>
              </a:rPr>
              <a:t>EXERCISE 2</a:t>
            </a:r>
          </a:p>
        </p:txBody>
      </p:sp>
      <p:sp>
        <p:nvSpPr>
          <p:cNvPr id="3" name="TextBox 2"/>
          <p:cNvSpPr txBox="1"/>
          <p:nvPr/>
        </p:nvSpPr>
        <p:spPr>
          <a:xfrm>
            <a:off x="640080" y="658368"/>
            <a:ext cx="9265615" cy="777240"/>
          </a:xfrm>
          <a:prstGeom prst="rect">
            <a:avLst/>
          </a:prstGeom>
          <a:noFill/>
        </p:spPr>
        <p:txBody>
          <a:bodyPr wrap="square" lIns="0" tIns="0" rIns="0" bIns="0" anchor="t">
            <a:spAutoFit/>
          </a:bodyPr>
          <a:lstStyle/>
          <a:p>
            <a:pPr algn="l"/>
            <a:r>
              <a:rPr sz="3200" b="1" i="0">
                <a:solidFill>
                  <a:srgbClr val="17151A"/>
                </a:solidFill>
                <a:latin typeface="Cambria"/>
              </a:rPr>
              <a:t>Two rules that make this an audit</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Oval 4"/>
          <p:cNvSpPr/>
          <p:nvPr/>
        </p:nvSpPr>
        <p:spPr>
          <a:xfrm>
            <a:off x="640080" y="1892807"/>
            <a:ext cx="457200" cy="457200"/>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FFFFFF"/>
                </a:solidFill>
                <a:latin typeface="Calibri"/>
              </a:rPr>
              <a:t>1</a:t>
            </a:r>
          </a:p>
        </p:txBody>
      </p:sp>
      <p:sp>
        <p:nvSpPr>
          <p:cNvPr id="6" name="TextBox 5"/>
          <p:cNvSpPr txBox="1"/>
          <p:nvPr/>
        </p:nvSpPr>
        <p:spPr>
          <a:xfrm>
            <a:off x="1316736" y="1874519"/>
            <a:ext cx="9601200" cy="365760"/>
          </a:xfrm>
          <a:prstGeom prst="rect">
            <a:avLst/>
          </a:prstGeom>
          <a:noFill/>
        </p:spPr>
        <p:txBody>
          <a:bodyPr wrap="square" lIns="0" tIns="0" rIns="0" bIns="0" anchor="t">
            <a:spAutoFit/>
          </a:bodyPr>
          <a:lstStyle/>
          <a:p>
            <a:pPr algn="l"/>
            <a:r>
              <a:rPr sz="2200" b="1" i="0">
                <a:solidFill>
                  <a:srgbClr val="BA0C2F"/>
                </a:solidFill>
                <a:latin typeface="Cambria"/>
              </a:rPr>
              <a:t>You never clean silently</a:t>
            </a:r>
          </a:p>
        </p:txBody>
      </p:sp>
      <p:sp>
        <p:nvSpPr>
          <p:cNvPr id="7" name="TextBox 6"/>
          <p:cNvSpPr txBox="1"/>
          <p:nvPr/>
        </p:nvSpPr>
        <p:spPr>
          <a:xfrm>
            <a:off x="1316736" y="2331720"/>
            <a:ext cx="9692640" cy="1234440"/>
          </a:xfrm>
          <a:prstGeom prst="rect">
            <a:avLst/>
          </a:prstGeom>
          <a:noFill/>
        </p:spPr>
        <p:txBody>
          <a:bodyPr wrap="square" lIns="0" tIns="0" rIns="0" bIns="0" anchor="t">
            <a:spAutoFit/>
          </a:bodyPr>
          <a:lstStyle/>
          <a:p>
            <a:pPr algn="l"/>
            <a:r>
              <a:rPr sz="1450" b="0" i="0">
                <a:solidFill>
                  <a:srgbClr val="17151A"/>
                </a:solidFill>
                <a:latin typeface="Calibri"/>
              </a:rPr>
              <a:t>Every change gets logged with the reason and the row count. The log is the deliverable. When someone challenges a number three weeks from now, the log is what settles it. “I think I removed some duplicates” is not an answer.</a:t>
            </a:r>
          </a:p>
        </p:txBody>
      </p:sp>
      <p:sp>
        <p:nvSpPr>
          <p:cNvPr id="8" name="Oval 7"/>
          <p:cNvSpPr/>
          <p:nvPr/>
        </p:nvSpPr>
        <p:spPr>
          <a:xfrm>
            <a:off x="640080" y="3904487"/>
            <a:ext cx="457200" cy="457200"/>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FFFFFF"/>
                </a:solidFill>
                <a:latin typeface="Calibri"/>
              </a:rPr>
              <a:t>2</a:t>
            </a:r>
          </a:p>
        </p:txBody>
      </p:sp>
      <p:sp>
        <p:nvSpPr>
          <p:cNvPr id="9" name="TextBox 8"/>
          <p:cNvSpPr txBox="1"/>
          <p:nvPr/>
        </p:nvSpPr>
        <p:spPr>
          <a:xfrm>
            <a:off x="1316736" y="3886200"/>
            <a:ext cx="9601200" cy="365760"/>
          </a:xfrm>
          <a:prstGeom prst="rect">
            <a:avLst/>
          </a:prstGeom>
          <a:noFill/>
        </p:spPr>
        <p:txBody>
          <a:bodyPr wrap="square" lIns="0" tIns="0" rIns="0" bIns="0" anchor="t">
            <a:spAutoFit/>
          </a:bodyPr>
          <a:lstStyle/>
          <a:p>
            <a:pPr algn="l"/>
            <a:r>
              <a:rPr sz="2200" b="1" i="0">
                <a:solidFill>
                  <a:srgbClr val="BA0C2F"/>
                </a:solidFill>
                <a:latin typeface="Cambria"/>
              </a:rPr>
              <a:t>The AI does not decide what is wrong</a:t>
            </a:r>
          </a:p>
        </p:txBody>
      </p:sp>
      <p:sp>
        <p:nvSpPr>
          <p:cNvPr id="10" name="TextBox 9"/>
          <p:cNvSpPr txBox="1"/>
          <p:nvPr/>
        </p:nvSpPr>
        <p:spPr>
          <a:xfrm>
            <a:off x="1316736" y="4343400"/>
            <a:ext cx="9692640" cy="1234440"/>
          </a:xfrm>
          <a:prstGeom prst="rect">
            <a:avLst/>
          </a:prstGeom>
          <a:noFill/>
        </p:spPr>
        <p:txBody>
          <a:bodyPr wrap="square" lIns="0" tIns="0" rIns="0" bIns="0" anchor="t">
            <a:spAutoFit/>
          </a:bodyPr>
          <a:lstStyle/>
          <a:p>
            <a:pPr algn="l"/>
            <a:r>
              <a:rPr sz="1450" b="0" i="0">
                <a:solidFill>
                  <a:srgbClr val="17151A"/>
                </a:solidFill>
                <a:latin typeface="Calibri"/>
              </a:rPr>
              <a:t>An outlier might be an error, or the most important month in four years. A blank might be a zero, a not-applicable, or a system failure. It surfaces the options. You choose, because you know the business.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8229600" cy="256032"/>
          </a:xfrm>
          <a:prstGeom prst="rect">
            <a:avLst/>
          </a:prstGeom>
          <a:noFill/>
        </p:spPr>
        <p:txBody>
          <a:bodyPr wrap="square" lIns="0" tIns="0" rIns="0" bIns="0" anchor="t">
            <a:spAutoFit/>
          </a:bodyPr>
          <a:lstStyle/>
          <a:p>
            <a:pPr algn="l"/>
            <a:r>
              <a:rPr sz="1100" b="1" i="0">
                <a:solidFill>
                  <a:srgbClr val="BA0C2F"/>
                </a:solidFill>
                <a:latin typeface="Calibri"/>
              </a:rPr>
              <a:t>WHAT IT LOOKS FOR</a:t>
            </a:r>
          </a:p>
        </p:txBody>
      </p:sp>
      <p:sp>
        <p:nvSpPr>
          <p:cNvPr id="3" name="TextBox 2"/>
          <p:cNvSpPr txBox="1"/>
          <p:nvPr/>
        </p:nvSpPr>
        <p:spPr>
          <a:xfrm>
            <a:off x="640080" y="658368"/>
            <a:ext cx="9265615" cy="777240"/>
          </a:xfrm>
          <a:prstGeom prst="rect">
            <a:avLst/>
          </a:prstGeom>
          <a:noFill/>
        </p:spPr>
        <p:txBody>
          <a:bodyPr wrap="square" lIns="0" tIns="0" rIns="0" bIns="0" anchor="t">
            <a:spAutoFit/>
          </a:bodyPr>
          <a:lstStyle/>
          <a:p>
            <a:pPr algn="l"/>
            <a:r>
              <a:rPr sz="3200" b="1" i="0">
                <a:solidFill>
                  <a:srgbClr val="17151A"/>
                </a:solidFill>
                <a:latin typeface="Cambria"/>
              </a:rPr>
              <a:t>The seven checks</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783080"/>
            <a:ext cx="2578608" cy="141732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59536" y="1984248"/>
            <a:ext cx="310896" cy="310896"/>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1</a:t>
            </a:r>
          </a:p>
        </p:txBody>
      </p:sp>
      <p:sp>
        <p:nvSpPr>
          <p:cNvPr id="7" name="TextBox 6"/>
          <p:cNvSpPr txBox="1"/>
          <p:nvPr/>
        </p:nvSpPr>
        <p:spPr>
          <a:xfrm>
            <a:off x="859536" y="2368296"/>
            <a:ext cx="2240280" cy="274320"/>
          </a:xfrm>
          <a:prstGeom prst="rect">
            <a:avLst/>
          </a:prstGeom>
          <a:noFill/>
        </p:spPr>
        <p:txBody>
          <a:bodyPr wrap="square" lIns="0" tIns="0" rIns="0" bIns="0" anchor="t">
            <a:spAutoFit/>
          </a:bodyPr>
          <a:lstStyle/>
          <a:p>
            <a:pPr algn="l"/>
            <a:r>
              <a:rPr sz="1300" b="1" i="0">
                <a:solidFill>
                  <a:srgbClr val="17151A"/>
                </a:solidFill>
                <a:latin typeface="Calibri"/>
              </a:rPr>
              <a:t>Missingness</a:t>
            </a:r>
          </a:p>
        </p:txBody>
      </p:sp>
      <p:sp>
        <p:nvSpPr>
          <p:cNvPr id="8" name="TextBox 7"/>
          <p:cNvSpPr txBox="1"/>
          <p:nvPr/>
        </p:nvSpPr>
        <p:spPr>
          <a:xfrm>
            <a:off x="859536" y="2642615"/>
            <a:ext cx="2240280" cy="502920"/>
          </a:xfrm>
          <a:prstGeom prst="rect">
            <a:avLst/>
          </a:prstGeom>
          <a:noFill/>
        </p:spPr>
        <p:txBody>
          <a:bodyPr wrap="square" lIns="0" tIns="0" rIns="0" bIns="0" anchor="t">
            <a:spAutoFit/>
          </a:bodyPr>
          <a:lstStyle/>
          <a:p>
            <a:pPr algn="l"/>
            <a:r>
              <a:rPr sz="1150" b="0" i="0">
                <a:solidFill>
                  <a:srgbClr val="54565B"/>
                </a:solidFill>
                <a:latin typeface="Calibri"/>
              </a:rPr>
              <a:t>What is absent, and is it absent at random?</a:t>
            </a:r>
          </a:p>
        </p:txBody>
      </p:sp>
      <p:sp>
        <p:nvSpPr>
          <p:cNvPr id="9" name="Rounded Rectangle 8"/>
          <p:cNvSpPr/>
          <p:nvPr/>
        </p:nvSpPr>
        <p:spPr>
          <a:xfrm>
            <a:off x="3438144" y="1783080"/>
            <a:ext cx="2578608" cy="141732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57600" y="1984248"/>
            <a:ext cx="310896" cy="310896"/>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2</a:t>
            </a:r>
          </a:p>
        </p:txBody>
      </p:sp>
      <p:sp>
        <p:nvSpPr>
          <p:cNvPr id="11" name="TextBox 10"/>
          <p:cNvSpPr txBox="1"/>
          <p:nvPr/>
        </p:nvSpPr>
        <p:spPr>
          <a:xfrm>
            <a:off x="3657600" y="2368296"/>
            <a:ext cx="2240280" cy="274320"/>
          </a:xfrm>
          <a:prstGeom prst="rect">
            <a:avLst/>
          </a:prstGeom>
          <a:noFill/>
        </p:spPr>
        <p:txBody>
          <a:bodyPr wrap="square" lIns="0" tIns="0" rIns="0" bIns="0" anchor="t">
            <a:spAutoFit/>
          </a:bodyPr>
          <a:lstStyle/>
          <a:p>
            <a:pPr algn="l"/>
            <a:r>
              <a:rPr sz="1300" b="1" i="0">
                <a:solidFill>
                  <a:srgbClr val="17151A"/>
                </a:solidFill>
                <a:latin typeface="Calibri"/>
              </a:rPr>
              <a:t>Types and formats</a:t>
            </a:r>
          </a:p>
        </p:txBody>
      </p:sp>
      <p:sp>
        <p:nvSpPr>
          <p:cNvPr id="12" name="TextBox 11"/>
          <p:cNvSpPr txBox="1"/>
          <p:nvPr/>
        </p:nvSpPr>
        <p:spPr>
          <a:xfrm>
            <a:off x="3657600" y="2642615"/>
            <a:ext cx="2240280" cy="502920"/>
          </a:xfrm>
          <a:prstGeom prst="rect">
            <a:avLst/>
          </a:prstGeom>
          <a:noFill/>
        </p:spPr>
        <p:txBody>
          <a:bodyPr wrap="square" lIns="0" tIns="0" rIns="0" bIns="0" anchor="t">
            <a:spAutoFit/>
          </a:bodyPr>
          <a:lstStyle/>
          <a:p>
            <a:pPr algn="l"/>
            <a:r>
              <a:rPr sz="1150" b="0" i="0">
                <a:solidFill>
                  <a:srgbClr val="54565B"/>
                </a:solidFill>
                <a:latin typeface="Calibri"/>
              </a:rPr>
              <a:t>Is a number stored as a number?</a:t>
            </a:r>
          </a:p>
        </p:txBody>
      </p:sp>
      <p:sp>
        <p:nvSpPr>
          <p:cNvPr id="13" name="Rounded Rectangle 12"/>
          <p:cNvSpPr/>
          <p:nvPr/>
        </p:nvSpPr>
        <p:spPr>
          <a:xfrm>
            <a:off x="6236208" y="1783080"/>
            <a:ext cx="2578608" cy="141732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455664" y="1984248"/>
            <a:ext cx="310896" cy="310896"/>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3</a:t>
            </a:r>
          </a:p>
        </p:txBody>
      </p:sp>
      <p:sp>
        <p:nvSpPr>
          <p:cNvPr id="15" name="TextBox 14"/>
          <p:cNvSpPr txBox="1"/>
          <p:nvPr/>
        </p:nvSpPr>
        <p:spPr>
          <a:xfrm>
            <a:off x="6455664" y="2368296"/>
            <a:ext cx="2240280" cy="274320"/>
          </a:xfrm>
          <a:prstGeom prst="rect">
            <a:avLst/>
          </a:prstGeom>
          <a:noFill/>
        </p:spPr>
        <p:txBody>
          <a:bodyPr wrap="square" lIns="0" tIns="0" rIns="0" bIns="0" anchor="t">
            <a:spAutoFit/>
          </a:bodyPr>
          <a:lstStyle/>
          <a:p>
            <a:pPr algn="l"/>
            <a:r>
              <a:rPr sz="1300" b="1" i="0">
                <a:solidFill>
                  <a:srgbClr val="17151A"/>
                </a:solidFill>
                <a:latin typeface="Calibri"/>
              </a:rPr>
              <a:t>Duplicates</a:t>
            </a:r>
          </a:p>
        </p:txBody>
      </p:sp>
      <p:sp>
        <p:nvSpPr>
          <p:cNvPr id="16" name="TextBox 15"/>
          <p:cNvSpPr txBox="1"/>
          <p:nvPr/>
        </p:nvSpPr>
        <p:spPr>
          <a:xfrm>
            <a:off x="6455664" y="2642615"/>
            <a:ext cx="2240280" cy="502920"/>
          </a:xfrm>
          <a:prstGeom prst="rect">
            <a:avLst/>
          </a:prstGeom>
          <a:noFill/>
        </p:spPr>
        <p:txBody>
          <a:bodyPr wrap="square" lIns="0" tIns="0" rIns="0" bIns="0" anchor="t">
            <a:spAutoFit/>
          </a:bodyPr>
          <a:lstStyle/>
          <a:p>
            <a:pPr algn="l"/>
            <a:r>
              <a:rPr sz="1150" b="0" i="0">
                <a:solidFill>
                  <a:srgbClr val="54565B"/>
                </a:solidFill>
                <a:latin typeface="Calibri"/>
              </a:rPr>
              <a:t>Is any row here twice?</a:t>
            </a:r>
          </a:p>
        </p:txBody>
      </p:sp>
      <p:sp>
        <p:nvSpPr>
          <p:cNvPr id="17" name="Rounded Rectangle 16"/>
          <p:cNvSpPr/>
          <p:nvPr/>
        </p:nvSpPr>
        <p:spPr>
          <a:xfrm>
            <a:off x="9034272" y="1783080"/>
            <a:ext cx="2578608" cy="141732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253728" y="1984248"/>
            <a:ext cx="310896" cy="310896"/>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4</a:t>
            </a:r>
          </a:p>
        </p:txBody>
      </p:sp>
      <p:sp>
        <p:nvSpPr>
          <p:cNvPr id="19" name="TextBox 18"/>
          <p:cNvSpPr txBox="1"/>
          <p:nvPr/>
        </p:nvSpPr>
        <p:spPr>
          <a:xfrm>
            <a:off x="9253728" y="2368296"/>
            <a:ext cx="2240280" cy="274320"/>
          </a:xfrm>
          <a:prstGeom prst="rect">
            <a:avLst/>
          </a:prstGeom>
          <a:noFill/>
        </p:spPr>
        <p:txBody>
          <a:bodyPr wrap="square" lIns="0" tIns="0" rIns="0" bIns="0" anchor="t">
            <a:spAutoFit/>
          </a:bodyPr>
          <a:lstStyle/>
          <a:p>
            <a:pPr algn="l"/>
            <a:r>
              <a:rPr sz="1300" b="1" i="0">
                <a:solidFill>
                  <a:srgbClr val="17151A"/>
                </a:solidFill>
                <a:latin typeface="Calibri"/>
              </a:rPr>
              <a:t>Outliers</a:t>
            </a:r>
          </a:p>
        </p:txBody>
      </p:sp>
      <p:sp>
        <p:nvSpPr>
          <p:cNvPr id="20" name="TextBox 19"/>
          <p:cNvSpPr txBox="1"/>
          <p:nvPr/>
        </p:nvSpPr>
        <p:spPr>
          <a:xfrm>
            <a:off x="9253728" y="2642615"/>
            <a:ext cx="2240280" cy="502920"/>
          </a:xfrm>
          <a:prstGeom prst="rect">
            <a:avLst/>
          </a:prstGeom>
          <a:noFill/>
        </p:spPr>
        <p:txBody>
          <a:bodyPr wrap="square" lIns="0" tIns="0" rIns="0" bIns="0" anchor="t">
            <a:spAutoFit/>
          </a:bodyPr>
          <a:lstStyle/>
          <a:p>
            <a:pPr algn="l"/>
            <a:r>
              <a:rPr sz="1150" b="0" i="0">
                <a:solidFill>
                  <a:srgbClr val="54565B"/>
                </a:solidFill>
                <a:latin typeface="Calibri"/>
              </a:rPr>
              <a:t>What is extreme, and is it real?</a:t>
            </a:r>
          </a:p>
        </p:txBody>
      </p:sp>
      <p:sp>
        <p:nvSpPr>
          <p:cNvPr id="21" name="Rounded Rectangle 20"/>
          <p:cNvSpPr/>
          <p:nvPr/>
        </p:nvSpPr>
        <p:spPr>
          <a:xfrm>
            <a:off x="640080" y="3429000"/>
            <a:ext cx="2578608" cy="141732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9536" y="3630168"/>
            <a:ext cx="310896" cy="310896"/>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5</a:t>
            </a:r>
          </a:p>
        </p:txBody>
      </p:sp>
      <p:sp>
        <p:nvSpPr>
          <p:cNvPr id="23" name="TextBox 22"/>
          <p:cNvSpPr txBox="1"/>
          <p:nvPr/>
        </p:nvSpPr>
        <p:spPr>
          <a:xfrm>
            <a:off x="859536" y="4014215"/>
            <a:ext cx="2240280" cy="274320"/>
          </a:xfrm>
          <a:prstGeom prst="rect">
            <a:avLst/>
          </a:prstGeom>
          <a:noFill/>
        </p:spPr>
        <p:txBody>
          <a:bodyPr wrap="square" lIns="0" tIns="0" rIns="0" bIns="0" anchor="t">
            <a:spAutoFit/>
          </a:bodyPr>
          <a:lstStyle/>
          <a:p>
            <a:pPr algn="l"/>
            <a:r>
              <a:rPr sz="1300" b="1" i="0">
                <a:solidFill>
                  <a:srgbClr val="17151A"/>
                </a:solidFill>
                <a:latin typeface="Calibri"/>
              </a:rPr>
              <a:t>Categorical drift</a:t>
            </a:r>
          </a:p>
        </p:txBody>
      </p:sp>
      <p:sp>
        <p:nvSpPr>
          <p:cNvPr id="24" name="TextBox 23"/>
          <p:cNvSpPr txBox="1"/>
          <p:nvPr/>
        </p:nvSpPr>
        <p:spPr>
          <a:xfrm>
            <a:off x="859536" y="4288536"/>
            <a:ext cx="2240280" cy="502920"/>
          </a:xfrm>
          <a:prstGeom prst="rect">
            <a:avLst/>
          </a:prstGeom>
          <a:noFill/>
        </p:spPr>
        <p:txBody>
          <a:bodyPr wrap="square" lIns="0" tIns="0" rIns="0" bIns="0" anchor="t">
            <a:spAutoFit/>
          </a:bodyPr>
          <a:lstStyle/>
          <a:p>
            <a:pPr algn="l"/>
            <a:r>
              <a:rPr sz="1150" b="0" i="0">
                <a:solidFill>
                  <a:srgbClr val="54565B"/>
                </a:solidFill>
                <a:latin typeface="Calibri"/>
              </a:rPr>
              <a:t>Is one category written four ways?</a:t>
            </a:r>
          </a:p>
        </p:txBody>
      </p:sp>
      <p:sp>
        <p:nvSpPr>
          <p:cNvPr id="25" name="Rounded Rectangle 24"/>
          <p:cNvSpPr/>
          <p:nvPr/>
        </p:nvSpPr>
        <p:spPr>
          <a:xfrm>
            <a:off x="3438144" y="3429000"/>
            <a:ext cx="2578608" cy="141732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657600" y="3630168"/>
            <a:ext cx="310896" cy="310896"/>
          </a:xfrm>
          <a:prstGeom prst="ellipse">
            <a:avLst/>
          </a:prstGeom>
          <a:solidFill>
            <a:srgbClr val="375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6</a:t>
            </a:r>
          </a:p>
        </p:txBody>
      </p:sp>
      <p:sp>
        <p:nvSpPr>
          <p:cNvPr id="27" name="TextBox 26"/>
          <p:cNvSpPr txBox="1"/>
          <p:nvPr/>
        </p:nvSpPr>
        <p:spPr>
          <a:xfrm>
            <a:off x="3657600" y="4014215"/>
            <a:ext cx="2240280" cy="274320"/>
          </a:xfrm>
          <a:prstGeom prst="rect">
            <a:avLst/>
          </a:prstGeom>
          <a:noFill/>
        </p:spPr>
        <p:txBody>
          <a:bodyPr wrap="square" lIns="0" tIns="0" rIns="0" bIns="0" anchor="t">
            <a:spAutoFit/>
          </a:bodyPr>
          <a:lstStyle/>
          <a:p>
            <a:pPr algn="l"/>
            <a:r>
              <a:rPr sz="1300" b="1" i="0">
                <a:solidFill>
                  <a:srgbClr val="17151A"/>
                </a:solidFill>
                <a:latin typeface="Calibri"/>
              </a:rPr>
              <a:t>Logical consistency</a:t>
            </a:r>
          </a:p>
        </p:txBody>
      </p:sp>
      <p:sp>
        <p:nvSpPr>
          <p:cNvPr id="28" name="TextBox 27"/>
          <p:cNvSpPr txBox="1"/>
          <p:nvPr/>
        </p:nvSpPr>
        <p:spPr>
          <a:xfrm>
            <a:off x="3657600" y="4288536"/>
            <a:ext cx="2240280" cy="502920"/>
          </a:xfrm>
          <a:prstGeom prst="rect">
            <a:avLst/>
          </a:prstGeom>
          <a:noFill/>
        </p:spPr>
        <p:txBody>
          <a:bodyPr wrap="square" lIns="0" tIns="0" rIns="0" bIns="0" anchor="t">
            <a:spAutoFit/>
          </a:bodyPr>
          <a:lstStyle/>
          <a:p>
            <a:pPr algn="l"/>
            <a:r>
              <a:rPr sz="1150" b="0" i="0">
                <a:solidFill>
                  <a:srgbClr val="54565B"/>
                </a:solidFill>
                <a:latin typeface="Calibri"/>
              </a:rPr>
              <a:t>Do the values make sense together?</a:t>
            </a:r>
          </a:p>
        </p:txBody>
      </p:sp>
      <p:sp>
        <p:nvSpPr>
          <p:cNvPr id="29" name="Rounded Rectangle 28"/>
          <p:cNvSpPr/>
          <p:nvPr/>
        </p:nvSpPr>
        <p:spPr>
          <a:xfrm>
            <a:off x="6236208" y="3429000"/>
            <a:ext cx="2578608" cy="141732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455664" y="3630168"/>
            <a:ext cx="310896" cy="310896"/>
          </a:xfrm>
          <a:prstGeom prst="ellipse">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7</a:t>
            </a:r>
          </a:p>
        </p:txBody>
      </p:sp>
      <p:sp>
        <p:nvSpPr>
          <p:cNvPr id="31" name="TextBox 30"/>
          <p:cNvSpPr txBox="1"/>
          <p:nvPr/>
        </p:nvSpPr>
        <p:spPr>
          <a:xfrm>
            <a:off x="6455664" y="4014215"/>
            <a:ext cx="2240280" cy="274320"/>
          </a:xfrm>
          <a:prstGeom prst="rect">
            <a:avLst/>
          </a:prstGeom>
          <a:noFill/>
        </p:spPr>
        <p:txBody>
          <a:bodyPr wrap="square" lIns="0" tIns="0" rIns="0" bIns="0" anchor="t">
            <a:spAutoFit/>
          </a:bodyPr>
          <a:lstStyle/>
          <a:p>
            <a:pPr algn="l"/>
            <a:r>
              <a:rPr sz="1300" b="1" i="0">
                <a:solidFill>
                  <a:srgbClr val="17151A"/>
                </a:solidFill>
                <a:latin typeface="Calibri"/>
              </a:rPr>
              <a:t>Definition drift</a:t>
            </a:r>
          </a:p>
        </p:txBody>
      </p:sp>
      <p:sp>
        <p:nvSpPr>
          <p:cNvPr id="32" name="TextBox 31"/>
          <p:cNvSpPr txBox="1"/>
          <p:nvPr/>
        </p:nvSpPr>
        <p:spPr>
          <a:xfrm>
            <a:off x="6455664" y="4288536"/>
            <a:ext cx="2240280" cy="502920"/>
          </a:xfrm>
          <a:prstGeom prst="rect">
            <a:avLst/>
          </a:prstGeom>
          <a:noFill/>
        </p:spPr>
        <p:txBody>
          <a:bodyPr wrap="square" lIns="0" tIns="0" rIns="0" bIns="0" anchor="t">
            <a:spAutoFit/>
          </a:bodyPr>
          <a:lstStyle/>
          <a:p>
            <a:pPr algn="l"/>
            <a:r>
              <a:rPr sz="1150" b="0" i="0">
                <a:solidFill>
                  <a:srgbClr val="54565B"/>
                </a:solidFill>
                <a:latin typeface="Calibri"/>
              </a:rPr>
              <a:t>Does this column still mean what it did in 2022?</a:t>
            </a:r>
          </a:p>
        </p:txBody>
      </p:sp>
      <p:sp>
        <p:nvSpPr>
          <p:cNvPr id="33" name="TextBox 32"/>
          <p:cNvSpPr txBox="1"/>
          <p:nvPr/>
        </p:nvSpPr>
        <p:spPr>
          <a:xfrm>
            <a:off x="640080" y="5230368"/>
            <a:ext cx="10607040" cy="457200"/>
          </a:xfrm>
          <a:prstGeom prst="rect">
            <a:avLst/>
          </a:prstGeom>
          <a:noFill/>
        </p:spPr>
        <p:txBody>
          <a:bodyPr wrap="square" lIns="0" tIns="0" rIns="0" bIns="0" anchor="t">
            <a:spAutoFit/>
          </a:bodyPr>
          <a:lstStyle/>
          <a:p>
            <a:pPr algn="l"/>
            <a:r>
              <a:rPr sz="1400" b="0" i="0">
                <a:solidFill>
                  <a:srgbClr val="17151A"/>
                </a:solidFill>
                <a:latin typeface="Calibri"/>
              </a:rPr>
              <a:t>Number seven is the hardest to spot and the most damaging. Ask whoever owns the source system whether anything changed.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8229600" cy="256032"/>
          </a:xfrm>
          <a:prstGeom prst="rect">
            <a:avLst/>
          </a:prstGeom>
          <a:noFill/>
        </p:spPr>
        <p:txBody>
          <a:bodyPr wrap="square" lIns="0" tIns="0" rIns="0" bIns="0" anchor="t">
            <a:spAutoFit/>
          </a:bodyPr>
          <a:lstStyle/>
          <a:p>
            <a:pPr algn="l"/>
            <a:r>
              <a:rPr sz="1100" b="1" i="0">
                <a:solidFill>
                  <a:srgbClr val="BA0C2F"/>
                </a:solidFill>
                <a:latin typeface="Calibri"/>
              </a:rPr>
              <a:t>DELIBERATELY PLANTED</a:t>
            </a:r>
          </a:p>
        </p:txBody>
      </p:sp>
      <p:sp>
        <p:nvSpPr>
          <p:cNvPr id="3" name="TextBox 2"/>
          <p:cNvSpPr txBox="1"/>
          <p:nvPr/>
        </p:nvSpPr>
        <p:spPr>
          <a:xfrm>
            <a:off x="640080" y="658368"/>
            <a:ext cx="9265615" cy="777240"/>
          </a:xfrm>
          <a:prstGeom prst="rect">
            <a:avLst/>
          </a:prstGeom>
          <a:noFill/>
        </p:spPr>
        <p:txBody>
          <a:bodyPr wrap="square" lIns="0" tIns="0" rIns="0" bIns="0" anchor="t">
            <a:spAutoFit/>
          </a:bodyPr>
          <a:lstStyle/>
          <a:p>
            <a:pPr algn="l"/>
            <a:r>
              <a:rPr sz="3200" b="1" i="0">
                <a:solidFill>
                  <a:srgbClr val="17151A"/>
                </a:solidFill>
                <a:latin typeface="Cambria"/>
              </a:rPr>
              <a:t>Two traps waiting in the practice data</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Rounded Rectangle 4"/>
          <p:cNvSpPr/>
          <p:nvPr/>
        </p:nvSpPr>
        <p:spPr>
          <a:xfrm>
            <a:off x="640080" y="1783080"/>
            <a:ext cx="10911535" cy="1920240"/>
          </a:xfrm>
          <a:prstGeom prst="roundRect">
            <a:avLst>
              <a:gd name="adj" fmla="val 4000"/>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002536"/>
            <a:ext cx="4023360" cy="365760"/>
          </a:xfrm>
          <a:prstGeom prst="rect">
            <a:avLst/>
          </a:prstGeom>
          <a:noFill/>
        </p:spPr>
        <p:txBody>
          <a:bodyPr wrap="square" lIns="0" tIns="0" rIns="0" bIns="0" anchor="t">
            <a:spAutoFit/>
          </a:bodyPr>
          <a:lstStyle/>
          <a:p>
            <a:pPr algn="l"/>
            <a:r>
              <a:rPr sz="2000" b="1" i="0">
                <a:solidFill>
                  <a:srgbClr val="BA0C2F"/>
                </a:solidFill>
                <a:latin typeface="Cambria"/>
              </a:rPr>
              <a:t>Target leakage</a:t>
            </a:r>
          </a:p>
        </p:txBody>
      </p:sp>
      <p:sp>
        <p:nvSpPr>
          <p:cNvPr id="7" name="TextBox 6"/>
          <p:cNvSpPr txBox="1"/>
          <p:nvPr/>
        </p:nvSpPr>
        <p:spPr>
          <a:xfrm>
            <a:off x="5212080" y="2075688"/>
            <a:ext cx="3291840" cy="274320"/>
          </a:xfrm>
          <a:prstGeom prst="rect">
            <a:avLst/>
          </a:prstGeom>
          <a:noFill/>
        </p:spPr>
        <p:txBody>
          <a:bodyPr wrap="square" lIns="0" tIns="0" rIns="0" bIns="0" anchor="t">
            <a:spAutoFit/>
          </a:bodyPr>
          <a:lstStyle/>
          <a:p>
            <a:pPr algn="l"/>
            <a:r>
              <a:rPr sz="1300" b="0" i="0">
                <a:solidFill>
                  <a:srgbClr val="375060"/>
                </a:solidFill>
                <a:latin typeface="Consolas"/>
              </a:rPr>
              <a:t>cancellation_reason</a:t>
            </a:r>
          </a:p>
        </p:txBody>
      </p:sp>
      <p:sp>
        <p:nvSpPr>
          <p:cNvPr id="8" name="TextBox 7"/>
          <p:cNvSpPr txBox="1"/>
          <p:nvPr/>
        </p:nvSpPr>
        <p:spPr>
          <a:xfrm>
            <a:off x="1051560" y="2478024"/>
            <a:ext cx="10058400" cy="1097280"/>
          </a:xfrm>
          <a:prstGeom prst="rect">
            <a:avLst/>
          </a:prstGeom>
          <a:noFill/>
        </p:spPr>
        <p:txBody>
          <a:bodyPr wrap="square" lIns="0" tIns="0" rIns="0" bIns="0" anchor="t">
            <a:spAutoFit/>
          </a:bodyPr>
          <a:lstStyle/>
          <a:p>
            <a:pPr algn="l"/>
            <a:r>
              <a:rPr sz="1350" b="0" i="0">
                <a:solidFill>
                  <a:srgbClr val="17151A"/>
                </a:solidFill>
                <a:latin typeface="Calibri"/>
              </a:rPr>
              <a:t>Only filled in for accounts that already churned, so it is recorded after the outcome. Any model that includes it looks spectacular in testing and is useless in production, because you would never have that field for an account that has not churned yet.</a:t>
            </a:r>
          </a:p>
        </p:txBody>
      </p:sp>
      <p:sp>
        <p:nvSpPr>
          <p:cNvPr id="9" name="Rounded Rectangle 8"/>
          <p:cNvSpPr/>
          <p:nvPr/>
        </p:nvSpPr>
        <p:spPr>
          <a:xfrm>
            <a:off x="640080" y="3886200"/>
            <a:ext cx="10911535" cy="1920240"/>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4105656"/>
            <a:ext cx="4023360" cy="365760"/>
          </a:xfrm>
          <a:prstGeom prst="rect">
            <a:avLst/>
          </a:prstGeom>
          <a:noFill/>
        </p:spPr>
        <p:txBody>
          <a:bodyPr wrap="square" lIns="0" tIns="0" rIns="0" bIns="0" anchor="t">
            <a:spAutoFit/>
          </a:bodyPr>
          <a:lstStyle/>
          <a:p>
            <a:pPr algn="l"/>
            <a:r>
              <a:rPr sz="2000" b="1" i="0">
                <a:solidFill>
                  <a:srgbClr val="BA0C2F"/>
                </a:solidFill>
                <a:latin typeface="Cambria"/>
              </a:rPr>
              <a:t>Missing, but not at random</a:t>
            </a:r>
          </a:p>
        </p:txBody>
      </p:sp>
      <p:sp>
        <p:nvSpPr>
          <p:cNvPr id="11" name="TextBox 10"/>
          <p:cNvSpPr txBox="1"/>
          <p:nvPr/>
        </p:nvSpPr>
        <p:spPr>
          <a:xfrm>
            <a:off x="5212080" y="4178808"/>
            <a:ext cx="3291840" cy="274320"/>
          </a:xfrm>
          <a:prstGeom prst="rect">
            <a:avLst/>
          </a:prstGeom>
          <a:noFill/>
        </p:spPr>
        <p:txBody>
          <a:bodyPr wrap="square" lIns="0" tIns="0" rIns="0" bIns="0" anchor="t">
            <a:spAutoFit/>
          </a:bodyPr>
          <a:lstStyle/>
          <a:p>
            <a:pPr algn="l"/>
            <a:r>
              <a:rPr sz="1300" b="0" i="0">
                <a:solidFill>
                  <a:srgbClr val="375060"/>
                </a:solidFill>
                <a:latin typeface="Consolas"/>
              </a:rPr>
              <a:t>nps_score</a:t>
            </a:r>
          </a:p>
        </p:txBody>
      </p:sp>
      <p:sp>
        <p:nvSpPr>
          <p:cNvPr id="12" name="TextBox 11"/>
          <p:cNvSpPr txBox="1"/>
          <p:nvPr/>
        </p:nvSpPr>
        <p:spPr>
          <a:xfrm>
            <a:off x="1051560" y="4581144"/>
            <a:ext cx="10058400" cy="1097280"/>
          </a:xfrm>
          <a:prstGeom prst="rect">
            <a:avLst/>
          </a:prstGeom>
          <a:noFill/>
        </p:spPr>
        <p:txBody>
          <a:bodyPr wrap="square" lIns="0" tIns="0" rIns="0" bIns="0" anchor="t">
            <a:spAutoFit/>
          </a:bodyPr>
          <a:lstStyle/>
          <a:p>
            <a:pPr algn="l"/>
            <a:r>
              <a:rPr sz="1350" b="0" i="0">
                <a:solidFill>
                  <a:srgbClr val="17151A"/>
                </a:solidFill>
                <a:latin typeface="Calibri"/>
              </a:rPr>
              <a:t>Blank 18% of the time, and the blanks churn at a higher rate. Filling them with the column average quietly erases the signal. Deciding what to do instead is the actual analytical judgment.</a:t>
            </a:r>
          </a:p>
        </p:txBody>
      </p:sp>
      <p:sp>
        <p:nvSpPr>
          <p:cNvPr id="13" name="TextBox 12"/>
          <p:cNvSpPr txBox="1"/>
          <p:nvPr/>
        </p:nvSpPr>
        <p:spPr>
          <a:xfrm>
            <a:off x="640080" y="5943600"/>
            <a:ext cx="10058400" cy="320040"/>
          </a:xfrm>
          <a:prstGeom prst="rect">
            <a:avLst/>
          </a:prstGeom>
          <a:noFill/>
        </p:spPr>
        <p:txBody>
          <a:bodyPr wrap="square" lIns="0" tIns="0" rIns="0" bIns="0" anchor="t">
            <a:spAutoFit/>
          </a:bodyPr>
          <a:lstStyle/>
          <a:p>
            <a:pPr algn="l"/>
            <a:r>
              <a:rPr sz="1500" b="1" i="1">
                <a:solidFill>
                  <a:srgbClr val="BA0C2F"/>
                </a:solidFill>
                <a:latin typeface="Calibri"/>
              </a:rPr>
              <a:t>If a churn model scores 0.99, it has leakage, not insight.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84048"/>
            <a:ext cx="8229600" cy="256032"/>
          </a:xfrm>
          <a:prstGeom prst="rect">
            <a:avLst/>
          </a:prstGeom>
          <a:noFill/>
        </p:spPr>
        <p:txBody>
          <a:bodyPr wrap="square" lIns="0" tIns="0" rIns="0" bIns="0" anchor="t">
            <a:spAutoFit/>
          </a:bodyPr>
          <a:lstStyle/>
          <a:p>
            <a:pPr algn="l"/>
            <a:r>
              <a:rPr sz="1100" b="1" i="0">
                <a:solidFill>
                  <a:srgbClr val="BA0C2F"/>
                </a:solidFill>
                <a:latin typeface="Calibri"/>
              </a:rPr>
              <a:t>45 MINUTES</a:t>
            </a:r>
          </a:p>
        </p:txBody>
      </p:sp>
      <p:sp>
        <p:nvSpPr>
          <p:cNvPr id="3" name="TextBox 2"/>
          <p:cNvSpPr txBox="1"/>
          <p:nvPr/>
        </p:nvSpPr>
        <p:spPr>
          <a:xfrm>
            <a:off x="640080" y="658368"/>
            <a:ext cx="9265615" cy="777240"/>
          </a:xfrm>
          <a:prstGeom prst="rect">
            <a:avLst/>
          </a:prstGeom>
          <a:noFill/>
        </p:spPr>
        <p:txBody>
          <a:bodyPr wrap="square" lIns="0" tIns="0" rIns="0" bIns="0" anchor="t">
            <a:spAutoFit/>
          </a:bodyPr>
          <a:lstStyle/>
          <a:p>
            <a:pPr algn="l"/>
            <a:r>
              <a:rPr sz="3200" b="1" i="0">
                <a:solidFill>
                  <a:srgbClr val="17151A"/>
                </a:solidFill>
                <a:latin typeface="Cambria"/>
              </a:rPr>
              <a:t>Your turn</a:t>
            </a:r>
          </a:p>
        </p:txBody>
      </p:sp>
      <p:pic>
        <p:nvPicPr>
          <p:cNvPr id="4" name="Picture 3" descr="du-daniels-logo-horizontal-3-clr-rgb.png"/>
          <p:cNvPicPr>
            <a:picLocks noChangeAspect="1"/>
          </p:cNvPicPr>
          <p:nvPr/>
        </p:nvPicPr>
        <p:blipFill>
          <a:blip r:embed="rId2"/>
          <a:stretch>
            <a:fillRect/>
          </a:stretch>
        </p:blipFill>
        <p:spPr>
          <a:xfrm>
            <a:off x="10225735" y="438912"/>
            <a:ext cx="1325880" cy="178308"/>
          </a:xfrm>
          <a:prstGeom prst="rect">
            <a:avLst/>
          </a:prstGeom>
        </p:spPr>
      </p:pic>
      <p:sp>
        <p:nvSpPr>
          <p:cNvPr id="5" name="TextBox 4"/>
          <p:cNvSpPr txBox="1"/>
          <p:nvPr/>
        </p:nvSpPr>
        <p:spPr>
          <a:xfrm>
            <a:off x="640080" y="1691640"/>
            <a:ext cx="2743200" cy="274320"/>
          </a:xfrm>
          <a:prstGeom prst="rect">
            <a:avLst/>
          </a:prstGeom>
          <a:noFill/>
        </p:spPr>
        <p:txBody>
          <a:bodyPr wrap="square" lIns="0" tIns="0" rIns="0" bIns="0" anchor="t">
            <a:spAutoFit/>
          </a:bodyPr>
          <a:lstStyle/>
          <a:p>
            <a:pPr algn="l"/>
            <a:r>
              <a:rPr sz="1400" b="0" i="0">
                <a:solidFill>
                  <a:srgbClr val="54565B"/>
                </a:solidFill>
                <a:latin typeface="Calibri"/>
              </a:rPr>
              <a:t>Say:</a:t>
            </a:r>
          </a:p>
        </p:txBody>
      </p:sp>
      <p:sp>
        <p:nvSpPr>
          <p:cNvPr id="6" name="Rounded Rectangle 5"/>
          <p:cNvSpPr/>
          <p:nvPr/>
        </p:nvSpPr>
        <p:spPr>
          <a:xfrm>
            <a:off x="640080" y="2011680"/>
            <a:ext cx="6675120" cy="658368"/>
          </a:xfrm>
          <a:prstGeom prst="roundRect">
            <a:avLst>
              <a:gd name="adj" fmla="val 4000"/>
            </a:avLst>
          </a:prstGeom>
          <a:solidFill>
            <a:srgbClr val="F3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176272"/>
            <a:ext cx="6217920" cy="365760"/>
          </a:xfrm>
          <a:prstGeom prst="rect">
            <a:avLst/>
          </a:prstGeom>
          <a:noFill/>
        </p:spPr>
        <p:txBody>
          <a:bodyPr wrap="square" lIns="0" tIns="0" rIns="0" bIns="0" anchor="t">
            <a:spAutoFit/>
          </a:bodyPr>
          <a:lstStyle/>
          <a:p>
            <a:pPr algn="l"/>
            <a:r>
              <a:rPr sz="1700" b="0" i="0">
                <a:solidFill>
                  <a:srgbClr val="BA0C2F"/>
                </a:solidFill>
                <a:latin typeface="Consolas"/>
              </a:rPr>
              <a:t>audit my data before I analyze it</a:t>
            </a:r>
          </a:p>
        </p:txBody>
      </p:sp>
      <p:sp>
        <p:nvSpPr>
          <p:cNvPr id="8" name="TextBox 7"/>
          <p:cNvSpPr txBox="1"/>
          <p:nvPr/>
        </p:nvSpPr>
        <p:spPr>
          <a:xfrm>
            <a:off x="640080" y="2926080"/>
            <a:ext cx="6766560" cy="777240"/>
          </a:xfrm>
          <a:prstGeom prst="rect">
            <a:avLst/>
          </a:prstGeom>
          <a:noFill/>
        </p:spPr>
        <p:txBody>
          <a:bodyPr wrap="square" lIns="0" tIns="0" rIns="0" bIns="0" anchor="t">
            <a:spAutoFit/>
          </a:bodyPr>
          <a:lstStyle/>
          <a:p>
            <a:pPr algn="l"/>
            <a:r>
              <a:rPr sz="1400" b="0" i="0">
                <a:solidFill>
                  <a:srgbClr val="17151A"/>
                </a:solidFill>
                <a:latin typeface="Calibri"/>
              </a:rPr>
              <a:t>No data you can use tonight? Use the practice files in 5_Library/sample-data. That is what they are for, and you will not be behind.</a:t>
            </a:r>
          </a:p>
        </p:txBody>
      </p:sp>
      <p:sp>
        <p:nvSpPr>
          <p:cNvPr id="9" name="TextBox 8"/>
          <p:cNvSpPr txBox="1"/>
          <p:nvPr/>
        </p:nvSpPr>
        <p:spPr>
          <a:xfrm>
            <a:off x="640080" y="3794760"/>
            <a:ext cx="6766560" cy="868680"/>
          </a:xfrm>
          <a:prstGeom prst="rect">
            <a:avLst/>
          </a:prstGeom>
          <a:noFill/>
        </p:spPr>
        <p:txBody>
          <a:bodyPr wrap="square" lIns="0" tIns="0" rIns="0" bIns="0" anchor="t">
            <a:spAutoFit/>
          </a:bodyPr>
          <a:lstStyle/>
          <a:p>
            <a:pPr algn="l"/>
            <a:r>
              <a:rPr sz="1400" b="0" i="0">
                <a:solidFill>
                  <a:srgbClr val="17151A"/>
                </a:solidFill>
                <a:latin typeface="Calibri"/>
              </a:rPr>
              <a:t>Record your judgment calls by hand in the template. Not just what you chose, but why. In six weeks the choice is indefensible without the reasoning.</a:t>
            </a:r>
          </a:p>
        </p:txBody>
      </p:sp>
      <p:sp>
        <p:nvSpPr>
          <p:cNvPr id="10" name="Rounded Rectangle 9"/>
          <p:cNvSpPr/>
          <p:nvPr/>
        </p:nvSpPr>
        <p:spPr>
          <a:xfrm>
            <a:off x="7863840" y="2011680"/>
            <a:ext cx="3685032" cy="3383280"/>
          </a:xfrm>
          <a:prstGeom prst="roundRect">
            <a:avLst>
              <a:gd name="adj" fmla="val 4000"/>
            </a:avLst>
          </a:prstGeom>
          <a:solidFill>
            <a:srgbClr val="FFFFFF"/>
          </a:solidFill>
          <a:ln w="19050">
            <a:solidFill>
              <a:srgbClr val="BA0C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83879" y="2267712"/>
            <a:ext cx="3108960" cy="292608"/>
          </a:xfrm>
          <a:prstGeom prst="rect">
            <a:avLst/>
          </a:prstGeom>
          <a:noFill/>
        </p:spPr>
        <p:txBody>
          <a:bodyPr wrap="square" lIns="0" tIns="0" rIns="0" bIns="0" anchor="t">
            <a:spAutoFit/>
          </a:bodyPr>
          <a:lstStyle/>
          <a:p>
            <a:pPr algn="l"/>
            <a:r>
              <a:rPr sz="1500" b="1" i="0">
                <a:solidFill>
                  <a:srgbClr val="BA0C2F"/>
                </a:solidFill>
                <a:latin typeface="Calibri"/>
              </a:rPr>
              <a:t>End with the verdict</a:t>
            </a:r>
          </a:p>
        </p:txBody>
      </p:sp>
      <p:sp>
        <p:nvSpPr>
          <p:cNvPr id="12" name="TextBox 11"/>
          <p:cNvSpPr txBox="1"/>
          <p:nvPr/>
        </p:nvSpPr>
        <p:spPr>
          <a:xfrm>
            <a:off x="8183879" y="2697480"/>
            <a:ext cx="3108960" cy="274320"/>
          </a:xfrm>
          <a:prstGeom prst="rect">
            <a:avLst/>
          </a:prstGeom>
          <a:noFill/>
        </p:spPr>
        <p:txBody>
          <a:bodyPr wrap="square" lIns="0" tIns="0" rIns="0" bIns="0" anchor="t">
            <a:spAutoFit/>
          </a:bodyPr>
          <a:lstStyle/>
          <a:p>
            <a:pPr algn="l"/>
            <a:r>
              <a:rPr sz="1300" b="1" i="0">
                <a:solidFill>
                  <a:srgbClr val="17151A"/>
                </a:solidFill>
                <a:latin typeface="Calibri"/>
              </a:rPr>
              <a:t>This data CAN support...</a:t>
            </a:r>
          </a:p>
        </p:txBody>
      </p:sp>
      <p:sp>
        <p:nvSpPr>
          <p:cNvPr id="13" name="Rectangle 12"/>
          <p:cNvSpPr/>
          <p:nvPr/>
        </p:nvSpPr>
        <p:spPr>
          <a:xfrm>
            <a:off x="8183879" y="2999232"/>
            <a:ext cx="3017520" cy="10972"/>
          </a:xfrm>
          <a:prstGeom prst="rect">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83879" y="3383280"/>
            <a:ext cx="3108960" cy="274320"/>
          </a:xfrm>
          <a:prstGeom prst="rect">
            <a:avLst/>
          </a:prstGeom>
          <a:noFill/>
        </p:spPr>
        <p:txBody>
          <a:bodyPr wrap="square" lIns="0" tIns="0" rIns="0" bIns="0" anchor="t">
            <a:spAutoFit/>
          </a:bodyPr>
          <a:lstStyle/>
          <a:p>
            <a:pPr algn="l"/>
            <a:r>
              <a:rPr sz="1300" b="1" i="0">
                <a:solidFill>
                  <a:srgbClr val="17151A"/>
                </a:solidFill>
                <a:latin typeface="Calibri"/>
              </a:rPr>
              <a:t>CAN with caveats...</a:t>
            </a:r>
          </a:p>
        </p:txBody>
      </p:sp>
      <p:sp>
        <p:nvSpPr>
          <p:cNvPr id="15" name="Rectangle 14"/>
          <p:cNvSpPr/>
          <p:nvPr/>
        </p:nvSpPr>
        <p:spPr>
          <a:xfrm>
            <a:off x="8183879" y="3685032"/>
            <a:ext cx="3017520" cy="10972"/>
          </a:xfrm>
          <a:prstGeom prst="rect">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83879" y="4069080"/>
            <a:ext cx="3108960" cy="274320"/>
          </a:xfrm>
          <a:prstGeom prst="rect">
            <a:avLst/>
          </a:prstGeom>
          <a:noFill/>
        </p:spPr>
        <p:txBody>
          <a:bodyPr wrap="square" lIns="0" tIns="0" rIns="0" bIns="0" anchor="t">
            <a:spAutoFit/>
          </a:bodyPr>
          <a:lstStyle/>
          <a:p>
            <a:pPr algn="l"/>
            <a:r>
              <a:rPr sz="1300" b="1" i="0">
                <a:solidFill>
                  <a:srgbClr val="BA0C2F"/>
                </a:solidFill>
                <a:latin typeface="Calibri"/>
              </a:rPr>
              <a:t>CANNOT support...</a:t>
            </a:r>
          </a:p>
        </p:txBody>
      </p:sp>
      <p:sp>
        <p:nvSpPr>
          <p:cNvPr id="17" name="Rectangle 16"/>
          <p:cNvSpPr/>
          <p:nvPr/>
        </p:nvSpPr>
        <p:spPr>
          <a:xfrm>
            <a:off x="8183879" y="4370832"/>
            <a:ext cx="3017520" cy="10972"/>
          </a:xfrm>
          <a:prstGeom prst="rect">
            <a:avLst/>
          </a:prstGeom>
          <a:solidFill>
            <a:srgbClr val="D5D2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83879" y="4800600"/>
            <a:ext cx="3108960" cy="548640"/>
          </a:xfrm>
          <a:prstGeom prst="rect">
            <a:avLst/>
          </a:prstGeom>
          <a:noFill/>
        </p:spPr>
        <p:txBody>
          <a:bodyPr wrap="square" lIns="0" tIns="0" rIns="0" bIns="0" anchor="t">
            <a:spAutoFit/>
          </a:bodyPr>
          <a:lstStyle/>
          <a:p>
            <a:pPr algn="l"/>
            <a:r>
              <a:rPr sz="1200" b="0" i="1">
                <a:solidFill>
                  <a:srgbClr val="54565B"/>
                </a:solidFill>
                <a:latin typeface="Calibri"/>
              </a:rPr>
              <a:t>The third line is the one that saves people. Say it before you build, not after.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BA0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417320"/>
            <a:ext cx="10058400" cy="822960"/>
          </a:xfrm>
          <a:prstGeom prst="rect">
            <a:avLst/>
          </a:prstGeom>
          <a:noFill/>
        </p:spPr>
        <p:txBody>
          <a:bodyPr wrap="square" lIns="0" tIns="0" rIns="0" bIns="0" anchor="t">
            <a:spAutoFit/>
          </a:bodyPr>
          <a:lstStyle/>
          <a:p>
            <a:pPr algn="l"/>
            <a:r>
              <a:rPr sz="4200" b="1" i="0">
                <a:solidFill>
                  <a:srgbClr val="FFFFFF"/>
                </a:solidFill>
                <a:latin typeface="Cambria"/>
              </a:rPr>
              <a:t>Next week you build.</a:t>
            </a:r>
          </a:p>
        </p:txBody>
      </p:sp>
      <p:sp>
        <p:nvSpPr>
          <p:cNvPr id="4" name="TextBox 3"/>
          <p:cNvSpPr txBox="1"/>
          <p:nvPr/>
        </p:nvSpPr>
        <p:spPr>
          <a:xfrm>
            <a:off x="640080" y="2286000"/>
            <a:ext cx="10058400" cy="457200"/>
          </a:xfrm>
          <a:prstGeom prst="rect">
            <a:avLst/>
          </a:prstGeom>
          <a:noFill/>
        </p:spPr>
        <p:txBody>
          <a:bodyPr wrap="square" lIns="0" tIns="0" rIns="0" bIns="0" anchor="t">
            <a:spAutoFit/>
          </a:bodyPr>
          <a:lstStyle/>
          <a:p>
            <a:pPr algn="l"/>
            <a:r>
              <a:rPr sz="1900" b="0" i="0">
                <a:solidFill>
                  <a:srgbClr val="D5D2C5"/>
                </a:solidFill>
                <a:latin typeface="Calibri"/>
              </a:rPr>
              <a:t>Because you did tonight, an hour is enough.</a:t>
            </a:r>
          </a:p>
        </p:txBody>
      </p:sp>
      <p:sp>
        <p:nvSpPr>
          <p:cNvPr id="5" name="Oval 4"/>
          <p:cNvSpPr/>
          <p:nvPr/>
        </p:nvSpPr>
        <p:spPr>
          <a:xfrm>
            <a:off x="640080" y="3291840"/>
            <a:ext cx="402336" cy="40233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A0C2F"/>
                </a:solidFill>
                <a:latin typeface="Calibri"/>
              </a:rPr>
              <a:t>1</a:t>
            </a:r>
          </a:p>
        </p:txBody>
      </p:sp>
      <p:sp>
        <p:nvSpPr>
          <p:cNvPr id="6" name="TextBox 5"/>
          <p:cNvSpPr txBox="1"/>
          <p:nvPr/>
        </p:nvSpPr>
        <p:spPr>
          <a:xfrm>
            <a:off x="1261872" y="3319272"/>
            <a:ext cx="6858000" cy="347472"/>
          </a:xfrm>
          <a:prstGeom prst="rect">
            <a:avLst/>
          </a:prstGeom>
          <a:noFill/>
        </p:spPr>
        <p:txBody>
          <a:bodyPr wrap="square" lIns="0" tIns="0" rIns="0" bIns="0" anchor="t">
            <a:spAutoFit/>
          </a:bodyPr>
          <a:lstStyle/>
          <a:p>
            <a:pPr algn="l"/>
            <a:r>
              <a:rPr sz="1900" b="1" i="0">
                <a:solidFill>
                  <a:srgbClr val="FFFFFF"/>
                </a:solidFill>
                <a:latin typeface="Calibri"/>
              </a:rPr>
              <a:t>Build your use case</a:t>
            </a:r>
          </a:p>
        </p:txBody>
      </p:sp>
      <p:sp>
        <p:nvSpPr>
          <p:cNvPr id="7" name="TextBox 6"/>
          <p:cNvSpPr txBox="1"/>
          <p:nvPr/>
        </p:nvSpPr>
        <p:spPr>
          <a:xfrm>
            <a:off x="8229600" y="3355848"/>
            <a:ext cx="1280160" cy="292608"/>
          </a:xfrm>
          <a:prstGeom prst="rect">
            <a:avLst/>
          </a:prstGeom>
          <a:noFill/>
        </p:spPr>
        <p:txBody>
          <a:bodyPr wrap="square" lIns="0" tIns="0" rIns="0" bIns="0" anchor="t">
            <a:spAutoFit/>
          </a:bodyPr>
          <a:lstStyle/>
          <a:p>
            <a:pPr algn="l"/>
            <a:r>
              <a:rPr sz="1400" b="0" i="0">
                <a:solidFill>
                  <a:srgbClr val="D5D2C5"/>
                </a:solidFill>
                <a:latin typeface="Calibri"/>
              </a:rPr>
              <a:t>60 min</a:t>
            </a:r>
          </a:p>
        </p:txBody>
      </p:sp>
      <p:sp>
        <p:nvSpPr>
          <p:cNvPr id="8" name="Oval 7"/>
          <p:cNvSpPr/>
          <p:nvPr/>
        </p:nvSpPr>
        <p:spPr>
          <a:xfrm>
            <a:off x="640080" y="4005072"/>
            <a:ext cx="402336" cy="40233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A0C2F"/>
                </a:solidFill>
                <a:latin typeface="Calibri"/>
              </a:rPr>
              <a:t>2</a:t>
            </a:r>
          </a:p>
        </p:txBody>
      </p:sp>
      <p:sp>
        <p:nvSpPr>
          <p:cNvPr id="9" name="TextBox 8"/>
          <p:cNvSpPr txBox="1"/>
          <p:nvPr/>
        </p:nvSpPr>
        <p:spPr>
          <a:xfrm>
            <a:off x="1261872" y="4032504"/>
            <a:ext cx="6858000" cy="347472"/>
          </a:xfrm>
          <a:prstGeom prst="rect">
            <a:avLst/>
          </a:prstGeom>
          <a:noFill/>
        </p:spPr>
        <p:txBody>
          <a:bodyPr wrap="square" lIns="0" tIns="0" rIns="0" bIns="0" anchor="t">
            <a:spAutoFit/>
          </a:bodyPr>
          <a:lstStyle/>
          <a:p>
            <a:pPr algn="l"/>
            <a:r>
              <a:rPr sz="1900" b="1" i="0">
                <a:solidFill>
                  <a:srgbClr val="FFFFFF"/>
                </a:solidFill>
                <a:latin typeface="Calibri"/>
              </a:rPr>
              <a:t>Write the decision memo</a:t>
            </a:r>
          </a:p>
        </p:txBody>
      </p:sp>
      <p:sp>
        <p:nvSpPr>
          <p:cNvPr id="10" name="TextBox 9"/>
          <p:cNvSpPr txBox="1"/>
          <p:nvPr/>
        </p:nvSpPr>
        <p:spPr>
          <a:xfrm>
            <a:off x="8229600" y="4069080"/>
            <a:ext cx="1280160" cy="292608"/>
          </a:xfrm>
          <a:prstGeom prst="rect">
            <a:avLst/>
          </a:prstGeom>
          <a:noFill/>
        </p:spPr>
        <p:txBody>
          <a:bodyPr wrap="square" lIns="0" tIns="0" rIns="0" bIns="0" anchor="t">
            <a:spAutoFit/>
          </a:bodyPr>
          <a:lstStyle/>
          <a:p>
            <a:pPr algn="l"/>
            <a:r>
              <a:rPr sz="1400" b="0" i="0">
                <a:solidFill>
                  <a:srgbClr val="D5D2C5"/>
                </a:solidFill>
                <a:latin typeface="Calibri"/>
              </a:rPr>
              <a:t>25 min</a:t>
            </a:r>
          </a:p>
        </p:txBody>
      </p:sp>
      <p:sp>
        <p:nvSpPr>
          <p:cNvPr id="11" name="Oval 10"/>
          <p:cNvSpPr/>
          <p:nvPr/>
        </p:nvSpPr>
        <p:spPr>
          <a:xfrm>
            <a:off x="640080" y="4718304"/>
            <a:ext cx="402336" cy="40233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A0C2F"/>
                </a:solidFill>
                <a:latin typeface="Calibri"/>
              </a:rPr>
              <a:t>3</a:t>
            </a:r>
          </a:p>
        </p:txBody>
      </p:sp>
      <p:sp>
        <p:nvSpPr>
          <p:cNvPr id="12" name="TextBox 11"/>
          <p:cNvSpPr txBox="1"/>
          <p:nvPr/>
        </p:nvSpPr>
        <p:spPr>
          <a:xfrm>
            <a:off x="1261872" y="4745736"/>
            <a:ext cx="6858000" cy="347472"/>
          </a:xfrm>
          <a:prstGeom prst="rect">
            <a:avLst/>
          </a:prstGeom>
          <a:noFill/>
        </p:spPr>
        <p:txBody>
          <a:bodyPr wrap="square" lIns="0" tIns="0" rIns="0" bIns="0" anchor="t">
            <a:spAutoFit/>
          </a:bodyPr>
          <a:lstStyle/>
          <a:p>
            <a:pPr algn="l"/>
            <a:r>
              <a:rPr sz="1900" b="1" i="0">
                <a:solidFill>
                  <a:srgbClr val="FFFFFF"/>
                </a:solidFill>
                <a:latin typeface="Calibri"/>
              </a:rPr>
              <a:t>Demo it</a:t>
            </a:r>
          </a:p>
        </p:txBody>
      </p:sp>
      <p:sp>
        <p:nvSpPr>
          <p:cNvPr id="13" name="TextBox 12"/>
          <p:cNvSpPr txBox="1"/>
          <p:nvPr/>
        </p:nvSpPr>
        <p:spPr>
          <a:xfrm>
            <a:off x="8229600" y="4782312"/>
            <a:ext cx="1280160" cy="292608"/>
          </a:xfrm>
          <a:prstGeom prst="rect">
            <a:avLst/>
          </a:prstGeom>
          <a:noFill/>
        </p:spPr>
        <p:txBody>
          <a:bodyPr wrap="square" lIns="0" tIns="0" rIns="0" bIns="0" anchor="t">
            <a:spAutoFit/>
          </a:bodyPr>
          <a:lstStyle/>
          <a:p>
            <a:pPr algn="l"/>
            <a:r>
              <a:rPr sz="1400" b="0" i="0">
                <a:solidFill>
                  <a:srgbClr val="D5D2C5"/>
                </a:solidFill>
                <a:latin typeface="Calibri"/>
              </a:rPr>
              <a:t>25 min</a:t>
            </a:r>
          </a:p>
        </p:txBody>
      </p:sp>
      <p:sp>
        <p:nvSpPr>
          <p:cNvPr id="14" name="TextBox 13"/>
          <p:cNvSpPr txBox="1"/>
          <p:nvPr/>
        </p:nvSpPr>
        <p:spPr>
          <a:xfrm>
            <a:off x="640080" y="5715000"/>
            <a:ext cx="10607040" cy="274320"/>
          </a:xfrm>
          <a:prstGeom prst="rect">
            <a:avLst/>
          </a:prstGeom>
          <a:noFill/>
        </p:spPr>
        <p:txBody>
          <a:bodyPr wrap="square" lIns="0" tIns="0" rIns="0" bIns="0" anchor="t">
            <a:spAutoFit/>
          </a:bodyPr>
          <a:lstStyle/>
          <a:p>
            <a:pPr algn="l"/>
            <a:r>
              <a:rPr sz="1300" b="0" i="0">
                <a:solidFill>
                  <a:srgbClr val="D5D2C5"/>
                </a:solidFill>
                <a:latin typeface="Calibri"/>
              </a:rPr>
              <a:t>Everything from tonight is in the workspace:</a:t>
            </a:r>
          </a:p>
        </p:txBody>
      </p:sp>
      <p:sp>
        <p:nvSpPr>
          <p:cNvPr id="15" name="TextBox 14"/>
          <p:cNvSpPr txBox="1"/>
          <p:nvPr/>
        </p:nvSpPr>
        <p:spPr>
          <a:xfrm>
            <a:off x="640080" y="6016752"/>
            <a:ext cx="10607040" cy="320040"/>
          </a:xfrm>
          <a:prstGeom prst="rect">
            <a:avLst/>
          </a:prstGeom>
          <a:noFill/>
        </p:spPr>
        <p:txBody>
          <a:bodyPr wrap="square" lIns="0" tIns="0" rIns="0" bIns="0" anchor="t">
            <a:spAutoFit/>
          </a:bodyPr>
          <a:lstStyle/>
          <a:p>
            <a:pPr algn="l"/>
            <a:r>
              <a:rPr sz="1400" b="1" i="0">
                <a:solidFill>
                  <a:srgbClr val="FFFFFF"/>
                </a:solidFill>
                <a:latin typeface="Calibri"/>
              </a:rPr>
              <a:t>github.com/data-love-co/info4610-analytics-os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91</TotalTime>
  <Words>1550</Words>
  <Application>Microsoft Office PowerPoint</Application>
  <PresentationFormat>Widescreen</PresentationFormat>
  <Paragraphs>210</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Jasmine Motupalli</cp:lastModifiedBy>
  <cp:revision>2</cp:revision>
  <dcterms:created xsi:type="dcterms:W3CDTF">2013-01-27T09:14:16Z</dcterms:created>
  <dcterms:modified xsi:type="dcterms:W3CDTF">2026-08-18T01:29:57Z</dcterms:modified>
  <cp:category/>
</cp:coreProperties>
</file>