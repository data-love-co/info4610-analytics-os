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daniels-logo-horizontal-white.png"/>
          <p:cNvPicPr>
            <a:picLocks noChangeAspect="1"/>
          </p:cNvPicPr>
          <p:nvPr/>
        </p:nvPicPr>
        <p:blipFill>
          <a:blip r:embed="rId2"/>
          <a:stretch>
            <a:fillRect/>
          </a:stretch>
        </p:blipFill>
        <p:spPr>
          <a:xfrm>
            <a:off x="640080" y="685800"/>
            <a:ext cx="2286000" cy="306324"/>
          </a:xfrm>
          <a:prstGeom prst="rect">
            <a:avLst/>
          </a:prstGeom>
        </p:spPr>
      </p:pic>
      <p:sp>
        <p:nvSpPr>
          <p:cNvPr id="4" name="TextBox 3"/>
          <p:cNvSpPr txBox="1"/>
          <p:nvPr/>
        </p:nvSpPr>
        <p:spPr>
          <a:xfrm>
            <a:off x="640080" y="1965960"/>
            <a:ext cx="9601200" cy="2103120"/>
          </a:xfrm>
          <a:prstGeom prst="rect">
            <a:avLst/>
          </a:prstGeom>
          <a:noFill/>
        </p:spPr>
        <p:txBody>
          <a:bodyPr wrap="square" lIns="0" rIns="0" tIns="0" bIns="0" anchor="t">
            <a:spAutoFit/>
          </a:bodyPr>
          <a:lstStyle/>
          <a:p>
            <a:pPr algn="l">
              <a:lnSpc>
                <a:spcPts val="5400"/>
              </a:lnSpc>
            </a:pPr>
            <a:r>
              <a:rPr sz="4800" b="1" i="0">
                <a:solidFill>
                  <a:srgbClr val="FFFFFF"/>
                </a:solidFill>
                <a:latin typeface="Cambria"/>
              </a:rPr>
              <a:t>Build It, Then Make</a:t>
            </a:r>
          </a:p>
          <a:p>
            <a:pPr algn="l">
              <a:lnSpc>
                <a:spcPts val="5400"/>
              </a:lnSpc>
            </a:pPr>
            <a:r>
              <a:rPr sz="4800" b="1" i="0">
                <a:solidFill>
                  <a:srgbClr val="FFFFFF"/>
                </a:solidFill>
                <a:latin typeface="Cambria"/>
              </a:rPr>
              <a:t>Someone Act On It</a:t>
            </a:r>
          </a:p>
        </p:txBody>
      </p:sp>
      <p:sp>
        <p:nvSpPr>
          <p:cNvPr id="5" name="TextBox 4"/>
          <p:cNvSpPr txBox="1"/>
          <p:nvPr/>
        </p:nvSpPr>
        <p:spPr>
          <a:xfrm>
            <a:off x="640080" y="4160520"/>
            <a:ext cx="9692640" cy="365760"/>
          </a:xfrm>
          <a:prstGeom prst="rect">
            <a:avLst/>
          </a:prstGeom>
          <a:noFill/>
        </p:spPr>
        <p:txBody>
          <a:bodyPr wrap="square" lIns="0" rIns="0" tIns="0" bIns="0" anchor="t">
            <a:spAutoFit/>
          </a:bodyPr>
          <a:lstStyle/>
          <a:p>
            <a:pPr algn="l"/>
            <a:r>
              <a:rPr sz="1800" b="0" i="0">
                <a:solidFill>
                  <a:srgbClr val="D5D2C5"/>
                </a:solidFill>
                <a:latin typeface="Calibri"/>
              </a:rPr>
              <a:t>Session 2  |  Build the tool, write the memo, defend it in the room</a:t>
            </a:r>
          </a:p>
        </p:txBody>
      </p:sp>
      <p:sp>
        <p:nvSpPr>
          <p:cNvPr id="6" name="Rectangle 5"/>
          <p:cNvSpPr/>
          <p:nvPr/>
        </p:nvSpPr>
        <p:spPr>
          <a:xfrm>
            <a:off x="640080" y="489204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138928"/>
            <a:ext cx="9144000" cy="274320"/>
          </a:xfrm>
          <a:prstGeom prst="rect">
            <a:avLst/>
          </a:prstGeom>
          <a:noFill/>
        </p:spPr>
        <p:txBody>
          <a:bodyPr wrap="square" lIns="0" rIns="0" tIns="0" bIns="0" anchor="t">
            <a:spAutoFit/>
          </a:bodyPr>
          <a:lstStyle/>
          <a:p>
            <a:pPr algn="l"/>
            <a:r>
              <a:rPr sz="1300" b="0" i="0">
                <a:solidFill>
                  <a:srgbClr val="FFFFFF"/>
                </a:solidFill>
                <a:latin typeface="Calibri"/>
              </a:rPr>
              <a:t>INFO 4610  |  Business Analytics  |  6:00 - 7:50 PM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AGENDA</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Tonight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783080"/>
            <a:ext cx="868680" cy="292608"/>
          </a:xfrm>
          <a:prstGeom prst="rect">
            <a:avLst/>
          </a:prstGeom>
          <a:noFill/>
        </p:spPr>
        <p:txBody>
          <a:bodyPr wrap="square" lIns="0" rIns="0" tIns="0" bIns="0" anchor="t">
            <a:spAutoFit/>
          </a:bodyPr>
          <a:lstStyle/>
          <a:p>
            <a:pPr algn="l"/>
            <a:r>
              <a:rPr sz="1700" b="1" i="0">
                <a:solidFill>
                  <a:srgbClr val="BA0C2F"/>
                </a:solidFill>
                <a:latin typeface="Calibri"/>
              </a:rPr>
              <a:t>6:00</a:t>
            </a:r>
          </a:p>
        </p:txBody>
      </p:sp>
      <p:sp>
        <p:nvSpPr>
          <p:cNvPr id="6" name="TextBox 5"/>
          <p:cNvSpPr txBox="1"/>
          <p:nvPr/>
        </p:nvSpPr>
        <p:spPr>
          <a:xfrm>
            <a:off x="1554480" y="1783080"/>
            <a:ext cx="6035040" cy="292608"/>
          </a:xfrm>
          <a:prstGeom prst="rect">
            <a:avLst/>
          </a:prstGeom>
          <a:noFill/>
        </p:spPr>
        <p:txBody>
          <a:bodyPr wrap="square" lIns="0" rIns="0" tIns="0" bIns="0" anchor="t">
            <a:spAutoFit/>
          </a:bodyPr>
          <a:lstStyle/>
          <a:p>
            <a:pPr algn="l"/>
            <a:r>
              <a:rPr sz="1700" b="1" i="0">
                <a:solidFill>
                  <a:srgbClr val="17151A"/>
                </a:solidFill>
                <a:latin typeface="Calibri"/>
              </a:rPr>
              <a:t>Pick your use case and scope it</a:t>
            </a:r>
          </a:p>
        </p:txBody>
      </p:sp>
      <p:sp>
        <p:nvSpPr>
          <p:cNvPr id="7" name="TextBox 6"/>
          <p:cNvSpPr txBox="1"/>
          <p:nvPr/>
        </p:nvSpPr>
        <p:spPr>
          <a:xfrm>
            <a:off x="7772400" y="1819656"/>
            <a:ext cx="914400" cy="256032"/>
          </a:xfrm>
          <a:prstGeom prst="rect">
            <a:avLst/>
          </a:prstGeom>
          <a:noFill/>
        </p:spPr>
        <p:txBody>
          <a:bodyPr wrap="square" lIns="0" rIns="0" tIns="0" bIns="0" anchor="t">
            <a:spAutoFit/>
          </a:bodyPr>
          <a:lstStyle/>
          <a:p>
            <a:pPr algn="l"/>
            <a:r>
              <a:rPr sz="1200" b="0" i="0">
                <a:solidFill>
                  <a:srgbClr val="54565B"/>
                </a:solidFill>
                <a:latin typeface="Calibri"/>
              </a:rPr>
              <a:t>15 min</a:t>
            </a:r>
          </a:p>
        </p:txBody>
      </p:sp>
      <p:sp>
        <p:nvSpPr>
          <p:cNvPr id="8" name="TextBox 7"/>
          <p:cNvSpPr txBox="1"/>
          <p:nvPr/>
        </p:nvSpPr>
        <p:spPr>
          <a:xfrm>
            <a:off x="1554480" y="2112264"/>
            <a:ext cx="9144000" cy="274320"/>
          </a:xfrm>
          <a:prstGeom prst="rect">
            <a:avLst/>
          </a:prstGeom>
          <a:noFill/>
        </p:spPr>
        <p:txBody>
          <a:bodyPr wrap="square" lIns="0" rIns="0" tIns="0" bIns="0" anchor="t">
            <a:spAutoFit/>
          </a:bodyPr>
          <a:lstStyle/>
          <a:p>
            <a:pPr algn="l"/>
            <a:r>
              <a:rPr sz="1300" b="0" i="0">
                <a:solidFill>
                  <a:srgbClr val="54565B"/>
                </a:solidFill>
                <a:latin typeface="Calibri"/>
              </a:rPr>
              <a:t>Fifteen minutes of scoping saves the hour you would spend building the wrong thing well.</a:t>
            </a:r>
          </a:p>
        </p:txBody>
      </p:sp>
      <p:sp>
        <p:nvSpPr>
          <p:cNvPr id="9" name="TextBox 8"/>
          <p:cNvSpPr txBox="1"/>
          <p:nvPr/>
        </p:nvSpPr>
        <p:spPr>
          <a:xfrm>
            <a:off x="640080" y="2743200"/>
            <a:ext cx="868680" cy="292608"/>
          </a:xfrm>
          <a:prstGeom prst="rect">
            <a:avLst/>
          </a:prstGeom>
          <a:noFill/>
        </p:spPr>
        <p:txBody>
          <a:bodyPr wrap="square" lIns="0" rIns="0" tIns="0" bIns="0" anchor="t">
            <a:spAutoFit/>
          </a:bodyPr>
          <a:lstStyle/>
          <a:p>
            <a:pPr algn="l"/>
            <a:r>
              <a:rPr sz="1700" b="1" i="0">
                <a:solidFill>
                  <a:srgbClr val="BA0C2F"/>
                </a:solidFill>
                <a:latin typeface="Calibri"/>
              </a:rPr>
              <a:t>6:15</a:t>
            </a:r>
          </a:p>
        </p:txBody>
      </p:sp>
      <p:sp>
        <p:nvSpPr>
          <p:cNvPr id="10" name="TextBox 9"/>
          <p:cNvSpPr txBox="1"/>
          <p:nvPr/>
        </p:nvSpPr>
        <p:spPr>
          <a:xfrm>
            <a:off x="1554480" y="2743200"/>
            <a:ext cx="6035040" cy="292608"/>
          </a:xfrm>
          <a:prstGeom prst="rect">
            <a:avLst/>
          </a:prstGeom>
          <a:noFill/>
        </p:spPr>
        <p:txBody>
          <a:bodyPr wrap="square" lIns="0" rIns="0" tIns="0" bIns="0" anchor="t">
            <a:spAutoFit/>
          </a:bodyPr>
          <a:lstStyle/>
          <a:p>
            <a:pPr algn="l"/>
            <a:r>
              <a:rPr sz="1700" b="1" i="0">
                <a:solidFill>
                  <a:srgbClr val="17151A"/>
                </a:solidFill>
                <a:latin typeface="Calibri"/>
              </a:rPr>
              <a:t>Build it</a:t>
            </a:r>
          </a:p>
        </p:txBody>
      </p:sp>
      <p:sp>
        <p:nvSpPr>
          <p:cNvPr id="11" name="TextBox 10"/>
          <p:cNvSpPr txBox="1"/>
          <p:nvPr/>
        </p:nvSpPr>
        <p:spPr>
          <a:xfrm>
            <a:off x="7772400" y="2779776"/>
            <a:ext cx="914400" cy="256032"/>
          </a:xfrm>
          <a:prstGeom prst="rect">
            <a:avLst/>
          </a:prstGeom>
          <a:noFill/>
        </p:spPr>
        <p:txBody>
          <a:bodyPr wrap="square" lIns="0" rIns="0" tIns="0" bIns="0" anchor="t">
            <a:spAutoFit/>
          </a:bodyPr>
          <a:lstStyle/>
          <a:p>
            <a:pPr algn="l"/>
            <a:r>
              <a:rPr sz="1200" b="0" i="0">
                <a:solidFill>
                  <a:srgbClr val="54565B"/>
                </a:solidFill>
                <a:latin typeface="Calibri"/>
              </a:rPr>
              <a:t>60 min</a:t>
            </a:r>
          </a:p>
        </p:txBody>
      </p:sp>
      <p:sp>
        <p:nvSpPr>
          <p:cNvPr id="12" name="TextBox 11"/>
          <p:cNvSpPr txBox="1"/>
          <p:nvPr/>
        </p:nvSpPr>
        <p:spPr>
          <a:xfrm>
            <a:off x="1554480" y="3072384"/>
            <a:ext cx="9144000" cy="274320"/>
          </a:xfrm>
          <a:prstGeom prst="rect">
            <a:avLst/>
          </a:prstGeom>
          <a:noFill/>
        </p:spPr>
        <p:txBody>
          <a:bodyPr wrap="square" lIns="0" rIns="0" tIns="0" bIns="0" anchor="t">
            <a:spAutoFit/>
          </a:bodyPr>
          <a:lstStyle/>
          <a:p>
            <a:pPr algn="l"/>
            <a:r>
              <a:rPr sz="1300" b="0" i="0">
                <a:solidFill>
                  <a:srgbClr val="54565B"/>
                </a:solidFill>
                <a:latin typeface="Calibri"/>
              </a:rPr>
              <a:t>One use case, built properly. Not three, half finished.</a:t>
            </a:r>
          </a:p>
        </p:txBody>
      </p:sp>
      <p:sp>
        <p:nvSpPr>
          <p:cNvPr id="13" name="TextBox 12"/>
          <p:cNvSpPr txBox="1"/>
          <p:nvPr/>
        </p:nvSpPr>
        <p:spPr>
          <a:xfrm>
            <a:off x="640080" y="3703320"/>
            <a:ext cx="868680" cy="292608"/>
          </a:xfrm>
          <a:prstGeom prst="rect">
            <a:avLst/>
          </a:prstGeom>
          <a:noFill/>
        </p:spPr>
        <p:txBody>
          <a:bodyPr wrap="square" lIns="0" rIns="0" tIns="0" bIns="0" anchor="t">
            <a:spAutoFit/>
          </a:bodyPr>
          <a:lstStyle/>
          <a:p>
            <a:pPr algn="l"/>
            <a:r>
              <a:rPr sz="1700" b="1" i="0">
                <a:solidFill>
                  <a:srgbClr val="BA0C2F"/>
                </a:solidFill>
                <a:latin typeface="Calibri"/>
              </a:rPr>
              <a:t>7:15</a:t>
            </a:r>
          </a:p>
        </p:txBody>
      </p:sp>
      <p:sp>
        <p:nvSpPr>
          <p:cNvPr id="14" name="TextBox 13"/>
          <p:cNvSpPr txBox="1"/>
          <p:nvPr/>
        </p:nvSpPr>
        <p:spPr>
          <a:xfrm>
            <a:off x="1554480" y="3703320"/>
            <a:ext cx="6035040" cy="292608"/>
          </a:xfrm>
          <a:prstGeom prst="rect">
            <a:avLst/>
          </a:prstGeom>
          <a:noFill/>
        </p:spPr>
        <p:txBody>
          <a:bodyPr wrap="square" lIns="0" rIns="0" tIns="0" bIns="0" anchor="t">
            <a:spAutoFit/>
          </a:bodyPr>
          <a:lstStyle/>
          <a:p>
            <a:pPr algn="l"/>
            <a:r>
              <a:rPr sz="1700" b="1" i="0">
                <a:solidFill>
                  <a:srgbClr val="17151A"/>
                </a:solidFill>
                <a:latin typeface="Calibri"/>
              </a:rPr>
              <a:t>Write the decision memo</a:t>
            </a:r>
          </a:p>
        </p:txBody>
      </p:sp>
      <p:sp>
        <p:nvSpPr>
          <p:cNvPr id="15" name="TextBox 14"/>
          <p:cNvSpPr txBox="1"/>
          <p:nvPr/>
        </p:nvSpPr>
        <p:spPr>
          <a:xfrm>
            <a:off x="7772400" y="3739896"/>
            <a:ext cx="914400" cy="256032"/>
          </a:xfrm>
          <a:prstGeom prst="rect">
            <a:avLst/>
          </a:prstGeom>
          <a:noFill/>
        </p:spPr>
        <p:txBody>
          <a:bodyPr wrap="square" lIns="0" rIns="0" tIns="0" bIns="0" anchor="t">
            <a:spAutoFit/>
          </a:bodyPr>
          <a:lstStyle/>
          <a:p>
            <a:pPr algn="l"/>
            <a:r>
              <a:rPr sz="1200" b="0" i="0">
                <a:solidFill>
                  <a:srgbClr val="54565B"/>
                </a:solidFill>
                <a:latin typeface="Calibri"/>
              </a:rPr>
              <a:t>25 min</a:t>
            </a:r>
          </a:p>
        </p:txBody>
      </p:sp>
      <p:sp>
        <p:nvSpPr>
          <p:cNvPr id="16" name="TextBox 15"/>
          <p:cNvSpPr txBox="1"/>
          <p:nvPr/>
        </p:nvSpPr>
        <p:spPr>
          <a:xfrm>
            <a:off x="1554480" y="4032504"/>
            <a:ext cx="9144000" cy="274320"/>
          </a:xfrm>
          <a:prstGeom prst="rect">
            <a:avLst/>
          </a:prstGeom>
          <a:noFill/>
        </p:spPr>
        <p:txBody>
          <a:bodyPr wrap="square" lIns="0" rIns="0" tIns="0" bIns="0" anchor="t">
            <a:spAutoFit/>
          </a:bodyPr>
          <a:lstStyle/>
          <a:p>
            <a:pPr algn="l"/>
            <a:r>
              <a:rPr sz="1300" b="0" i="0">
                <a:solidFill>
                  <a:srgbClr val="54565B"/>
                </a:solidFill>
                <a:latin typeface="Calibri"/>
              </a:rPr>
              <a:t>One page. Recommendation first. Ninety seconds of someone's attention.</a:t>
            </a:r>
          </a:p>
        </p:txBody>
      </p:sp>
      <p:sp>
        <p:nvSpPr>
          <p:cNvPr id="17" name="TextBox 16"/>
          <p:cNvSpPr txBox="1"/>
          <p:nvPr/>
        </p:nvSpPr>
        <p:spPr>
          <a:xfrm>
            <a:off x="640080" y="4663440"/>
            <a:ext cx="868680" cy="292608"/>
          </a:xfrm>
          <a:prstGeom prst="rect">
            <a:avLst/>
          </a:prstGeom>
          <a:noFill/>
        </p:spPr>
        <p:txBody>
          <a:bodyPr wrap="square" lIns="0" rIns="0" tIns="0" bIns="0" anchor="t">
            <a:spAutoFit/>
          </a:bodyPr>
          <a:lstStyle/>
          <a:p>
            <a:pPr algn="l"/>
            <a:r>
              <a:rPr sz="1700" b="1" i="0">
                <a:solidFill>
                  <a:srgbClr val="BA0C2F"/>
                </a:solidFill>
                <a:latin typeface="Calibri"/>
              </a:rPr>
              <a:t>7:40</a:t>
            </a:r>
          </a:p>
        </p:txBody>
      </p:sp>
      <p:sp>
        <p:nvSpPr>
          <p:cNvPr id="18" name="TextBox 17"/>
          <p:cNvSpPr txBox="1"/>
          <p:nvPr/>
        </p:nvSpPr>
        <p:spPr>
          <a:xfrm>
            <a:off x="1554480" y="4663440"/>
            <a:ext cx="6035040" cy="292608"/>
          </a:xfrm>
          <a:prstGeom prst="rect">
            <a:avLst/>
          </a:prstGeom>
          <a:noFill/>
        </p:spPr>
        <p:txBody>
          <a:bodyPr wrap="square" lIns="0" rIns="0" tIns="0" bIns="0" anchor="t">
            <a:spAutoFit/>
          </a:bodyPr>
          <a:lstStyle/>
          <a:p>
            <a:pPr algn="l"/>
            <a:r>
              <a:rPr sz="1700" b="1" i="0">
                <a:solidFill>
                  <a:srgbClr val="17151A"/>
                </a:solidFill>
                <a:latin typeface="Calibri"/>
              </a:rPr>
              <a:t>Demo and close</a:t>
            </a:r>
          </a:p>
        </p:txBody>
      </p:sp>
      <p:sp>
        <p:nvSpPr>
          <p:cNvPr id="19" name="TextBox 18"/>
          <p:cNvSpPr txBox="1"/>
          <p:nvPr/>
        </p:nvSpPr>
        <p:spPr>
          <a:xfrm>
            <a:off x="7772400" y="4700016"/>
            <a:ext cx="914400" cy="256032"/>
          </a:xfrm>
          <a:prstGeom prst="rect">
            <a:avLst/>
          </a:prstGeom>
          <a:noFill/>
        </p:spPr>
        <p:txBody>
          <a:bodyPr wrap="square" lIns="0" rIns="0" tIns="0" bIns="0" anchor="t">
            <a:spAutoFit/>
          </a:bodyPr>
          <a:lstStyle/>
          <a:p>
            <a:pPr algn="l"/>
            <a:r>
              <a:rPr sz="1200" b="0" i="0">
                <a:solidFill>
                  <a:srgbClr val="54565B"/>
                </a:solidFill>
                <a:latin typeface="Calibri"/>
              </a:rPr>
              <a:t>25 min</a:t>
            </a:r>
          </a:p>
        </p:txBody>
      </p:sp>
      <p:sp>
        <p:nvSpPr>
          <p:cNvPr id="20" name="TextBox 19"/>
          <p:cNvSpPr txBox="1"/>
          <p:nvPr/>
        </p:nvSpPr>
        <p:spPr>
          <a:xfrm>
            <a:off x="1554480" y="4992624"/>
            <a:ext cx="9144000" cy="274320"/>
          </a:xfrm>
          <a:prstGeom prst="rect">
            <a:avLst/>
          </a:prstGeom>
          <a:noFill/>
        </p:spPr>
        <p:txBody>
          <a:bodyPr wrap="square" lIns="0" rIns="0" tIns="0" bIns="0" anchor="t">
            <a:spAutoFit/>
          </a:bodyPr>
          <a:lstStyle/>
          <a:p>
            <a:pPr algn="l"/>
            <a:r>
              <a:rPr sz="1300" b="0" i="0">
                <a:solidFill>
                  <a:srgbClr val="54565B"/>
                </a:solidFill>
                <a:latin typeface="Calibri"/>
              </a:rPr>
              <a:t>Five minutes each, four beats, and the honest part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WHERE WE LEFT OFF</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 already did the hard part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72768"/>
            <a:ext cx="10515600" cy="320040"/>
          </a:xfrm>
          <a:prstGeom prst="rect">
            <a:avLst/>
          </a:prstGeom>
          <a:noFill/>
        </p:spPr>
        <p:txBody>
          <a:bodyPr wrap="square" lIns="0" rIns="0" tIns="0" bIns="0" anchor="t">
            <a:spAutoFit/>
          </a:bodyPr>
          <a:lstStyle/>
          <a:p>
            <a:pPr algn="l"/>
            <a:r>
              <a:rPr sz="1500" b="0" i="0">
                <a:solidFill>
                  <a:srgbClr val="54565B"/>
                </a:solidFill>
                <a:latin typeface="Calibri"/>
              </a:rPr>
              <a:t>You walked out of session 1 with two things. Everything tonight runs on them.</a:t>
            </a:r>
          </a:p>
        </p:txBody>
      </p:sp>
      <p:sp>
        <p:nvSpPr>
          <p:cNvPr id="6" name="Rounded Rectangle 5"/>
          <p:cNvSpPr/>
          <p:nvPr/>
        </p:nvSpPr>
        <p:spPr>
          <a:xfrm>
            <a:off x="640080" y="2057400"/>
            <a:ext cx="5294376" cy="196596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24127" y="2377440"/>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600200" y="2404872"/>
            <a:ext cx="4023360" cy="365760"/>
          </a:xfrm>
          <a:prstGeom prst="rect">
            <a:avLst/>
          </a:prstGeom>
          <a:noFill/>
        </p:spPr>
        <p:txBody>
          <a:bodyPr wrap="square" lIns="0" rIns="0" tIns="0" bIns="0" anchor="t">
            <a:spAutoFit/>
          </a:bodyPr>
          <a:lstStyle/>
          <a:p>
            <a:pPr algn="l"/>
            <a:r>
              <a:rPr sz="2000" b="1" i="0">
                <a:solidFill>
                  <a:srgbClr val="17151A"/>
                </a:solidFill>
                <a:latin typeface="Cambria"/>
              </a:rPr>
              <a:t>A decision frame</a:t>
            </a:r>
          </a:p>
        </p:txBody>
      </p:sp>
      <p:sp>
        <p:nvSpPr>
          <p:cNvPr id="9" name="TextBox 8"/>
          <p:cNvSpPr txBox="1"/>
          <p:nvPr/>
        </p:nvSpPr>
        <p:spPr>
          <a:xfrm>
            <a:off x="1024127" y="2971800"/>
            <a:ext cx="4572000" cy="914400"/>
          </a:xfrm>
          <a:prstGeom prst="rect">
            <a:avLst/>
          </a:prstGeom>
          <a:noFill/>
        </p:spPr>
        <p:txBody>
          <a:bodyPr wrap="square" lIns="0" rIns="0" tIns="0" bIns="0" anchor="t">
            <a:spAutoFit/>
          </a:bodyPr>
          <a:lstStyle/>
          <a:p>
            <a:pPr algn="l"/>
            <a:r>
              <a:rPr sz="1350" b="0" i="0">
                <a:solidFill>
                  <a:srgbClr val="54565B"/>
                </a:solidFill>
                <a:latin typeface="Calibri"/>
              </a:rPr>
              <a:t>The question, who owns it, what forces it, what would change their mind, and how precise it has to be.</a:t>
            </a:r>
          </a:p>
        </p:txBody>
      </p:sp>
      <p:sp>
        <p:nvSpPr>
          <p:cNvPr id="10" name="Rounded Rectangle 9"/>
          <p:cNvSpPr/>
          <p:nvPr/>
        </p:nvSpPr>
        <p:spPr>
          <a:xfrm>
            <a:off x="6190488" y="2057400"/>
            <a:ext cx="5294376" cy="196596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74536" y="2377440"/>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2" name="TextBox 11"/>
          <p:cNvSpPr txBox="1"/>
          <p:nvPr/>
        </p:nvSpPr>
        <p:spPr>
          <a:xfrm>
            <a:off x="7150608" y="2404872"/>
            <a:ext cx="4023360" cy="365760"/>
          </a:xfrm>
          <a:prstGeom prst="rect">
            <a:avLst/>
          </a:prstGeom>
          <a:noFill/>
        </p:spPr>
        <p:txBody>
          <a:bodyPr wrap="square" lIns="0" rIns="0" tIns="0" bIns="0" anchor="t">
            <a:spAutoFit/>
          </a:bodyPr>
          <a:lstStyle/>
          <a:p>
            <a:pPr algn="l"/>
            <a:r>
              <a:rPr sz="2000" b="1" i="0">
                <a:solidFill>
                  <a:srgbClr val="17151A"/>
                </a:solidFill>
                <a:latin typeface="Cambria"/>
              </a:rPr>
              <a:t>A verdict on your data</a:t>
            </a:r>
          </a:p>
        </p:txBody>
      </p:sp>
      <p:sp>
        <p:nvSpPr>
          <p:cNvPr id="13" name="TextBox 12"/>
          <p:cNvSpPr txBox="1"/>
          <p:nvPr/>
        </p:nvSpPr>
        <p:spPr>
          <a:xfrm>
            <a:off x="6574536" y="2971800"/>
            <a:ext cx="4572000" cy="914400"/>
          </a:xfrm>
          <a:prstGeom prst="rect">
            <a:avLst/>
          </a:prstGeom>
          <a:noFill/>
        </p:spPr>
        <p:txBody>
          <a:bodyPr wrap="square" lIns="0" rIns="0" tIns="0" bIns="0" anchor="t">
            <a:spAutoFit/>
          </a:bodyPr>
          <a:lstStyle/>
          <a:p>
            <a:pPr algn="l"/>
            <a:r>
              <a:rPr sz="1350" b="0" i="0">
                <a:solidFill>
                  <a:srgbClr val="54565B"/>
                </a:solidFill>
                <a:latin typeface="Calibri"/>
              </a:rPr>
              <a:t>What it can support, what it can support with caveats, and what it cannot. Plus a cleaning log.</a:t>
            </a:r>
          </a:p>
        </p:txBody>
      </p:sp>
      <p:sp>
        <p:nvSpPr>
          <p:cNvPr id="14" name="Rounded Rectangle 13"/>
          <p:cNvSpPr/>
          <p:nvPr/>
        </p:nvSpPr>
        <p:spPr>
          <a:xfrm>
            <a:off x="640080" y="4343400"/>
            <a:ext cx="10911535" cy="137160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553712"/>
            <a:ext cx="7315200" cy="292608"/>
          </a:xfrm>
          <a:prstGeom prst="rect">
            <a:avLst/>
          </a:prstGeom>
          <a:noFill/>
        </p:spPr>
        <p:txBody>
          <a:bodyPr wrap="square" lIns="0" rIns="0" tIns="0" bIns="0" anchor="t">
            <a:spAutoFit/>
          </a:bodyPr>
          <a:lstStyle/>
          <a:p>
            <a:pPr algn="l"/>
            <a:r>
              <a:rPr sz="1500" b="1" i="0">
                <a:solidFill>
                  <a:srgbClr val="BA0C2F"/>
                </a:solidFill>
                <a:latin typeface="Calibri"/>
              </a:rPr>
              <a:t>Missed session 1, or your frame is thin?</a:t>
            </a:r>
          </a:p>
        </p:txBody>
      </p:sp>
      <p:sp>
        <p:nvSpPr>
          <p:cNvPr id="16" name="TextBox 15"/>
          <p:cNvSpPr txBox="1"/>
          <p:nvPr/>
        </p:nvSpPr>
        <p:spPr>
          <a:xfrm>
            <a:off x="1051560" y="4873752"/>
            <a:ext cx="10058400" cy="685800"/>
          </a:xfrm>
          <a:prstGeom prst="rect">
            <a:avLst/>
          </a:prstGeom>
          <a:noFill/>
        </p:spPr>
        <p:txBody>
          <a:bodyPr wrap="square" lIns="0" rIns="0" tIns="0" bIns="0" anchor="t">
            <a:spAutoFit/>
          </a:bodyPr>
          <a:lstStyle/>
          <a:p>
            <a:pPr algn="l"/>
            <a:r>
              <a:rPr sz="1350" b="0" i="0">
                <a:solidFill>
                  <a:srgbClr val="17151A"/>
                </a:solidFill>
                <a:latin typeface="Calibri"/>
              </a:rPr>
              <a:t>Not a problem. Say “help me frame my decision” and give it ten minutes while everyone else scopes. You will still finish tonight. Use the practice data so you are not also solving a data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YOUR USE CASE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Pick one. Maybe two.</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54480"/>
            <a:ext cx="10515600" cy="292608"/>
          </a:xfrm>
          <a:prstGeom prst="rect">
            <a:avLst/>
          </a:prstGeom>
          <a:noFill/>
        </p:spPr>
        <p:txBody>
          <a:bodyPr wrap="square" lIns="0" rIns="0" tIns="0" bIns="0" anchor="t">
            <a:spAutoFit/>
          </a:bodyPr>
          <a:lstStyle/>
          <a:p>
            <a:pPr algn="l"/>
            <a:r>
              <a:rPr sz="1450" b="0" i="0">
                <a:solidFill>
                  <a:srgbClr val="54565B"/>
                </a:solidFill>
                <a:latin typeface="Calibri"/>
              </a:rPr>
              <a:t>Each one is a module you have already finished, pointed at a decision you actually have.</a:t>
            </a:r>
          </a:p>
        </p:txBody>
      </p:sp>
      <p:sp>
        <p:nvSpPr>
          <p:cNvPr id="6" name="Rounded Rectangle 5"/>
          <p:cNvSpPr/>
          <p:nvPr/>
        </p:nvSpPr>
        <p:spPr>
          <a:xfrm>
            <a:off x="640080" y="2011680"/>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167128"/>
            <a:ext cx="2377440" cy="256032"/>
          </a:xfrm>
          <a:prstGeom prst="rect">
            <a:avLst/>
          </a:prstGeom>
          <a:noFill/>
        </p:spPr>
        <p:txBody>
          <a:bodyPr wrap="square" lIns="0" rIns="0" tIns="0" bIns="0" anchor="t">
            <a:spAutoFit/>
          </a:bodyPr>
          <a:lstStyle/>
          <a:p>
            <a:pPr algn="l"/>
            <a:r>
              <a:rPr sz="1350" b="1" i="0">
                <a:solidFill>
                  <a:srgbClr val="17151A"/>
                </a:solidFill>
                <a:latin typeface="Calibri"/>
              </a:rPr>
              <a:t>KPI dashboard</a:t>
            </a:r>
          </a:p>
        </p:txBody>
      </p:sp>
      <p:sp>
        <p:nvSpPr>
          <p:cNvPr id="8" name="TextBox 7"/>
          <p:cNvSpPr txBox="1"/>
          <p:nvPr/>
        </p:nvSpPr>
        <p:spPr>
          <a:xfrm>
            <a:off x="3291839" y="2176272"/>
            <a:ext cx="731520" cy="228600"/>
          </a:xfrm>
          <a:prstGeom prst="rect">
            <a:avLst/>
          </a:prstGeom>
          <a:noFill/>
        </p:spPr>
        <p:txBody>
          <a:bodyPr wrap="square" lIns="0" rIns="0" tIns="0" bIns="0" anchor="t">
            <a:spAutoFit/>
          </a:bodyPr>
          <a:lstStyle/>
          <a:p>
            <a:pPr algn="l"/>
            <a:r>
              <a:rPr sz="1050" b="1" i="0">
                <a:solidFill>
                  <a:srgbClr val="375060"/>
                </a:solidFill>
                <a:latin typeface="Calibri"/>
              </a:rPr>
              <a:t>Mod 01</a:t>
            </a:r>
          </a:p>
        </p:txBody>
      </p:sp>
      <p:sp>
        <p:nvSpPr>
          <p:cNvPr id="9" name="TextBox 8"/>
          <p:cNvSpPr txBox="1"/>
          <p:nvPr/>
        </p:nvSpPr>
        <p:spPr>
          <a:xfrm>
            <a:off x="877824" y="2487168"/>
            <a:ext cx="2926080" cy="457200"/>
          </a:xfrm>
          <a:prstGeom prst="rect">
            <a:avLst/>
          </a:prstGeom>
          <a:noFill/>
        </p:spPr>
        <p:txBody>
          <a:bodyPr wrap="square" lIns="0" rIns="0" tIns="0" bIns="0" anchor="t">
            <a:spAutoFit/>
          </a:bodyPr>
          <a:lstStyle/>
          <a:p>
            <a:pPr algn="l"/>
            <a:r>
              <a:rPr sz="1200" b="0" i="0">
                <a:solidFill>
                  <a:srgbClr val="54565B"/>
                </a:solidFill>
                <a:latin typeface="Calibri"/>
              </a:rPr>
              <a:t>Where do we stand right now?</a:t>
            </a:r>
          </a:p>
        </p:txBody>
      </p:sp>
      <p:sp>
        <p:nvSpPr>
          <p:cNvPr id="10" name="Rounded Rectangle 9"/>
          <p:cNvSpPr/>
          <p:nvPr/>
        </p:nvSpPr>
        <p:spPr>
          <a:xfrm>
            <a:off x="4279392" y="2011680"/>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167128"/>
            <a:ext cx="2377440" cy="256032"/>
          </a:xfrm>
          <a:prstGeom prst="rect">
            <a:avLst/>
          </a:prstGeom>
          <a:noFill/>
        </p:spPr>
        <p:txBody>
          <a:bodyPr wrap="square" lIns="0" rIns="0" tIns="0" bIns="0" anchor="t">
            <a:spAutoFit/>
          </a:bodyPr>
          <a:lstStyle/>
          <a:p>
            <a:pPr algn="l"/>
            <a:r>
              <a:rPr sz="1350" b="1" i="0">
                <a:solidFill>
                  <a:srgbClr val="17151A"/>
                </a:solidFill>
                <a:latin typeface="Calibri"/>
              </a:rPr>
              <a:t>A/B test readout</a:t>
            </a:r>
          </a:p>
        </p:txBody>
      </p:sp>
      <p:sp>
        <p:nvSpPr>
          <p:cNvPr id="12" name="TextBox 11"/>
          <p:cNvSpPr txBox="1"/>
          <p:nvPr/>
        </p:nvSpPr>
        <p:spPr>
          <a:xfrm>
            <a:off x="6931152" y="2176272"/>
            <a:ext cx="731520" cy="228600"/>
          </a:xfrm>
          <a:prstGeom prst="rect">
            <a:avLst/>
          </a:prstGeom>
          <a:noFill/>
        </p:spPr>
        <p:txBody>
          <a:bodyPr wrap="square" lIns="0" rIns="0" tIns="0" bIns="0" anchor="t">
            <a:spAutoFit/>
          </a:bodyPr>
          <a:lstStyle/>
          <a:p>
            <a:pPr algn="l"/>
            <a:r>
              <a:rPr sz="1050" b="1" i="0">
                <a:solidFill>
                  <a:srgbClr val="375060"/>
                </a:solidFill>
                <a:latin typeface="Calibri"/>
              </a:rPr>
              <a:t>Mod 04-06</a:t>
            </a:r>
          </a:p>
        </p:txBody>
      </p:sp>
      <p:sp>
        <p:nvSpPr>
          <p:cNvPr id="13" name="TextBox 12"/>
          <p:cNvSpPr txBox="1"/>
          <p:nvPr/>
        </p:nvSpPr>
        <p:spPr>
          <a:xfrm>
            <a:off x="4517136" y="2487168"/>
            <a:ext cx="2926080" cy="457200"/>
          </a:xfrm>
          <a:prstGeom prst="rect">
            <a:avLst/>
          </a:prstGeom>
          <a:noFill/>
        </p:spPr>
        <p:txBody>
          <a:bodyPr wrap="square" lIns="0" rIns="0" tIns="0" bIns="0" anchor="t">
            <a:spAutoFit/>
          </a:bodyPr>
          <a:lstStyle/>
          <a:p>
            <a:pPr algn="l"/>
            <a:r>
              <a:rPr sz="1200" b="0" i="0">
                <a:solidFill>
                  <a:srgbClr val="54565B"/>
                </a:solidFill>
                <a:latin typeface="Calibri"/>
              </a:rPr>
              <a:t>Did the thing we tried work?</a:t>
            </a:r>
          </a:p>
        </p:txBody>
      </p:sp>
      <p:sp>
        <p:nvSpPr>
          <p:cNvPr id="14" name="Rounded Rectangle 13"/>
          <p:cNvSpPr/>
          <p:nvPr/>
        </p:nvSpPr>
        <p:spPr>
          <a:xfrm>
            <a:off x="7918704" y="2011680"/>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2167128"/>
            <a:ext cx="2377440" cy="256032"/>
          </a:xfrm>
          <a:prstGeom prst="rect">
            <a:avLst/>
          </a:prstGeom>
          <a:noFill/>
        </p:spPr>
        <p:txBody>
          <a:bodyPr wrap="square" lIns="0" rIns="0" tIns="0" bIns="0" anchor="t">
            <a:spAutoFit/>
          </a:bodyPr>
          <a:lstStyle/>
          <a:p>
            <a:pPr algn="l"/>
            <a:r>
              <a:rPr sz="1350" b="1" i="0">
                <a:solidFill>
                  <a:srgbClr val="17151A"/>
                </a:solidFill>
                <a:latin typeface="Calibri"/>
              </a:rPr>
              <a:t>Forecast</a:t>
            </a:r>
          </a:p>
        </p:txBody>
      </p:sp>
      <p:sp>
        <p:nvSpPr>
          <p:cNvPr id="16" name="TextBox 15"/>
          <p:cNvSpPr txBox="1"/>
          <p:nvPr/>
        </p:nvSpPr>
        <p:spPr>
          <a:xfrm>
            <a:off x="10570464" y="2176272"/>
            <a:ext cx="731520" cy="228600"/>
          </a:xfrm>
          <a:prstGeom prst="rect">
            <a:avLst/>
          </a:prstGeom>
          <a:noFill/>
        </p:spPr>
        <p:txBody>
          <a:bodyPr wrap="square" lIns="0" rIns="0" tIns="0" bIns="0" anchor="t">
            <a:spAutoFit/>
          </a:bodyPr>
          <a:lstStyle/>
          <a:p>
            <a:pPr algn="l"/>
            <a:r>
              <a:rPr sz="1050" b="1" i="0">
                <a:solidFill>
                  <a:srgbClr val="375060"/>
                </a:solidFill>
                <a:latin typeface="Calibri"/>
              </a:rPr>
              <a:t>Mod 09</a:t>
            </a:r>
          </a:p>
        </p:txBody>
      </p:sp>
      <p:sp>
        <p:nvSpPr>
          <p:cNvPr id="17" name="TextBox 16"/>
          <p:cNvSpPr txBox="1"/>
          <p:nvPr/>
        </p:nvSpPr>
        <p:spPr>
          <a:xfrm>
            <a:off x="8156448" y="2487168"/>
            <a:ext cx="2926080" cy="457200"/>
          </a:xfrm>
          <a:prstGeom prst="rect">
            <a:avLst/>
          </a:prstGeom>
          <a:noFill/>
        </p:spPr>
        <p:txBody>
          <a:bodyPr wrap="square" lIns="0" rIns="0" tIns="0" bIns="0" anchor="t">
            <a:spAutoFit/>
          </a:bodyPr>
          <a:lstStyle/>
          <a:p>
            <a:pPr algn="l"/>
            <a:r>
              <a:rPr sz="1200" b="0" i="0">
                <a:solidFill>
                  <a:srgbClr val="54565B"/>
                </a:solidFill>
                <a:latin typeface="Calibri"/>
              </a:rPr>
              <a:t>What will this number be?</a:t>
            </a:r>
          </a:p>
        </p:txBody>
      </p:sp>
      <p:sp>
        <p:nvSpPr>
          <p:cNvPr id="18" name="Rounded Rectangle 17"/>
          <p:cNvSpPr/>
          <p:nvPr/>
        </p:nvSpPr>
        <p:spPr>
          <a:xfrm>
            <a:off x="640080" y="3218688"/>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3374136"/>
            <a:ext cx="2377440" cy="256032"/>
          </a:xfrm>
          <a:prstGeom prst="rect">
            <a:avLst/>
          </a:prstGeom>
          <a:noFill/>
        </p:spPr>
        <p:txBody>
          <a:bodyPr wrap="square" lIns="0" rIns="0" tIns="0" bIns="0" anchor="t">
            <a:spAutoFit/>
          </a:bodyPr>
          <a:lstStyle/>
          <a:p>
            <a:pPr algn="l"/>
            <a:r>
              <a:rPr sz="1350" b="1" i="0">
                <a:solidFill>
                  <a:srgbClr val="17151A"/>
                </a:solidFill>
                <a:latin typeface="Calibri"/>
              </a:rPr>
              <a:t>Risk scorer</a:t>
            </a:r>
          </a:p>
        </p:txBody>
      </p:sp>
      <p:sp>
        <p:nvSpPr>
          <p:cNvPr id="20" name="TextBox 19"/>
          <p:cNvSpPr txBox="1"/>
          <p:nvPr/>
        </p:nvSpPr>
        <p:spPr>
          <a:xfrm>
            <a:off x="3291839" y="3383280"/>
            <a:ext cx="731520" cy="228600"/>
          </a:xfrm>
          <a:prstGeom prst="rect">
            <a:avLst/>
          </a:prstGeom>
          <a:noFill/>
        </p:spPr>
        <p:txBody>
          <a:bodyPr wrap="square" lIns="0" rIns="0" tIns="0" bIns="0" anchor="t">
            <a:spAutoFit/>
          </a:bodyPr>
          <a:lstStyle/>
          <a:p>
            <a:pPr algn="l"/>
            <a:r>
              <a:rPr sz="1050" b="1" i="0">
                <a:solidFill>
                  <a:srgbClr val="375060"/>
                </a:solidFill>
                <a:latin typeface="Calibri"/>
              </a:rPr>
              <a:t>Mod 07</a:t>
            </a:r>
          </a:p>
        </p:txBody>
      </p:sp>
      <p:sp>
        <p:nvSpPr>
          <p:cNvPr id="21" name="TextBox 20"/>
          <p:cNvSpPr txBox="1"/>
          <p:nvPr/>
        </p:nvSpPr>
        <p:spPr>
          <a:xfrm>
            <a:off x="877824" y="3694176"/>
            <a:ext cx="2926080" cy="457200"/>
          </a:xfrm>
          <a:prstGeom prst="rect">
            <a:avLst/>
          </a:prstGeom>
          <a:noFill/>
        </p:spPr>
        <p:txBody>
          <a:bodyPr wrap="square" lIns="0" rIns="0" tIns="0" bIns="0" anchor="t">
            <a:spAutoFit/>
          </a:bodyPr>
          <a:lstStyle/>
          <a:p>
            <a:pPr algn="l"/>
            <a:r>
              <a:rPr sz="1200" b="0" i="0">
                <a:solidFill>
                  <a:srgbClr val="54565B"/>
                </a:solidFill>
                <a:latin typeface="Calibri"/>
              </a:rPr>
              <a:t>Who do we act on first?</a:t>
            </a:r>
          </a:p>
        </p:txBody>
      </p:sp>
      <p:sp>
        <p:nvSpPr>
          <p:cNvPr id="22" name="Rounded Rectangle 21"/>
          <p:cNvSpPr/>
          <p:nvPr/>
        </p:nvSpPr>
        <p:spPr>
          <a:xfrm>
            <a:off x="4279392" y="3218688"/>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17136" y="3374136"/>
            <a:ext cx="2377440" cy="256032"/>
          </a:xfrm>
          <a:prstGeom prst="rect">
            <a:avLst/>
          </a:prstGeom>
          <a:noFill/>
        </p:spPr>
        <p:txBody>
          <a:bodyPr wrap="square" lIns="0" rIns="0" tIns="0" bIns="0" anchor="t">
            <a:spAutoFit/>
          </a:bodyPr>
          <a:lstStyle/>
          <a:p>
            <a:pPr algn="l"/>
            <a:r>
              <a:rPr sz="1350" b="1" i="0">
                <a:solidFill>
                  <a:srgbClr val="17151A"/>
                </a:solidFill>
                <a:latin typeface="Calibri"/>
              </a:rPr>
              <a:t>What-if calculator</a:t>
            </a:r>
          </a:p>
        </p:txBody>
      </p:sp>
      <p:sp>
        <p:nvSpPr>
          <p:cNvPr id="24" name="TextBox 23"/>
          <p:cNvSpPr txBox="1"/>
          <p:nvPr/>
        </p:nvSpPr>
        <p:spPr>
          <a:xfrm>
            <a:off x="6931152" y="3383280"/>
            <a:ext cx="731520" cy="228600"/>
          </a:xfrm>
          <a:prstGeom prst="rect">
            <a:avLst/>
          </a:prstGeom>
          <a:noFill/>
        </p:spPr>
        <p:txBody>
          <a:bodyPr wrap="square" lIns="0" rIns="0" tIns="0" bIns="0" anchor="t">
            <a:spAutoFit/>
          </a:bodyPr>
          <a:lstStyle/>
          <a:p>
            <a:pPr algn="l"/>
            <a:r>
              <a:rPr sz="1050" b="1" i="0">
                <a:solidFill>
                  <a:srgbClr val="375060"/>
                </a:solidFill>
                <a:latin typeface="Calibri"/>
              </a:rPr>
              <a:t>Mod 08</a:t>
            </a:r>
          </a:p>
        </p:txBody>
      </p:sp>
      <p:sp>
        <p:nvSpPr>
          <p:cNvPr id="25" name="TextBox 24"/>
          <p:cNvSpPr txBox="1"/>
          <p:nvPr/>
        </p:nvSpPr>
        <p:spPr>
          <a:xfrm>
            <a:off x="4517136" y="3694176"/>
            <a:ext cx="2926080" cy="457200"/>
          </a:xfrm>
          <a:prstGeom prst="rect">
            <a:avLst/>
          </a:prstGeom>
          <a:noFill/>
        </p:spPr>
        <p:txBody>
          <a:bodyPr wrap="square" lIns="0" rIns="0" tIns="0" bIns="0" anchor="t">
            <a:spAutoFit/>
          </a:bodyPr>
          <a:lstStyle/>
          <a:p>
            <a:pPr algn="l"/>
            <a:r>
              <a:rPr sz="1200" b="0" i="0">
                <a:solidFill>
                  <a:srgbClr val="54565B"/>
                </a:solidFill>
                <a:latin typeface="Calibri"/>
              </a:rPr>
              <a:t>What happens if we are wrong?</a:t>
            </a:r>
          </a:p>
        </p:txBody>
      </p:sp>
      <p:sp>
        <p:nvSpPr>
          <p:cNvPr id="26" name="Rounded Rectangle 25"/>
          <p:cNvSpPr/>
          <p:nvPr/>
        </p:nvSpPr>
        <p:spPr>
          <a:xfrm>
            <a:off x="7918704" y="3218688"/>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6448" y="3374136"/>
            <a:ext cx="2377440" cy="256032"/>
          </a:xfrm>
          <a:prstGeom prst="rect">
            <a:avLst/>
          </a:prstGeom>
          <a:noFill/>
        </p:spPr>
        <p:txBody>
          <a:bodyPr wrap="square" lIns="0" rIns="0" tIns="0" bIns="0" anchor="t">
            <a:spAutoFit/>
          </a:bodyPr>
          <a:lstStyle/>
          <a:p>
            <a:pPr algn="l"/>
            <a:r>
              <a:rPr sz="1350" b="1" i="0">
                <a:solidFill>
                  <a:srgbClr val="17151A"/>
                </a:solidFill>
                <a:latin typeface="Calibri"/>
              </a:rPr>
              <a:t>Survey synthesizer</a:t>
            </a:r>
          </a:p>
        </p:txBody>
      </p:sp>
      <p:sp>
        <p:nvSpPr>
          <p:cNvPr id="28" name="TextBox 27"/>
          <p:cNvSpPr txBox="1"/>
          <p:nvPr/>
        </p:nvSpPr>
        <p:spPr>
          <a:xfrm>
            <a:off x="10570464" y="3383280"/>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29" name="TextBox 28"/>
          <p:cNvSpPr txBox="1"/>
          <p:nvPr/>
        </p:nvSpPr>
        <p:spPr>
          <a:xfrm>
            <a:off x="8156448" y="3694176"/>
            <a:ext cx="2926080" cy="457200"/>
          </a:xfrm>
          <a:prstGeom prst="rect">
            <a:avLst/>
          </a:prstGeom>
          <a:noFill/>
        </p:spPr>
        <p:txBody>
          <a:bodyPr wrap="square" lIns="0" rIns="0" tIns="0" bIns="0" anchor="t">
            <a:spAutoFit/>
          </a:bodyPr>
          <a:lstStyle/>
          <a:p>
            <a:pPr algn="l"/>
            <a:r>
              <a:rPr sz="1200" b="0" i="0">
                <a:solidFill>
                  <a:srgbClr val="54565B"/>
                </a:solidFill>
                <a:latin typeface="Calibri"/>
              </a:rPr>
              <a:t>What are people actually saying?</a:t>
            </a:r>
          </a:p>
        </p:txBody>
      </p:sp>
      <p:sp>
        <p:nvSpPr>
          <p:cNvPr id="30" name="Rounded Rectangle 29"/>
          <p:cNvSpPr/>
          <p:nvPr/>
        </p:nvSpPr>
        <p:spPr>
          <a:xfrm>
            <a:off x="640080" y="4425696"/>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4581144"/>
            <a:ext cx="2377440" cy="256032"/>
          </a:xfrm>
          <a:prstGeom prst="rect">
            <a:avLst/>
          </a:prstGeom>
          <a:noFill/>
        </p:spPr>
        <p:txBody>
          <a:bodyPr wrap="square" lIns="0" rIns="0" tIns="0" bIns="0" anchor="t">
            <a:spAutoFit/>
          </a:bodyPr>
          <a:lstStyle/>
          <a:p>
            <a:pPr algn="l"/>
            <a:r>
              <a:rPr sz="1350" b="1" i="0">
                <a:solidFill>
                  <a:srgbClr val="17151A"/>
                </a:solidFill>
                <a:latin typeface="Calibri"/>
              </a:rPr>
              <a:t>Data cleaning assistant</a:t>
            </a:r>
          </a:p>
        </p:txBody>
      </p:sp>
      <p:sp>
        <p:nvSpPr>
          <p:cNvPr id="32" name="TextBox 31"/>
          <p:cNvSpPr txBox="1"/>
          <p:nvPr/>
        </p:nvSpPr>
        <p:spPr>
          <a:xfrm>
            <a:off x="3291839" y="4590288"/>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33" name="TextBox 32"/>
          <p:cNvSpPr txBox="1"/>
          <p:nvPr/>
        </p:nvSpPr>
        <p:spPr>
          <a:xfrm>
            <a:off x="877824" y="4901183"/>
            <a:ext cx="2926080" cy="457200"/>
          </a:xfrm>
          <a:prstGeom prst="rect">
            <a:avLst/>
          </a:prstGeom>
          <a:noFill/>
        </p:spPr>
        <p:txBody>
          <a:bodyPr wrap="square" lIns="0" rIns="0" tIns="0" bIns="0" anchor="t">
            <a:spAutoFit/>
          </a:bodyPr>
          <a:lstStyle/>
          <a:p>
            <a:pPr algn="l"/>
            <a:r>
              <a:rPr sz="1200" b="0" i="0">
                <a:solidFill>
                  <a:srgbClr val="54565B"/>
                </a:solidFill>
                <a:latin typeface="Calibri"/>
              </a:rPr>
              <a:t>Can we trust this at all?</a:t>
            </a:r>
          </a:p>
        </p:txBody>
      </p:sp>
      <p:sp>
        <p:nvSpPr>
          <p:cNvPr id="34" name="Rounded Rectangle 33"/>
          <p:cNvSpPr/>
          <p:nvPr/>
        </p:nvSpPr>
        <p:spPr>
          <a:xfrm>
            <a:off x="4279392" y="4425696"/>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4581144"/>
            <a:ext cx="2377440" cy="256032"/>
          </a:xfrm>
          <a:prstGeom prst="rect">
            <a:avLst/>
          </a:prstGeom>
          <a:noFill/>
        </p:spPr>
        <p:txBody>
          <a:bodyPr wrap="square" lIns="0" rIns="0" tIns="0" bIns="0" anchor="t">
            <a:spAutoFit/>
          </a:bodyPr>
          <a:lstStyle/>
          <a:p>
            <a:pPr algn="l"/>
            <a:r>
              <a:rPr sz="1350" b="1" i="0">
                <a:solidFill>
                  <a:srgbClr val="17151A"/>
                </a:solidFill>
                <a:latin typeface="Calibri"/>
              </a:rPr>
              <a:t>Meeting to actions</a:t>
            </a:r>
          </a:p>
        </p:txBody>
      </p:sp>
      <p:sp>
        <p:nvSpPr>
          <p:cNvPr id="36" name="TextBox 35"/>
          <p:cNvSpPr txBox="1"/>
          <p:nvPr/>
        </p:nvSpPr>
        <p:spPr>
          <a:xfrm>
            <a:off x="6931152" y="4590288"/>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37" name="TextBox 36"/>
          <p:cNvSpPr txBox="1"/>
          <p:nvPr/>
        </p:nvSpPr>
        <p:spPr>
          <a:xfrm>
            <a:off x="4517136" y="4901183"/>
            <a:ext cx="2926080" cy="457200"/>
          </a:xfrm>
          <a:prstGeom prst="rect">
            <a:avLst/>
          </a:prstGeom>
          <a:noFill/>
        </p:spPr>
        <p:txBody>
          <a:bodyPr wrap="square" lIns="0" rIns="0" tIns="0" bIns="0" anchor="t">
            <a:spAutoFit/>
          </a:bodyPr>
          <a:lstStyle/>
          <a:p>
            <a:pPr algn="l"/>
            <a:r>
              <a:rPr sz="1200" b="0" i="0">
                <a:solidFill>
                  <a:srgbClr val="54565B"/>
                </a:solidFill>
                <a:latin typeface="Calibri"/>
              </a:rPr>
              <a:t>Who owns what, by when?</a:t>
            </a:r>
          </a:p>
        </p:txBody>
      </p:sp>
      <p:sp>
        <p:nvSpPr>
          <p:cNvPr id="38" name="Rounded Rectangle 37"/>
          <p:cNvSpPr/>
          <p:nvPr/>
        </p:nvSpPr>
        <p:spPr>
          <a:xfrm>
            <a:off x="7918704" y="4425696"/>
            <a:ext cx="3401568" cy="102412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4581144"/>
            <a:ext cx="2377440" cy="256032"/>
          </a:xfrm>
          <a:prstGeom prst="rect">
            <a:avLst/>
          </a:prstGeom>
          <a:noFill/>
        </p:spPr>
        <p:txBody>
          <a:bodyPr wrap="square" lIns="0" rIns="0" tIns="0" bIns="0" anchor="t">
            <a:spAutoFit/>
          </a:bodyPr>
          <a:lstStyle/>
          <a:p>
            <a:pPr algn="l"/>
            <a:r>
              <a:rPr sz="1350" b="1" i="0">
                <a:solidFill>
                  <a:srgbClr val="17151A"/>
                </a:solidFill>
                <a:latin typeface="Calibri"/>
              </a:rPr>
              <a:t>Knowledge assistant</a:t>
            </a:r>
          </a:p>
        </p:txBody>
      </p:sp>
      <p:sp>
        <p:nvSpPr>
          <p:cNvPr id="40" name="TextBox 39"/>
          <p:cNvSpPr txBox="1"/>
          <p:nvPr/>
        </p:nvSpPr>
        <p:spPr>
          <a:xfrm>
            <a:off x="10570464" y="4590288"/>
            <a:ext cx="731520" cy="228600"/>
          </a:xfrm>
          <a:prstGeom prst="rect">
            <a:avLst/>
          </a:prstGeom>
          <a:noFill/>
        </p:spPr>
        <p:txBody>
          <a:bodyPr wrap="square" lIns="0" rIns="0" tIns="0" bIns="0" anchor="t">
            <a:spAutoFit/>
          </a:bodyPr>
          <a:lstStyle/>
          <a:p>
            <a:pPr algn="l"/>
            <a:r>
              <a:rPr sz="1050" b="1" i="0">
                <a:solidFill>
                  <a:srgbClr val="375060"/>
                </a:solidFill>
                <a:latin typeface="Calibri"/>
              </a:rPr>
              <a:t>-</a:t>
            </a:r>
          </a:p>
        </p:txBody>
      </p:sp>
      <p:sp>
        <p:nvSpPr>
          <p:cNvPr id="41" name="TextBox 40"/>
          <p:cNvSpPr txBox="1"/>
          <p:nvPr/>
        </p:nvSpPr>
        <p:spPr>
          <a:xfrm>
            <a:off x="8156448" y="4901183"/>
            <a:ext cx="2926080" cy="457200"/>
          </a:xfrm>
          <a:prstGeom prst="rect">
            <a:avLst/>
          </a:prstGeom>
          <a:noFill/>
        </p:spPr>
        <p:txBody>
          <a:bodyPr wrap="square" lIns="0" rIns="0" tIns="0" bIns="0" anchor="t">
            <a:spAutoFit/>
          </a:bodyPr>
          <a:lstStyle/>
          <a:p>
            <a:pPr algn="l"/>
            <a:r>
              <a:rPr sz="1200" b="0" i="0">
                <a:solidFill>
                  <a:srgbClr val="54565B"/>
                </a:solidFill>
                <a:latin typeface="Calibri"/>
              </a:rPr>
              <a:t>Answer this from our own documents.</a:t>
            </a:r>
          </a:p>
        </p:txBody>
      </p:sp>
      <p:sp>
        <p:nvSpPr>
          <p:cNvPr id="42" name="TextBox 41"/>
          <p:cNvSpPr txBox="1"/>
          <p:nvPr/>
        </p:nvSpPr>
        <p:spPr>
          <a:xfrm>
            <a:off x="640080" y="5833872"/>
            <a:ext cx="10789920" cy="320040"/>
          </a:xfrm>
          <a:prstGeom prst="rect">
            <a:avLst/>
          </a:prstGeom>
          <a:noFill/>
        </p:spPr>
        <p:txBody>
          <a:bodyPr wrap="square" lIns="0" rIns="0" tIns="0" bIns="0" anchor="t">
            <a:spAutoFit/>
          </a:bodyPr>
          <a:lstStyle/>
          <a:p>
            <a:pPr algn="l"/>
            <a:r>
              <a:rPr sz="1400" b="1" i="0">
                <a:solidFill>
                  <a:srgbClr val="BA0C2F"/>
                </a:solidFill>
                <a:latin typeface="Calibri"/>
              </a:rPr>
              <a:t>Not sure? Ask your AI: which skill should I use?   It routes on the shape of your problem, not the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SCOPE IT</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Fifteen minutes before you touch anything</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72768"/>
            <a:ext cx="10515600" cy="320040"/>
          </a:xfrm>
          <a:prstGeom prst="rect">
            <a:avLst/>
          </a:prstGeom>
          <a:noFill/>
        </p:spPr>
        <p:txBody>
          <a:bodyPr wrap="square" lIns="0" rIns="0" tIns="0" bIns="0" anchor="t">
            <a:spAutoFit/>
          </a:bodyPr>
          <a:lstStyle/>
          <a:p>
            <a:pPr algn="l"/>
            <a:r>
              <a:rPr sz="1500" b="0" i="0">
                <a:solidFill>
                  <a:srgbClr val="54565B"/>
                </a:solidFill>
                <a:latin typeface="Calibri"/>
              </a:rPr>
              <a:t>Open your build spec and fill the top half. This is the fifteen minutes that saves the hour.</a:t>
            </a:r>
          </a:p>
        </p:txBody>
      </p:sp>
      <p:sp>
        <p:nvSpPr>
          <p:cNvPr id="6" name="Oval 5"/>
          <p:cNvSpPr/>
          <p:nvPr/>
        </p:nvSpPr>
        <p:spPr>
          <a:xfrm>
            <a:off x="640080" y="2121408"/>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207007" y="2112264"/>
            <a:ext cx="4754880" cy="320040"/>
          </a:xfrm>
          <a:prstGeom prst="rect">
            <a:avLst/>
          </a:prstGeom>
          <a:noFill/>
        </p:spPr>
        <p:txBody>
          <a:bodyPr wrap="square" lIns="0" rIns="0" tIns="0" bIns="0" anchor="t">
            <a:spAutoFit/>
          </a:bodyPr>
          <a:lstStyle/>
          <a:p>
            <a:pPr algn="l"/>
            <a:r>
              <a:rPr sz="1600" b="1" i="0">
                <a:solidFill>
                  <a:srgbClr val="17151A"/>
                </a:solidFill>
                <a:latin typeface="Calibri"/>
              </a:rPr>
              <a:t>Who uses it after tonight?</a:t>
            </a:r>
          </a:p>
        </p:txBody>
      </p:sp>
      <p:sp>
        <p:nvSpPr>
          <p:cNvPr id="8" name="TextBox 7"/>
          <p:cNvSpPr txBox="1"/>
          <p:nvPr/>
        </p:nvSpPr>
        <p:spPr>
          <a:xfrm>
            <a:off x="6126480" y="2121408"/>
            <a:ext cx="5120640" cy="548640"/>
          </a:xfrm>
          <a:prstGeom prst="rect">
            <a:avLst/>
          </a:prstGeom>
          <a:noFill/>
        </p:spPr>
        <p:txBody>
          <a:bodyPr wrap="square" lIns="0" rIns="0" tIns="0" bIns="0" anchor="t">
            <a:spAutoFit/>
          </a:bodyPr>
          <a:lstStyle/>
          <a:p>
            <a:pPr algn="l"/>
            <a:r>
              <a:rPr sz="1350" b="0" i="0">
                <a:solidFill>
                  <a:srgbClr val="54565B"/>
                </a:solidFill>
                <a:latin typeface="Calibri"/>
              </a:rPr>
              <a:t>You, your team, or an executive who opens it once.</a:t>
            </a:r>
          </a:p>
        </p:txBody>
      </p:sp>
      <p:sp>
        <p:nvSpPr>
          <p:cNvPr id="9" name="Oval 8"/>
          <p:cNvSpPr/>
          <p:nvPr/>
        </p:nvSpPr>
        <p:spPr>
          <a:xfrm>
            <a:off x="640080" y="2871215"/>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207007" y="2862072"/>
            <a:ext cx="4754880" cy="320040"/>
          </a:xfrm>
          <a:prstGeom prst="rect">
            <a:avLst/>
          </a:prstGeom>
          <a:noFill/>
        </p:spPr>
        <p:txBody>
          <a:bodyPr wrap="square" lIns="0" rIns="0" tIns="0" bIns="0" anchor="t">
            <a:spAutoFit/>
          </a:bodyPr>
          <a:lstStyle/>
          <a:p>
            <a:pPr algn="l"/>
            <a:r>
              <a:rPr sz="1600" b="1" i="0">
                <a:solidFill>
                  <a:srgbClr val="17151A"/>
                </a:solidFill>
                <a:latin typeface="Calibri"/>
              </a:rPr>
              <a:t>Does it refresh, or is it a one-time answer?</a:t>
            </a:r>
          </a:p>
        </p:txBody>
      </p:sp>
      <p:sp>
        <p:nvSpPr>
          <p:cNvPr id="11" name="TextBox 10"/>
          <p:cNvSpPr txBox="1"/>
          <p:nvPr/>
        </p:nvSpPr>
        <p:spPr>
          <a:xfrm>
            <a:off x="6126480" y="2871215"/>
            <a:ext cx="5120640" cy="548640"/>
          </a:xfrm>
          <a:prstGeom prst="rect">
            <a:avLst/>
          </a:prstGeom>
          <a:noFill/>
        </p:spPr>
        <p:txBody>
          <a:bodyPr wrap="square" lIns="0" rIns="0" tIns="0" bIns="0" anchor="t">
            <a:spAutoFit/>
          </a:bodyPr>
          <a:lstStyle/>
          <a:p>
            <a:pPr algn="l"/>
            <a:r>
              <a:rPr sz="1350" b="0" i="0">
                <a:solidFill>
                  <a:srgbClr val="54565B"/>
                </a:solidFill>
                <a:latin typeface="Calibri"/>
              </a:rPr>
              <a:t>This is the biggest fork in the road.</a:t>
            </a:r>
          </a:p>
        </p:txBody>
      </p:sp>
      <p:sp>
        <p:nvSpPr>
          <p:cNvPr id="12" name="Oval 11"/>
          <p:cNvSpPr/>
          <p:nvPr/>
        </p:nvSpPr>
        <p:spPr>
          <a:xfrm>
            <a:off x="640080" y="3621023"/>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1207007" y="3611879"/>
            <a:ext cx="4754880" cy="320040"/>
          </a:xfrm>
          <a:prstGeom prst="rect">
            <a:avLst/>
          </a:prstGeom>
          <a:noFill/>
        </p:spPr>
        <p:txBody>
          <a:bodyPr wrap="square" lIns="0" rIns="0" tIns="0" bIns="0" anchor="t">
            <a:spAutoFit/>
          </a:bodyPr>
          <a:lstStyle/>
          <a:p>
            <a:pPr algn="l"/>
            <a:r>
              <a:rPr sz="1600" b="1" i="0">
                <a:solidFill>
                  <a:srgbClr val="17151A"/>
                </a:solidFill>
                <a:latin typeface="Calibri"/>
              </a:rPr>
              <a:t>Could they maintain it without you?</a:t>
            </a:r>
          </a:p>
        </p:txBody>
      </p:sp>
      <p:sp>
        <p:nvSpPr>
          <p:cNvPr id="14" name="TextBox 13"/>
          <p:cNvSpPr txBox="1"/>
          <p:nvPr/>
        </p:nvSpPr>
        <p:spPr>
          <a:xfrm>
            <a:off x="6126480" y="3621023"/>
            <a:ext cx="5120640" cy="548640"/>
          </a:xfrm>
          <a:prstGeom prst="rect">
            <a:avLst/>
          </a:prstGeom>
          <a:noFill/>
        </p:spPr>
        <p:txBody>
          <a:bodyPr wrap="square" lIns="0" rIns="0" tIns="0" bIns="0" anchor="t">
            <a:spAutoFit/>
          </a:bodyPr>
          <a:lstStyle/>
          <a:p>
            <a:pPr algn="l"/>
            <a:r>
              <a:rPr sz="1350" b="0" i="0">
                <a:solidFill>
                  <a:srgbClr val="54565B"/>
                </a:solidFill>
                <a:latin typeface="Calibri"/>
              </a:rPr>
              <a:t>If not, you are building a dependency, not a tool.</a:t>
            </a:r>
          </a:p>
        </p:txBody>
      </p:sp>
      <p:sp>
        <p:nvSpPr>
          <p:cNvPr id="15" name="Oval 14"/>
          <p:cNvSpPr/>
          <p:nvPr/>
        </p:nvSpPr>
        <p:spPr>
          <a:xfrm>
            <a:off x="640080" y="4370831"/>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6" name="TextBox 15"/>
          <p:cNvSpPr txBox="1"/>
          <p:nvPr/>
        </p:nvSpPr>
        <p:spPr>
          <a:xfrm>
            <a:off x="1207007" y="4361688"/>
            <a:ext cx="4754880" cy="320040"/>
          </a:xfrm>
          <a:prstGeom prst="rect">
            <a:avLst/>
          </a:prstGeom>
          <a:noFill/>
        </p:spPr>
        <p:txBody>
          <a:bodyPr wrap="square" lIns="0" rIns="0" tIns="0" bIns="0" anchor="t">
            <a:spAutoFit/>
          </a:bodyPr>
          <a:lstStyle/>
          <a:p>
            <a:pPr algn="l"/>
            <a:r>
              <a:rPr sz="1600" b="1" i="0">
                <a:solidFill>
                  <a:srgbClr val="17151A"/>
                </a:solidFill>
                <a:latin typeface="Calibri"/>
              </a:rPr>
              <a:t>What does DONE look like?</a:t>
            </a:r>
          </a:p>
        </p:txBody>
      </p:sp>
      <p:sp>
        <p:nvSpPr>
          <p:cNvPr id="17" name="TextBox 16"/>
          <p:cNvSpPr txBox="1"/>
          <p:nvPr/>
        </p:nvSpPr>
        <p:spPr>
          <a:xfrm>
            <a:off x="6126480" y="4370831"/>
            <a:ext cx="5120640" cy="548640"/>
          </a:xfrm>
          <a:prstGeom prst="rect">
            <a:avLst/>
          </a:prstGeom>
          <a:noFill/>
        </p:spPr>
        <p:txBody>
          <a:bodyPr wrap="square" lIns="0" rIns="0" tIns="0" bIns="0" anchor="t">
            <a:spAutoFit/>
          </a:bodyPr>
          <a:lstStyle/>
          <a:p>
            <a:pPr algn="l"/>
            <a:r>
              <a:rPr sz="1350" b="0" i="0">
                <a:solidFill>
                  <a:srgbClr val="54565B"/>
                </a:solidFill>
                <a:latin typeface="Calibri"/>
              </a:rPr>
              <a:t>“A working dashboard” is not a finish line. Be specific enough to stop.</a:t>
            </a:r>
          </a:p>
        </p:txBody>
      </p:sp>
      <p:sp>
        <p:nvSpPr>
          <p:cNvPr id="18" name="Rounded Rectangle 17"/>
          <p:cNvSpPr/>
          <p:nvPr/>
        </p:nvSpPr>
        <p:spPr>
          <a:xfrm>
            <a:off x="640080" y="5257800"/>
            <a:ext cx="10911535" cy="9601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440680"/>
            <a:ext cx="9144000" cy="292608"/>
          </a:xfrm>
          <a:prstGeom prst="rect">
            <a:avLst/>
          </a:prstGeom>
          <a:noFill/>
        </p:spPr>
        <p:txBody>
          <a:bodyPr wrap="square" lIns="0" rIns="0" tIns="0" bIns="0" anchor="t">
            <a:spAutoFit/>
          </a:bodyPr>
          <a:lstStyle/>
          <a:p>
            <a:pPr algn="l"/>
            <a:r>
              <a:rPr sz="1500" b="1" i="0">
                <a:solidFill>
                  <a:srgbClr val="BA0C2F"/>
                </a:solidFill>
                <a:latin typeface="Calibri"/>
              </a:rPr>
              <a:t>And write down what you are deliberately NOT building.</a:t>
            </a:r>
          </a:p>
        </p:txBody>
      </p:sp>
      <p:sp>
        <p:nvSpPr>
          <p:cNvPr id="20" name="TextBox 19"/>
          <p:cNvSpPr txBox="1"/>
          <p:nvPr/>
        </p:nvSpPr>
        <p:spPr>
          <a:xfrm>
            <a:off x="1051560" y="5760720"/>
            <a:ext cx="10058400" cy="320040"/>
          </a:xfrm>
          <a:prstGeom prst="rect">
            <a:avLst/>
          </a:prstGeom>
          <a:noFill/>
        </p:spPr>
        <p:txBody>
          <a:bodyPr wrap="square" lIns="0" rIns="0" tIns="0" bIns="0" anchor="t">
            <a:spAutoFit/>
          </a:bodyPr>
          <a:lstStyle/>
          <a:p>
            <a:pPr algn="l"/>
            <a:r>
              <a:rPr sz="1350" b="0" i="0">
                <a:solidFill>
                  <a:srgbClr val="17151A"/>
                </a:solidFill>
                <a:latin typeface="Calibri"/>
              </a:rPr>
              <a:t>Scope creep is the single reason people do not finish tonight. Name the cut now, on purpose.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THE CHOICE PEOPLE GET WRONG</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Where to build it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74519"/>
            <a:ext cx="2578608" cy="169164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121408"/>
            <a:ext cx="274320" cy="27432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514600"/>
            <a:ext cx="2194560" cy="457200"/>
          </a:xfrm>
          <a:prstGeom prst="rect">
            <a:avLst/>
          </a:prstGeom>
          <a:noFill/>
        </p:spPr>
        <p:txBody>
          <a:bodyPr wrap="square" lIns="0" rIns="0" tIns="0" bIns="0" anchor="t">
            <a:spAutoFit/>
          </a:bodyPr>
          <a:lstStyle/>
          <a:p>
            <a:pPr algn="l"/>
            <a:r>
              <a:rPr sz="1400" b="1" i="0">
                <a:solidFill>
                  <a:srgbClr val="17151A"/>
                </a:solidFill>
                <a:latin typeface="Calibri"/>
              </a:rPr>
              <a:t>Excel or Sheets</a:t>
            </a:r>
          </a:p>
        </p:txBody>
      </p:sp>
      <p:sp>
        <p:nvSpPr>
          <p:cNvPr id="8" name="TextBox 7"/>
          <p:cNvSpPr txBox="1"/>
          <p:nvPr/>
        </p:nvSpPr>
        <p:spPr>
          <a:xfrm>
            <a:off x="877824" y="2999232"/>
            <a:ext cx="2194560" cy="502920"/>
          </a:xfrm>
          <a:prstGeom prst="rect">
            <a:avLst/>
          </a:prstGeom>
          <a:noFill/>
        </p:spPr>
        <p:txBody>
          <a:bodyPr wrap="square" lIns="0" rIns="0" tIns="0" bIns="0" anchor="t">
            <a:spAutoFit/>
          </a:bodyPr>
          <a:lstStyle/>
          <a:p>
            <a:pPr algn="l"/>
            <a:r>
              <a:rPr sz="1200" b="0" i="0">
                <a:solidFill>
                  <a:srgbClr val="54565B"/>
                </a:solidFill>
                <a:latin typeface="Calibri"/>
              </a:rPr>
              <a:t>They need to change it themselves</a:t>
            </a:r>
          </a:p>
        </p:txBody>
      </p:sp>
      <p:sp>
        <p:nvSpPr>
          <p:cNvPr id="9" name="Rounded Rectangle 8"/>
          <p:cNvSpPr/>
          <p:nvPr/>
        </p:nvSpPr>
        <p:spPr>
          <a:xfrm>
            <a:off x="3438144" y="1874519"/>
            <a:ext cx="2578608" cy="169164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675887" y="2121408"/>
            <a:ext cx="274320" cy="274320"/>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5887" y="2514600"/>
            <a:ext cx="2194560" cy="457200"/>
          </a:xfrm>
          <a:prstGeom prst="rect">
            <a:avLst/>
          </a:prstGeom>
          <a:noFill/>
        </p:spPr>
        <p:txBody>
          <a:bodyPr wrap="square" lIns="0" rIns="0" tIns="0" bIns="0" anchor="t">
            <a:spAutoFit/>
          </a:bodyPr>
          <a:lstStyle/>
          <a:p>
            <a:pPr algn="l"/>
            <a:r>
              <a:rPr sz="1400" b="1" i="0">
                <a:solidFill>
                  <a:srgbClr val="17151A"/>
                </a:solidFill>
                <a:latin typeface="Calibri"/>
              </a:rPr>
              <a:t>An artifact or web page</a:t>
            </a:r>
          </a:p>
        </p:txBody>
      </p:sp>
      <p:sp>
        <p:nvSpPr>
          <p:cNvPr id="12" name="TextBox 11"/>
          <p:cNvSpPr txBox="1"/>
          <p:nvPr/>
        </p:nvSpPr>
        <p:spPr>
          <a:xfrm>
            <a:off x="3675887" y="2999232"/>
            <a:ext cx="2194560" cy="502920"/>
          </a:xfrm>
          <a:prstGeom prst="rect">
            <a:avLst/>
          </a:prstGeom>
          <a:noFill/>
        </p:spPr>
        <p:txBody>
          <a:bodyPr wrap="square" lIns="0" rIns="0" tIns="0" bIns="0" anchor="t">
            <a:spAutoFit/>
          </a:bodyPr>
          <a:lstStyle/>
          <a:p>
            <a:pPr algn="l"/>
            <a:r>
              <a:rPr sz="1200" b="0" i="0">
                <a:solidFill>
                  <a:srgbClr val="54565B"/>
                </a:solidFill>
                <a:latin typeface="Calibri"/>
              </a:rPr>
              <a:t>Show it once, in a meeting</a:t>
            </a:r>
          </a:p>
        </p:txBody>
      </p:sp>
      <p:sp>
        <p:nvSpPr>
          <p:cNvPr id="13" name="Rounded Rectangle 12"/>
          <p:cNvSpPr/>
          <p:nvPr/>
        </p:nvSpPr>
        <p:spPr>
          <a:xfrm>
            <a:off x="6236208" y="1874519"/>
            <a:ext cx="2578608" cy="169164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3952" y="2121408"/>
            <a:ext cx="274320" cy="274320"/>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514600"/>
            <a:ext cx="2194560" cy="457200"/>
          </a:xfrm>
          <a:prstGeom prst="rect">
            <a:avLst/>
          </a:prstGeom>
          <a:noFill/>
        </p:spPr>
        <p:txBody>
          <a:bodyPr wrap="square" lIns="0" rIns="0" tIns="0" bIns="0" anchor="t">
            <a:spAutoFit/>
          </a:bodyPr>
          <a:lstStyle/>
          <a:p>
            <a:pPr algn="l"/>
            <a:r>
              <a:rPr sz="1400" b="1" i="0">
                <a:solidFill>
                  <a:srgbClr val="17151A"/>
                </a:solidFill>
                <a:latin typeface="Calibri"/>
              </a:rPr>
              <a:t>Claude Code / Copilot</a:t>
            </a:r>
          </a:p>
        </p:txBody>
      </p:sp>
      <p:sp>
        <p:nvSpPr>
          <p:cNvPr id="16" name="TextBox 15"/>
          <p:cNvSpPr txBox="1"/>
          <p:nvPr/>
        </p:nvSpPr>
        <p:spPr>
          <a:xfrm>
            <a:off x="6473952" y="2999232"/>
            <a:ext cx="2194560" cy="502920"/>
          </a:xfrm>
          <a:prstGeom prst="rect">
            <a:avLst/>
          </a:prstGeom>
          <a:noFill/>
        </p:spPr>
        <p:txBody>
          <a:bodyPr wrap="square" lIns="0" rIns="0" tIns="0" bIns="0" anchor="t">
            <a:spAutoFit/>
          </a:bodyPr>
          <a:lstStyle/>
          <a:p>
            <a:pPr algn="l"/>
            <a:r>
              <a:rPr sz="1200" b="0" i="0">
                <a:solidFill>
                  <a:srgbClr val="54565B"/>
                </a:solidFill>
                <a:latin typeface="Calibri"/>
              </a:rPr>
              <a:t>It has to re-run with new data</a:t>
            </a:r>
          </a:p>
        </p:txBody>
      </p:sp>
      <p:sp>
        <p:nvSpPr>
          <p:cNvPr id="17" name="Rounded Rectangle 16"/>
          <p:cNvSpPr/>
          <p:nvPr/>
        </p:nvSpPr>
        <p:spPr>
          <a:xfrm>
            <a:off x="9034272" y="1874519"/>
            <a:ext cx="2578608" cy="169164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72015" y="2121408"/>
            <a:ext cx="274320" cy="274320"/>
          </a:xfrm>
          <a:prstGeom prst="ellipse">
            <a:avLst/>
          </a:prstGeom>
          <a:solidFill>
            <a:srgbClr val="54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72015" y="2514600"/>
            <a:ext cx="2194560" cy="457200"/>
          </a:xfrm>
          <a:prstGeom prst="rect">
            <a:avLst/>
          </a:prstGeom>
          <a:noFill/>
        </p:spPr>
        <p:txBody>
          <a:bodyPr wrap="square" lIns="0" rIns="0" tIns="0" bIns="0" anchor="t">
            <a:spAutoFit/>
          </a:bodyPr>
          <a:lstStyle/>
          <a:p>
            <a:pPr algn="l"/>
            <a:r>
              <a:rPr sz="1400" b="1" i="0">
                <a:solidFill>
                  <a:srgbClr val="17151A"/>
                </a:solidFill>
                <a:latin typeface="Calibri"/>
              </a:rPr>
              <a:t>Hand a spec to your BI team</a:t>
            </a:r>
          </a:p>
        </p:txBody>
      </p:sp>
      <p:sp>
        <p:nvSpPr>
          <p:cNvPr id="20" name="TextBox 19"/>
          <p:cNvSpPr txBox="1"/>
          <p:nvPr/>
        </p:nvSpPr>
        <p:spPr>
          <a:xfrm>
            <a:off x="9272015" y="2999232"/>
            <a:ext cx="2194560" cy="502920"/>
          </a:xfrm>
          <a:prstGeom prst="rect">
            <a:avLst/>
          </a:prstGeom>
          <a:noFill/>
        </p:spPr>
        <p:txBody>
          <a:bodyPr wrap="square" lIns="0" rIns="0" tIns="0" bIns="0" anchor="t">
            <a:spAutoFit/>
          </a:bodyPr>
          <a:lstStyle/>
          <a:p>
            <a:pPr algn="l"/>
            <a:r>
              <a:rPr sz="1200" b="0" i="0">
                <a:solidFill>
                  <a:srgbClr val="54565B"/>
                </a:solidFill>
                <a:latin typeface="Calibri"/>
              </a:rPr>
              <a:t>Your org already has Tableau or Power BI</a:t>
            </a:r>
          </a:p>
        </p:txBody>
      </p:sp>
      <p:sp>
        <p:nvSpPr>
          <p:cNvPr id="21" name="Rounded Rectangle 20"/>
          <p:cNvSpPr/>
          <p:nvPr/>
        </p:nvSpPr>
        <p:spPr>
          <a:xfrm>
            <a:off x="640080" y="3840480"/>
            <a:ext cx="10911535" cy="123444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023360"/>
            <a:ext cx="7315200" cy="274320"/>
          </a:xfrm>
          <a:prstGeom prst="rect">
            <a:avLst/>
          </a:prstGeom>
          <a:noFill/>
        </p:spPr>
        <p:txBody>
          <a:bodyPr wrap="square" lIns="0" rIns="0" tIns="0" bIns="0" anchor="t">
            <a:spAutoFit/>
          </a:bodyPr>
          <a:lstStyle/>
          <a:p>
            <a:pPr algn="l"/>
            <a:r>
              <a:rPr sz="1400" b="1" i="0">
                <a:solidFill>
                  <a:srgbClr val="BA0C2F"/>
                </a:solidFill>
                <a:latin typeface="Calibri"/>
              </a:rPr>
              <a:t>The tradeoff, said out loud</a:t>
            </a:r>
          </a:p>
        </p:txBody>
      </p:sp>
      <p:sp>
        <p:nvSpPr>
          <p:cNvPr id="23" name="TextBox 22"/>
          <p:cNvSpPr txBox="1"/>
          <p:nvPr/>
        </p:nvSpPr>
        <p:spPr>
          <a:xfrm>
            <a:off x="1051560" y="4334256"/>
            <a:ext cx="10058400" cy="640080"/>
          </a:xfrm>
          <a:prstGeom prst="rect">
            <a:avLst/>
          </a:prstGeom>
          <a:noFill/>
        </p:spPr>
        <p:txBody>
          <a:bodyPr wrap="square" lIns="0" rIns="0" tIns="0" bIns="0" anchor="t">
            <a:spAutoFit/>
          </a:bodyPr>
          <a:lstStyle/>
          <a:p>
            <a:pPr algn="l"/>
            <a:r>
              <a:rPr sz="1400" b="0" i="0">
                <a:solidFill>
                  <a:srgbClr val="17151A"/>
                </a:solidFill>
                <a:latin typeface="Calibri"/>
              </a:rPr>
              <a:t>The interactive version will look better in your demo. The Excel version is what your team will still be using in March. Both are legitimate. Pick on purpose rather than by default.</a:t>
            </a:r>
          </a:p>
        </p:txBody>
      </p:sp>
      <p:sp>
        <p:nvSpPr>
          <p:cNvPr id="24" name="TextBox 23"/>
          <p:cNvSpPr txBox="1"/>
          <p:nvPr/>
        </p:nvSpPr>
        <p:spPr>
          <a:xfrm>
            <a:off x="640080" y="5303520"/>
            <a:ext cx="10789920" cy="365760"/>
          </a:xfrm>
          <a:prstGeom prst="rect">
            <a:avLst/>
          </a:prstGeom>
          <a:noFill/>
        </p:spPr>
        <p:txBody>
          <a:bodyPr wrap="square" lIns="0" rIns="0" tIns="0" bIns="0" anchor="t">
            <a:spAutoFit/>
          </a:bodyPr>
          <a:lstStyle/>
          <a:p>
            <a:pPr algn="l"/>
            <a:r>
              <a:rPr sz="1600" b="1" i="0">
                <a:solidFill>
                  <a:srgbClr val="17151A"/>
                </a:solidFill>
                <a:latin typeface="Calibri"/>
              </a:rPr>
              <a:t>Build in the surface whoever uses this on Tuesday can maintain, not the one that demos best.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737360"/>
            <a:ext cx="10607040" cy="2011680"/>
          </a:xfrm>
          <a:prstGeom prst="rect">
            <a:avLst/>
          </a:prstGeom>
          <a:noFill/>
        </p:spPr>
        <p:txBody>
          <a:bodyPr wrap="square" lIns="0" rIns="0" tIns="0" bIns="0" anchor="t">
            <a:spAutoFit/>
          </a:bodyPr>
          <a:lstStyle/>
          <a:p>
            <a:pPr algn="l">
              <a:lnSpc>
                <a:spcPts val="5600"/>
              </a:lnSpc>
            </a:pPr>
            <a:r>
              <a:rPr sz="4600" b="1" i="0">
                <a:solidFill>
                  <a:srgbClr val="FFFFFF"/>
                </a:solidFill>
                <a:latin typeface="Cambria"/>
              </a:rPr>
              <a:t>Never give a single number</a:t>
            </a:r>
          </a:p>
          <a:p>
            <a:pPr algn="l">
              <a:lnSpc>
                <a:spcPts val="5600"/>
              </a:lnSpc>
            </a:pPr>
            <a:r>
              <a:rPr sz="4600" b="1" i="0">
                <a:solidFill>
                  <a:srgbClr val="FFFFFF"/>
                </a:solidFill>
                <a:latin typeface="Cambria"/>
              </a:rPr>
              <a:t>where a range belongs.</a:t>
            </a:r>
          </a:p>
        </p:txBody>
      </p:sp>
      <p:sp>
        <p:nvSpPr>
          <p:cNvPr id="4" name="Rectangle 3"/>
          <p:cNvSpPr/>
          <p:nvPr/>
        </p:nvSpPr>
        <p:spPr>
          <a:xfrm>
            <a:off x="640080" y="3977639"/>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279392"/>
            <a:ext cx="10241280" cy="1005840"/>
          </a:xfrm>
          <a:prstGeom prst="rect">
            <a:avLst/>
          </a:prstGeom>
          <a:noFill/>
        </p:spPr>
        <p:txBody>
          <a:bodyPr wrap="square" lIns="0" rIns="0" tIns="0" bIns="0" anchor="t">
            <a:spAutoFit/>
          </a:bodyPr>
          <a:lstStyle/>
          <a:p>
            <a:pPr algn="l"/>
            <a:r>
              <a:rPr sz="1600" b="0" i="0">
                <a:solidFill>
                  <a:srgbClr val="D5D2C5"/>
                </a:solidFill>
                <a:latin typeface="Calibri"/>
              </a:rPr>
              <a:t>A forecast that says $2.4M gets quoted for a year and treated as a commitment. One that says “between $0.9M and $3.1M, and it hinges almost entirely on downgrade rate” is honest, and it tells everyone what to go find out.</a:t>
            </a:r>
          </a:p>
        </p:txBody>
      </p:sp>
      <p:sp>
        <p:nvSpPr>
          <p:cNvPr id="6" name="TextBox 5"/>
          <p:cNvSpPr txBox="1"/>
          <p:nvPr/>
        </p:nvSpPr>
        <p:spPr>
          <a:xfrm>
            <a:off x="640080" y="5486400"/>
            <a:ext cx="10241280" cy="365760"/>
          </a:xfrm>
          <a:prstGeom prst="rect">
            <a:avLst/>
          </a:prstGeom>
          <a:noFill/>
        </p:spPr>
        <p:txBody>
          <a:bodyPr wrap="square" lIns="0" rIns="0" tIns="0" bIns="0" anchor="t">
            <a:spAutoFit/>
          </a:bodyPr>
          <a:lstStyle/>
          <a:p>
            <a:pPr algn="l"/>
            <a:r>
              <a:rPr sz="1700" b="1" i="0">
                <a:solidFill>
                  <a:srgbClr val="FFFFFF"/>
                </a:solidFill>
                <a:latin typeface="Calibri"/>
              </a:rPr>
              <a:t>The width of the range is information. Do not let your tool hide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WATCH FOR THESE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What your AI will try to do wrong</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28800"/>
            <a:ext cx="10911535" cy="9601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2002536"/>
            <a:ext cx="3566160" cy="292608"/>
          </a:xfrm>
          <a:prstGeom prst="rect">
            <a:avLst/>
          </a:prstGeom>
          <a:noFill/>
        </p:spPr>
        <p:txBody>
          <a:bodyPr wrap="square" lIns="0" rIns="0" tIns="0" bIns="0" anchor="t">
            <a:spAutoFit/>
          </a:bodyPr>
          <a:lstStyle/>
          <a:p>
            <a:pPr algn="l"/>
            <a:r>
              <a:rPr sz="1550" b="1" i="0">
                <a:solidFill>
                  <a:srgbClr val="BA0C2F"/>
                </a:solidFill>
                <a:latin typeface="Calibri"/>
              </a:rPr>
              <a:t>Drop the uncertainty</a:t>
            </a:r>
          </a:p>
        </p:txBody>
      </p:sp>
      <p:sp>
        <p:nvSpPr>
          <p:cNvPr id="7" name="TextBox 6"/>
          <p:cNvSpPr txBox="1"/>
          <p:nvPr/>
        </p:nvSpPr>
        <p:spPr>
          <a:xfrm>
            <a:off x="4754880" y="2002536"/>
            <a:ext cx="6492240" cy="640080"/>
          </a:xfrm>
          <a:prstGeom prst="rect">
            <a:avLst/>
          </a:prstGeom>
          <a:noFill/>
        </p:spPr>
        <p:txBody>
          <a:bodyPr wrap="square" lIns="0" rIns="0" tIns="0" bIns="0" anchor="t">
            <a:spAutoFit/>
          </a:bodyPr>
          <a:lstStyle/>
          <a:p>
            <a:pPr algn="l"/>
            <a:r>
              <a:rPr sz="1350" b="0" i="0">
                <a:solidFill>
                  <a:srgbClr val="17151A"/>
                </a:solidFill>
                <a:latin typeface="Calibri"/>
              </a:rPr>
              <a:t>It will hand you a clean single number because that reads as confident. Ask for the range every time.</a:t>
            </a:r>
          </a:p>
        </p:txBody>
      </p:sp>
      <p:sp>
        <p:nvSpPr>
          <p:cNvPr id="8" name="Rounded Rectangle 7"/>
          <p:cNvSpPr/>
          <p:nvPr/>
        </p:nvSpPr>
        <p:spPr>
          <a:xfrm>
            <a:off x="640080" y="2907791"/>
            <a:ext cx="10911535" cy="9601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3081527"/>
            <a:ext cx="3566160" cy="292608"/>
          </a:xfrm>
          <a:prstGeom prst="rect">
            <a:avLst/>
          </a:prstGeom>
          <a:noFill/>
        </p:spPr>
        <p:txBody>
          <a:bodyPr wrap="square" lIns="0" rIns="0" tIns="0" bIns="0" anchor="t">
            <a:spAutoFit/>
          </a:bodyPr>
          <a:lstStyle/>
          <a:p>
            <a:pPr algn="l"/>
            <a:r>
              <a:rPr sz="1550" b="1" i="0">
                <a:solidFill>
                  <a:srgbClr val="BA0C2F"/>
                </a:solidFill>
                <a:latin typeface="Calibri"/>
              </a:rPr>
              <a:t>Call a correlation a driver</a:t>
            </a:r>
          </a:p>
        </p:txBody>
      </p:sp>
      <p:sp>
        <p:nvSpPr>
          <p:cNvPr id="10" name="TextBox 9"/>
          <p:cNvSpPr txBox="1"/>
          <p:nvPr/>
        </p:nvSpPr>
        <p:spPr>
          <a:xfrm>
            <a:off x="4754880" y="3081527"/>
            <a:ext cx="6492240" cy="640080"/>
          </a:xfrm>
          <a:prstGeom prst="rect">
            <a:avLst/>
          </a:prstGeom>
          <a:noFill/>
        </p:spPr>
        <p:txBody>
          <a:bodyPr wrap="square" lIns="0" rIns="0" tIns="0" bIns="0" anchor="t">
            <a:spAutoFit/>
          </a:bodyPr>
          <a:lstStyle/>
          <a:p>
            <a:pPr algn="l"/>
            <a:r>
              <a:rPr sz="1350" b="0" i="0">
                <a:solidFill>
                  <a:srgbClr val="17151A"/>
                </a:solidFill>
                <a:latin typeface="Calibri"/>
              </a:rPr>
              <a:t>“Support tickets drive churn” is not what the model found. It found they move together.</a:t>
            </a:r>
          </a:p>
        </p:txBody>
      </p:sp>
      <p:sp>
        <p:nvSpPr>
          <p:cNvPr id="11" name="Rounded Rectangle 10"/>
          <p:cNvSpPr/>
          <p:nvPr/>
        </p:nvSpPr>
        <p:spPr>
          <a:xfrm>
            <a:off x="640080" y="3986783"/>
            <a:ext cx="10911535" cy="9601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4160520"/>
            <a:ext cx="3566160" cy="292608"/>
          </a:xfrm>
          <a:prstGeom prst="rect">
            <a:avLst/>
          </a:prstGeom>
          <a:noFill/>
        </p:spPr>
        <p:txBody>
          <a:bodyPr wrap="square" lIns="0" rIns="0" tIns="0" bIns="0" anchor="t">
            <a:spAutoFit/>
          </a:bodyPr>
          <a:lstStyle/>
          <a:p>
            <a:pPr algn="l"/>
            <a:r>
              <a:rPr sz="1550" b="1" i="0">
                <a:solidFill>
                  <a:srgbClr val="BA0C2F"/>
                </a:solidFill>
                <a:latin typeface="Calibri"/>
              </a:rPr>
              <a:t>Do arithmetic in prose</a:t>
            </a:r>
          </a:p>
        </p:txBody>
      </p:sp>
      <p:sp>
        <p:nvSpPr>
          <p:cNvPr id="13" name="TextBox 12"/>
          <p:cNvSpPr txBox="1"/>
          <p:nvPr/>
        </p:nvSpPr>
        <p:spPr>
          <a:xfrm>
            <a:off x="4754880" y="4160520"/>
            <a:ext cx="6492240" cy="640080"/>
          </a:xfrm>
          <a:prstGeom prst="rect">
            <a:avLst/>
          </a:prstGeom>
          <a:noFill/>
        </p:spPr>
        <p:txBody>
          <a:bodyPr wrap="square" lIns="0" rIns="0" tIns="0" bIns="0" anchor="t">
            <a:spAutoFit/>
          </a:bodyPr>
          <a:lstStyle/>
          <a:p>
            <a:pPr algn="l"/>
            <a:r>
              <a:rPr sz="1350" b="0" i="0">
                <a:solidFill>
                  <a:srgbClr val="17151A"/>
                </a:solidFill>
                <a:latin typeface="Calibri"/>
              </a:rPr>
              <a:t>Make it write and run code for anything numeric, then check the code. Fluent is not correct.</a:t>
            </a:r>
          </a:p>
        </p:txBody>
      </p:sp>
      <p:sp>
        <p:nvSpPr>
          <p:cNvPr id="14" name="Rounded Rectangle 13"/>
          <p:cNvSpPr/>
          <p:nvPr/>
        </p:nvSpPr>
        <p:spPr>
          <a:xfrm>
            <a:off x="640080" y="5065775"/>
            <a:ext cx="10911535" cy="9601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7" y="5239512"/>
            <a:ext cx="3566160" cy="292608"/>
          </a:xfrm>
          <a:prstGeom prst="rect">
            <a:avLst/>
          </a:prstGeom>
          <a:noFill/>
        </p:spPr>
        <p:txBody>
          <a:bodyPr wrap="square" lIns="0" rIns="0" tIns="0" bIns="0" anchor="t">
            <a:spAutoFit/>
          </a:bodyPr>
          <a:lstStyle/>
          <a:p>
            <a:pPr algn="l"/>
            <a:r>
              <a:rPr sz="1550" b="1" i="0">
                <a:solidFill>
                  <a:srgbClr val="BA0C2F"/>
                </a:solidFill>
                <a:latin typeface="Calibri"/>
              </a:rPr>
              <a:t>Agree with you</a:t>
            </a:r>
          </a:p>
        </p:txBody>
      </p:sp>
      <p:sp>
        <p:nvSpPr>
          <p:cNvPr id="16" name="TextBox 15"/>
          <p:cNvSpPr txBox="1"/>
          <p:nvPr/>
        </p:nvSpPr>
        <p:spPr>
          <a:xfrm>
            <a:off x="4754880" y="5239512"/>
            <a:ext cx="6492240" cy="640080"/>
          </a:xfrm>
          <a:prstGeom prst="rect">
            <a:avLst/>
          </a:prstGeom>
          <a:noFill/>
        </p:spPr>
        <p:txBody>
          <a:bodyPr wrap="square" lIns="0" rIns="0" tIns="0" bIns="0" anchor="t">
            <a:spAutoFit/>
          </a:bodyPr>
          <a:lstStyle/>
          <a:p>
            <a:pPr algn="l"/>
            <a:r>
              <a:rPr sz="1350" b="0" i="0">
                <a:solidFill>
                  <a:srgbClr val="17151A"/>
                </a:solidFill>
                <a:latin typeface="Calibri"/>
              </a:rPr>
              <a:t>If you tell it what you expect, it will find it. State your hypothesis last, not first.</a:t>
            </a:r>
          </a:p>
        </p:txBody>
      </p:sp>
      <p:sp>
        <p:nvSpPr>
          <p:cNvPr id="17" name="TextBox 16"/>
          <p:cNvSpPr txBox="1"/>
          <p:nvPr/>
        </p:nvSpPr>
        <p:spPr>
          <a:xfrm>
            <a:off x="640080" y="6144768"/>
            <a:ext cx="10789920" cy="320040"/>
          </a:xfrm>
          <a:prstGeom prst="rect">
            <a:avLst/>
          </a:prstGeom>
          <a:noFill/>
        </p:spPr>
        <p:txBody>
          <a:bodyPr wrap="square" lIns="0" rIns="0" tIns="0" bIns="0" anchor="t">
            <a:spAutoFit/>
          </a:bodyPr>
          <a:lstStyle/>
          <a:p>
            <a:pPr algn="l"/>
            <a:r>
              <a:rPr sz="1450" b="1" i="0">
                <a:solidFill>
                  <a:srgbClr val="17151A"/>
                </a:solidFill>
                <a:latin typeface="Calibri"/>
              </a:rPr>
              <a:t>Every number you present tonight needs a method note and a limitation next to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60 MINUTES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7315200" cy="274320"/>
          </a:xfrm>
          <a:prstGeom prst="rect">
            <a:avLst/>
          </a:prstGeom>
          <a:noFill/>
        </p:spPr>
        <p:txBody>
          <a:bodyPr wrap="square" lIns="0" rIns="0" tIns="0" bIns="0" anchor="t">
            <a:spAutoFit/>
          </a:bodyPr>
          <a:lstStyle/>
          <a:p>
            <a:pPr algn="l"/>
            <a:r>
              <a:rPr sz="1400" b="0" i="0">
                <a:solidFill>
                  <a:srgbClr val="54565B"/>
                </a:solidFill>
                <a:latin typeface="Calibri"/>
              </a:rPr>
              <a:t>Say what you want. Plain language works:</a:t>
            </a:r>
          </a:p>
        </p:txBody>
      </p:sp>
      <p:sp>
        <p:nvSpPr>
          <p:cNvPr id="6" name="Rounded Rectangle 5"/>
          <p:cNvSpPr/>
          <p:nvPr/>
        </p:nvSpPr>
        <p:spPr>
          <a:xfrm>
            <a:off x="640080" y="2011680"/>
            <a:ext cx="676656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2194560"/>
            <a:ext cx="6400800" cy="365760"/>
          </a:xfrm>
          <a:prstGeom prst="rect">
            <a:avLst/>
          </a:prstGeom>
          <a:noFill/>
        </p:spPr>
        <p:txBody>
          <a:bodyPr wrap="square" lIns="0" rIns="0" tIns="0" bIns="0" anchor="t">
            <a:spAutoFit/>
          </a:bodyPr>
          <a:lstStyle/>
          <a:p>
            <a:pPr algn="l"/>
            <a:r>
              <a:rPr sz="1350" b="0" i="0">
                <a:solidFill>
                  <a:srgbClr val="BA0C2F"/>
                </a:solidFill>
                <a:latin typeface="Consolas"/>
              </a:rPr>
              <a:t>score my accounts  /  forecast next quarter  /  did this test work</a:t>
            </a:r>
          </a:p>
        </p:txBody>
      </p:sp>
      <p:sp>
        <p:nvSpPr>
          <p:cNvPr id="8" name="TextBox 7"/>
          <p:cNvSpPr txBox="1"/>
          <p:nvPr/>
        </p:nvSpPr>
        <p:spPr>
          <a:xfrm>
            <a:off x="640080" y="2926080"/>
            <a:ext cx="6766560" cy="292608"/>
          </a:xfrm>
          <a:prstGeom prst="rect">
            <a:avLst/>
          </a:prstGeom>
          <a:noFill/>
        </p:spPr>
        <p:txBody>
          <a:bodyPr wrap="square" lIns="0" rIns="0" tIns="0" bIns="0" anchor="t">
            <a:spAutoFit/>
          </a:bodyPr>
          <a:lstStyle/>
          <a:p>
            <a:pPr algn="l"/>
            <a:r>
              <a:rPr sz="1500" b="1" i="0">
                <a:solidFill>
                  <a:srgbClr val="17151A"/>
                </a:solidFill>
                <a:latin typeface="Calibri"/>
              </a:rPr>
              <a:t>Before you stop, three checks</a:t>
            </a:r>
          </a:p>
        </p:txBody>
      </p:sp>
      <p:sp>
        <p:nvSpPr>
          <p:cNvPr id="9" name="Oval 8"/>
          <p:cNvSpPr/>
          <p:nvPr/>
        </p:nvSpPr>
        <p:spPr>
          <a:xfrm>
            <a:off x="676656" y="3374136"/>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291840"/>
            <a:ext cx="6400800" cy="548640"/>
          </a:xfrm>
          <a:prstGeom prst="rect">
            <a:avLst/>
          </a:prstGeom>
          <a:noFill/>
        </p:spPr>
        <p:txBody>
          <a:bodyPr wrap="square" lIns="0" rIns="0" tIns="0" bIns="0" anchor="t">
            <a:spAutoFit/>
          </a:bodyPr>
          <a:lstStyle/>
          <a:p>
            <a:pPr algn="l"/>
            <a:r>
              <a:rPr sz="1300" b="0" i="0">
                <a:solidFill>
                  <a:srgbClr val="17151A"/>
                </a:solidFill>
                <a:latin typeface="Calibri"/>
              </a:rPr>
              <a:t>The uncertainty survived into the built thing. If the analysis had a range, the artifact shows a range.</a:t>
            </a:r>
          </a:p>
        </p:txBody>
      </p:sp>
      <p:sp>
        <p:nvSpPr>
          <p:cNvPr id="11" name="Oval 10"/>
          <p:cNvSpPr/>
          <p:nvPr/>
        </p:nvSpPr>
        <p:spPr>
          <a:xfrm>
            <a:off x="676656" y="3995928"/>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3913632"/>
            <a:ext cx="6400800" cy="548640"/>
          </a:xfrm>
          <a:prstGeom prst="rect">
            <a:avLst/>
          </a:prstGeom>
          <a:noFill/>
        </p:spPr>
        <p:txBody>
          <a:bodyPr wrap="square" lIns="0" rIns="0" tIns="0" bIns="0" anchor="t">
            <a:spAutoFit/>
          </a:bodyPr>
          <a:lstStyle/>
          <a:p>
            <a:pPr algn="l"/>
            <a:r>
              <a:rPr sz="1300" b="0" i="0">
                <a:solidFill>
                  <a:srgbClr val="17151A"/>
                </a:solidFill>
                <a:latin typeface="Calibri"/>
              </a:rPr>
              <a:t>The definitions travel with the numbers. A metric without its definition gets misread by the next person.</a:t>
            </a:r>
          </a:p>
        </p:txBody>
      </p:sp>
      <p:sp>
        <p:nvSpPr>
          <p:cNvPr id="13" name="Oval 12"/>
          <p:cNvSpPr/>
          <p:nvPr/>
        </p:nvSpPr>
        <p:spPr>
          <a:xfrm>
            <a:off x="676656" y="4617720"/>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535424"/>
            <a:ext cx="6400800" cy="548640"/>
          </a:xfrm>
          <a:prstGeom prst="rect">
            <a:avLst/>
          </a:prstGeom>
          <a:noFill/>
        </p:spPr>
        <p:txBody>
          <a:bodyPr wrap="square" lIns="0" rIns="0" tIns="0" bIns="0" anchor="t">
            <a:spAutoFit/>
          </a:bodyPr>
          <a:lstStyle/>
          <a:p>
            <a:pPr algn="l"/>
            <a:r>
              <a:rPr sz="1300" b="0" i="0">
                <a:solidFill>
                  <a:srgbClr val="17151A"/>
                </a:solidFill>
                <a:latin typeface="Calibri"/>
              </a:rPr>
              <a:t>The source and date are on it. In eight months someone finds this and needs to know what it was built from.</a:t>
            </a:r>
          </a:p>
        </p:txBody>
      </p:sp>
      <p:sp>
        <p:nvSpPr>
          <p:cNvPr id="15" name="Rounded Rectangle 14"/>
          <p:cNvSpPr/>
          <p:nvPr/>
        </p:nvSpPr>
        <p:spPr>
          <a:xfrm>
            <a:off x="7955279" y="2011680"/>
            <a:ext cx="3593592" cy="3840480"/>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2267712"/>
            <a:ext cx="3017520" cy="292608"/>
          </a:xfrm>
          <a:prstGeom prst="rect">
            <a:avLst/>
          </a:prstGeom>
          <a:noFill/>
        </p:spPr>
        <p:txBody>
          <a:bodyPr wrap="square" lIns="0" rIns="0" tIns="0" bIns="0" anchor="t">
            <a:spAutoFit/>
          </a:bodyPr>
          <a:lstStyle/>
          <a:p>
            <a:pPr algn="l"/>
            <a:r>
              <a:rPr sz="1450" b="1" i="0">
                <a:solidFill>
                  <a:srgbClr val="BA0C2F"/>
                </a:solidFill>
                <a:latin typeface="Calibri"/>
              </a:rPr>
              <a:t>Then check three numbers</a:t>
            </a:r>
          </a:p>
        </p:txBody>
      </p:sp>
      <p:sp>
        <p:nvSpPr>
          <p:cNvPr id="17" name="TextBox 16"/>
          <p:cNvSpPr txBox="1"/>
          <p:nvPr/>
        </p:nvSpPr>
        <p:spPr>
          <a:xfrm>
            <a:off x="8247888" y="2633472"/>
            <a:ext cx="3017520" cy="822960"/>
          </a:xfrm>
          <a:prstGeom prst="rect">
            <a:avLst/>
          </a:prstGeom>
          <a:noFill/>
        </p:spPr>
        <p:txBody>
          <a:bodyPr wrap="square" lIns="0" rIns="0" tIns="0" bIns="0" anchor="t">
            <a:spAutoFit/>
          </a:bodyPr>
          <a:lstStyle/>
          <a:p>
            <a:pPr algn="l"/>
            <a:r>
              <a:rPr sz="1300" b="0" i="0">
                <a:solidFill>
                  <a:srgbClr val="17151A"/>
                </a:solidFill>
                <a:latin typeface="Calibri"/>
              </a:rPr>
              <a:t>Pick three figures at random from what you built. Confirm each one matches your analysis document.</a:t>
            </a:r>
          </a:p>
        </p:txBody>
      </p:sp>
      <p:sp>
        <p:nvSpPr>
          <p:cNvPr id="18" name="TextBox 17"/>
          <p:cNvSpPr txBox="1"/>
          <p:nvPr/>
        </p:nvSpPr>
        <p:spPr>
          <a:xfrm>
            <a:off x="8247888" y="3520440"/>
            <a:ext cx="3017520" cy="822960"/>
          </a:xfrm>
          <a:prstGeom prst="rect">
            <a:avLst/>
          </a:prstGeom>
          <a:noFill/>
        </p:spPr>
        <p:txBody>
          <a:bodyPr wrap="square" lIns="0" rIns="0" tIns="0" bIns="0" anchor="t">
            <a:spAutoFit/>
          </a:bodyPr>
          <a:lstStyle/>
          <a:p>
            <a:pPr algn="l"/>
            <a:r>
              <a:rPr sz="1300" b="0" i="0">
                <a:solidFill>
                  <a:srgbClr val="17151A"/>
                </a:solidFill>
                <a:latin typeface="Calibri"/>
              </a:rPr>
              <a:t>Mismatches between the built thing and the analysis are common, and they are fatal in a demo.</a:t>
            </a:r>
          </a:p>
        </p:txBody>
      </p:sp>
      <p:sp>
        <p:nvSpPr>
          <p:cNvPr id="19" name="Rectangle 18"/>
          <p:cNvSpPr/>
          <p:nvPr/>
        </p:nvSpPr>
        <p:spPr>
          <a:xfrm>
            <a:off x="8247888" y="4434840"/>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4617720"/>
            <a:ext cx="3017520" cy="1005840"/>
          </a:xfrm>
          <a:prstGeom prst="rect">
            <a:avLst/>
          </a:prstGeom>
          <a:noFill/>
        </p:spPr>
        <p:txBody>
          <a:bodyPr wrap="square" lIns="0" rIns="0" tIns="0" bIns="0" anchor="t">
            <a:spAutoFit/>
          </a:bodyPr>
          <a:lstStyle/>
          <a:p>
            <a:pPr algn="l"/>
            <a:r>
              <a:rPr sz="1250" b="0" i="1">
                <a:solidFill>
                  <a:srgbClr val="54565B"/>
                </a:solidFill>
                <a:latin typeface="Calibri"/>
              </a:rPr>
              <a:t>Stuck? Ask it to build the smallest version that answers your question, then stop and show you.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607040" cy="1828800"/>
          </a:xfrm>
          <a:prstGeom prst="rect">
            <a:avLst/>
          </a:prstGeom>
          <a:noFill/>
        </p:spPr>
        <p:txBody>
          <a:bodyPr wrap="square" lIns="0" rIns="0" tIns="0" bIns="0" anchor="t">
            <a:spAutoFit/>
          </a:bodyPr>
          <a:lstStyle/>
          <a:p>
            <a:pPr algn="l">
              <a:lnSpc>
                <a:spcPts val="5000"/>
              </a:lnSpc>
            </a:pPr>
            <a:r>
              <a:rPr sz="4000" b="1" i="0">
                <a:solidFill>
                  <a:srgbClr val="FFFFFF"/>
                </a:solidFill>
                <a:latin typeface="Cambria"/>
              </a:rPr>
              <a:t>You built something.</a:t>
            </a:r>
          </a:p>
          <a:p>
            <a:pPr algn="l">
              <a:lnSpc>
                <a:spcPts val="5000"/>
              </a:lnSpc>
            </a:pPr>
            <a:r>
              <a:rPr sz="4000" b="1" i="0">
                <a:solidFill>
                  <a:srgbClr val="FFFFFF"/>
                </a:solidFill>
                <a:latin typeface="Cambria"/>
              </a:rPr>
              <a:t>Now get someone to act on it.</a:t>
            </a:r>
          </a:p>
        </p:txBody>
      </p:sp>
      <p:sp>
        <p:nvSpPr>
          <p:cNvPr id="4" name="TextBox 3"/>
          <p:cNvSpPr txBox="1"/>
          <p:nvPr/>
        </p:nvSpPr>
        <p:spPr>
          <a:xfrm>
            <a:off x="640080" y="4343400"/>
            <a:ext cx="7315200" cy="365760"/>
          </a:xfrm>
          <a:prstGeom prst="rect">
            <a:avLst/>
          </a:prstGeom>
          <a:noFill/>
        </p:spPr>
        <p:txBody>
          <a:bodyPr wrap="square" lIns="0" rIns="0" tIns="0" bIns="0" anchor="t">
            <a:spAutoFit/>
          </a:bodyPr>
          <a:lstStyle/>
          <a:p>
            <a:pPr algn="l"/>
            <a:r>
              <a:rPr sz="1600" b="0" i="0">
                <a:solidFill>
                  <a:srgbClr val="D5D2C5"/>
                </a:solidFill>
                <a:latin typeface="Calibri"/>
              </a:rPr>
              <a:t>Second half  |  the memo, then the 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THE MEMO</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Bottom line up front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572768"/>
            <a:ext cx="10515600" cy="320040"/>
          </a:xfrm>
          <a:prstGeom prst="rect">
            <a:avLst/>
          </a:prstGeom>
          <a:noFill/>
        </p:spPr>
        <p:txBody>
          <a:bodyPr wrap="square" lIns="0" rIns="0" tIns="0" bIns="0" anchor="t">
            <a:spAutoFit/>
          </a:bodyPr>
          <a:lstStyle/>
          <a:p>
            <a:pPr algn="l"/>
            <a:r>
              <a:rPr sz="1500" b="0" i="0">
                <a:solidFill>
                  <a:srgbClr val="54565B"/>
                </a:solidFill>
                <a:latin typeface="Calibri"/>
              </a:rPr>
              <a:t>Your reader spends ninety seconds on this. They read the first paragraph carefully and the rest selectively.</a:t>
            </a:r>
          </a:p>
        </p:txBody>
      </p:sp>
      <p:sp>
        <p:nvSpPr>
          <p:cNvPr id="6" name="Oval 5"/>
          <p:cNvSpPr/>
          <p:nvPr/>
        </p:nvSpPr>
        <p:spPr>
          <a:xfrm>
            <a:off x="640080" y="2194560"/>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207007" y="2185416"/>
            <a:ext cx="4023360" cy="320040"/>
          </a:xfrm>
          <a:prstGeom prst="rect">
            <a:avLst/>
          </a:prstGeom>
          <a:noFill/>
        </p:spPr>
        <p:txBody>
          <a:bodyPr wrap="square" lIns="0" rIns="0" tIns="0" bIns="0" anchor="t">
            <a:spAutoFit/>
          </a:bodyPr>
          <a:lstStyle/>
          <a:p>
            <a:pPr algn="l"/>
            <a:r>
              <a:rPr sz="1600" b="1" i="0">
                <a:solidFill>
                  <a:srgbClr val="17151A"/>
                </a:solidFill>
                <a:latin typeface="Calibri"/>
              </a:rPr>
              <a:t>Recommendation</a:t>
            </a:r>
          </a:p>
        </p:txBody>
      </p:sp>
      <p:sp>
        <p:nvSpPr>
          <p:cNvPr id="8" name="TextBox 7"/>
          <p:cNvSpPr txBox="1"/>
          <p:nvPr/>
        </p:nvSpPr>
        <p:spPr>
          <a:xfrm>
            <a:off x="5394960" y="2194560"/>
            <a:ext cx="5852160" cy="548640"/>
          </a:xfrm>
          <a:prstGeom prst="rect">
            <a:avLst/>
          </a:prstGeom>
          <a:noFill/>
        </p:spPr>
        <p:txBody>
          <a:bodyPr wrap="square" lIns="0" rIns="0" tIns="0" bIns="0" anchor="t">
            <a:spAutoFit/>
          </a:bodyPr>
          <a:lstStyle/>
          <a:p>
            <a:pPr algn="l"/>
            <a:r>
              <a:rPr sz="1400" b="0" i="0">
                <a:solidFill>
                  <a:srgbClr val="54565B"/>
                </a:solidFill>
                <a:latin typeface="Calibri"/>
              </a:rPr>
              <a:t>A verb and an object. What you want them to do.</a:t>
            </a:r>
          </a:p>
        </p:txBody>
      </p:sp>
      <p:sp>
        <p:nvSpPr>
          <p:cNvPr id="9" name="Oval 8"/>
          <p:cNvSpPr/>
          <p:nvPr/>
        </p:nvSpPr>
        <p:spPr>
          <a:xfrm>
            <a:off x="640080" y="2944368"/>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207007" y="2935224"/>
            <a:ext cx="4023360" cy="320040"/>
          </a:xfrm>
          <a:prstGeom prst="rect">
            <a:avLst/>
          </a:prstGeom>
          <a:noFill/>
        </p:spPr>
        <p:txBody>
          <a:bodyPr wrap="square" lIns="0" rIns="0" tIns="0" bIns="0" anchor="t">
            <a:spAutoFit/>
          </a:bodyPr>
          <a:lstStyle/>
          <a:p>
            <a:pPr algn="l"/>
            <a:r>
              <a:rPr sz="1600" b="1" i="0">
                <a:solidFill>
                  <a:srgbClr val="17151A"/>
                </a:solidFill>
                <a:latin typeface="Calibri"/>
              </a:rPr>
              <a:t>The single strongest reason</a:t>
            </a:r>
          </a:p>
        </p:txBody>
      </p:sp>
      <p:sp>
        <p:nvSpPr>
          <p:cNvPr id="11" name="TextBox 10"/>
          <p:cNvSpPr txBox="1"/>
          <p:nvPr/>
        </p:nvSpPr>
        <p:spPr>
          <a:xfrm>
            <a:off x="5394960" y="2944368"/>
            <a:ext cx="5852160" cy="548640"/>
          </a:xfrm>
          <a:prstGeom prst="rect">
            <a:avLst/>
          </a:prstGeom>
          <a:noFill/>
        </p:spPr>
        <p:txBody>
          <a:bodyPr wrap="square" lIns="0" rIns="0" tIns="0" bIns="0" anchor="t">
            <a:spAutoFit/>
          </a:bodyPr>
          <a:lstStyle/>
          <a:p>
            <a:pPr algn="l"/>
            <a:r>
              <a:rPr sz="1400" b="0" i="0">
                <a:solidFill>
                  <a:srgbClr val="54565B"/>
                </a:solidFill>
                <a:latin typeface="Calibri"/>
              </a:rPr>
              <a:t>One sentence, with the number in it.</a:t>
            </a:r>
          </a:p>
        </p:txBody>
      </p:sp>
      <p:sp>
        <p:nvSpPr>
          <p:cNvPr id="12" name="Oval 11"/>
          <p:cNvSpPr/>
          <p:nvPr/>
        </p:nvSpPr>
        <p:spPr>
          <a:xfrm>
            <a:off x="640080" y="3694176"/>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1207007" y="3685032"/>
            <a:ext cx="4023360" cy="320040"/>
          </a:xfrm>
          <a:prstGeom prst="rect">
            <a:avLst/>
          </a:prstGeom>
          <a:noFill/>
        </p:spPr>
        <p:txBody>
          <a:bodyPr wrap="square" lIns="0" rIns="0" tIns="0" bIns="0" anchor="t">
            <a:spAutoFit/>
          </a:bodyPr>
          <a:lstStyle/>
          <a:p>
            <a:pPr algn="l"/>
            <a:r>
              <a:rPr sz="1600" b="1" i="0">
                <a:solidFill>
                  <a:srgbClr val="17151A"/>
                </a:solidFill>
                <a:latin typeface="Calibri"/>
              </a:rPr>
              <a:t>What it costs or risks</a:t>
            </a:r>
          </a:p>
        </p:txBody>
      </p:sp>
      <p:sp>
        <p:nvSpPr>
          <p:cNvPr id="14" name="TextBox 13"/>
          <p:cNvSpPr txBox="1"/>
          <p:nvPr/>
        </p:nvSpPr>
        <p:spPr>
          <a:xfrm>
            <a:off x="5394960" y="3694176"/>
            <a:ext cx="5852160" cy="548640"/>
          </a:xfrm>
          <a:prstGeom prst="rect">
            <a:avLst/>
          </a:prstGeom>
          <a:noFill/>
        </p:spPr>
        <p:txBody>
          <a:bodyPr wrap="square" lIns="0" rIns="0" tIns="0" bIns="0" anchor="t">
            <a:spAutoFit/>
          </a:bodyPr>
          <a:lstStyle/>
          <a:p>
            <a:pPr algn="l"/>
            <a:r>
              <a:rPr sz="1400" b="0" i="0">
                <a:solidFill>
                  <a:srgbClr val="54565B"/>
                </a:solidFill>
                <a:latin typeface="Calibri"/>
              </a:rPr>
              <a:t>Stated, not hidden. Credibility is built here.</a:t>
            </a:r>
          </a:p>
        </p:txBody>
      </p:sp>
      <p:sp>
        <p:nvSpPr>
          <p:cNvPr id="15" name="Oval 14"/>
          <p:cNvSpPr/>
          <p:nvPr/>
        </p:nvSpPr>
        <p:spPr>
          <a:xfrm>
            <a:off x="640080" y="4443984"/>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6" name="TextBox 15"/>
          <p:cNvSpPr txBox="1"/>
          <p:nvPr/>
        </p:nvSpPr>
        <p:spPr>
          <a:xfrm>
            <a:off x="1207007" y="4434840"/>
            <a:ext cx="4023360" cy="320040"/>
          </a:xfrm>
          <a:prstGeom prst="rect">
            <a:avLst/>
          </a:prstGeom>
          <a:noFill/>
        </p:spPr>
        <p:txBody>
          <a:bodyPr wrap="square" lIns="0" rIns="0" tIns="0" bIns="0" anchor="t">
            <a:spAutoFit/>
          </a:bodyPr>
          <a:lstStyle/>
          <a:p>
            <a:pPr algn="l"/>
            <a:r>
              <a:rPr sz="1600" b="1" i="0">
                <a:solidFill>
                  <a:srgbClr val="17151A"/>
                </a:solidFill>
                <a:latin typeface="Calibri"/>
              </a:rPr>
              <a:t>What you need from them</a:t>
            </a:r>
          </a:p>
        </p:txBody>
      </p:sp>
      <p:sp>
        <p:nvSpPr>
          <p:cNvPr id="17" name="TextBox 16"/>
          <p:cNvSpPr txBox="1"/>
          <p:nvPr/>
        </p:nvSpPr>
        <p:spPr>
          <a:xfrm>
            <a:off x="5394960" y="4443984"/>
            <a:ext cx="5852160" cy="548640"/>
          </a:xfrm>
          <a:prstGeom prst="rect">
            <a:avLst/>
          </a:prstGeom>
          <a:noFill/>
        </p:spPr>
        <p:txBody>
          <a:bodyPr wrap="square" lIns="0" rIns="0" tIns="0" bIns="0" anchor="t">
            <a:spAutoFit/>
          </a:bodyPr>
          <a:lstStyle/>
          <a:p>
            <a:pPr algn="l"/>
            <a:r>
              <a:rPr sz="1400" b="0" i="0">
                <a:solidFill>
                  <a:srgbClr val="54565B"/>
                </a:solidFill>
                <a:latin typeface="Calibri"/>
              </a:rPr>
              <a:t>Approval, a decision by a date, or nothing.</a:t>
            </a:r>
          </a:p>
        </p:txBody>
      </p:sp>
      <p:sp>
        <p:nvSpPr>
          <p:cNvPr id="18" name="Rounded Rectangle 17"/>
          <p:cNvSpPr/>
          <p:nvPr/>
        </p:nvSpPr>
        <p:spPr>
          <a:xfrm>
            <a:off x="640080" y="5303520"/>
            <a:ext cx="10911535" cy="91440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532120"/>
            <a:ext cx="10058400" cy="320040"/>
          </a:xfrm>
          <a:prstGeom prst="rect">
            <a:avLst/>
          </a:prstGeom>
          <a:noFill/>
        </p:spPr>
        <p:txBody>
          <a:bodyPr wrap="square" lIns="0" rIns="0" tIns="0" bIns="0" anchor="t">
            <a:spAutoFit/>
          </a:bodyPr>
          <a:lstStyle/>
          <a:p>
            <a:pPr algn="l"/>
            <a:r>
              <a:rPr sz="1550" b="1" i="0">
                <a:solidFill>
                  <a:srgbClr val="BA0C2F"/>
                </a:solidFill>
                <a:latin typeface="Calibri"/>
              </a:rPr>
              <a:t>The test: if they read only that paragraph and acted, would they act correctly?</a:t>
            </a:r>
          </a:p>
        </p:txBody>
      </p:sp>
      <p:sp>
        <p:nvSpPr>
          <p:cNvPr id="20" name="TextBox 19"/>
          <p:cNvSpPr txBox="1"/>
          <p:nvPr/>
        </p:nvSpPr>
        <p:spPr>
          <a:xfrm>
            <a:off x="1051560" y="5833872"/>
            <a:ext cx="10058400" cy="292608"/>
          </a:xfrm>
          <a:prstGeom prst="rect">
            <a:avLst/>
          </a:prstGeom>
          <a:noFill/>
        </p:spPr>
        <p:txBody>
          <a:bodyPr wrap="square" lIns="0" rIns="0" tIns="0" bIns="0" anchor="t">
            <a:spAutoFit/>
          </a:bodyPr>
          <a:lstStyle/>
          <a:p>
            <a:pPr algn="l"/>
            <a:r>
              <a:rPr sz="1350" b="0" i="0">
                <a:solidFill>
                  <a:srgbClr val="17151A"/>
                </a:solidFill>
                <a:latin typeface="Calibri"/>
              </a:rPr>
              <a:t>If not, rewrite it. If it takes more than five sentences, the recommendation is not sharp enough yet.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WHAT GOOD LOOKS LIKE</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The same analysis, two openings</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691640"/>
            <a:ext cx="5294376" cy="39319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1920240"/>
            <a:ext cx="4480560" cy="256032"/>
          </a:xfrm>
          <a:prstGeom prst="rect">
            <a:avLst/>
          </a:prstGeom>
          <a:noFill/>
        </p:spPr>
        <p:txBody>
          <a:bodyPr wrap="square" lIns="0" rIns="0" tIns="0" bIns="0" anchor="t">
            <a:spAutoFit/>
          </a:bodyPr>
          <a:lstStyle/>
          <a:p>
            <a:pPr algn="l"/>
            <a:r>
              <a:rPr sz="1100" b="1" i="0">
                <a:solidFill>
                  <a:srgbClr val="54565B"/>
                </a:solidFill>
                <a:latin typeface="Calibri"/>
              </a:rPr>
              <a:t>HOW MOST PEOPLE OPEN</a:t>
            </a:r>
          </a:p>
        </p:txBody>
      </p:sp>
      <p:sp>
        <p:nvSpPr>
          <p:cNvPr id="7" name="TextBox 6"/>
          <p:cNvSpPr txBox="1"/>
          <p:nvPr/>
        </p:nvSpPr>
        <p:spPr>
          <a:xfrm>
            <a:off x="1024127" y="2286000"/>
            <a:ext cx="4526280" cy="2011680"/>
          </a:xfrm>
          <a:prstGeom prst="rect">
            <a:avLst/>
          </a:prstGeom>
          <a:noFill/>
        </p:spPr>
        <p:txBody>
          <a:bodyPr wrap="square" lIns="0" rIns="0" tIns="0" bIns="0" anchor="t">
            <a:spAutoFit/>
          </a:bodyPr>
          <a:lstStyle/>
          <a:p>
            <a:pPr algn="l"/>
            <a:r>
              <a:rPr sz="1350" b="0" i="0">
                <a:solidFill>
                  <a:srgbClr val="17151A"/>
                </a:solidFill>
                <a:latin typeface="Calibri"/>
              </a:rPr>
              <a:t>“As you know, the support backlog has been growing since Q2. I pulled ticket data from Zendesk covering the last four years and cleaned it, then looked at several staffing scenarios using a model I built. This memo walks through the methodology and findings.”</a:t>
            </a:r>
          </a:p>
        </p:txBody>
      </p:sp>
      <p:sp>
        <p:nvSpPr>
          <p:cNvPr id="8" name="TextBox 7"/>
          <p:cNvSpPr txBox="1"/>
          <p:nvPr/>
        </p:nvSpPr>
        <p:spPr>
          <a:xfrm>
            <a:off x="1024127" y="5029200"/>
            <a:ext cx="4526280" cy="457200"/>
          </a:xfrm>
          <a:prstGeom prst="rect">
            <a:avLst/>
          </a:prstGeom>
          <a:noFill/>
        </p:spPr>
        <p:txBody>
          <a:bodyPr wrap="square" lIns="0" rIns="0" tIns="0" bIns="0" anchor="t">
            <a:spAutoFit/>
          </a:bodyPr>
          <a:lstStyle/>
          <a:p>
            <a:pPr algn="l"/>
            <a:r>
              <a:rPr sz="1250" b="0" i="1">
                <a:solidFill>
                  <a:srgbClr val="54565B"/>
                </a:solidFill>
                <a:latin typeface="Calibri"/>
              </a:rPr>
              <a:t>Four sentences. No recommendation. The reader still does not know what you want.</a:t>
            </a:r>
          </a:p>
        </p:txBody>
      </p:sp>
      <p:sp>
        <p:nvSpPr>
          <p:cNvPr id="9" name="Rounded Rectangle 8"/>
          <p:cNvSpPr/>
          <p:nvPr/>
        </p:nvSpPr>
        <p:spPr>
          <a:xfrm>
            <a:off x="6190488" y="1691640"/>
            <a:ext cx="5294376" cy="39319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4536" y="1920240"/>
            <a:ext cx="4480560" cy="256032"/>
          </a:xfrm>
          <a:prstGeom prst="rect">
            <a:avLst/>
          </a:prstGeom>
          <a:noFill/>
        </p:spPr>
        <p:txBody>
          <a:bodyPr wrap="square" lIns="0" rIns="0" tIns="0" bIns="0" anchor="t">
            <a:spAutoFit/>
          </a:bodyPr>
          <a:lstStyle/>
          <a:p>
            <a:pPr algn="l"/>
            <a:r>
              <a:rPr sz="1100" b="1" i="0">
                <a:solidFill>
                  <a:srgbClr val="BA0C2F"/>
                </a:solidFill>
                <a:latin typeface="Calibri"/>
              </a:rPr>
              <a:t>HOW IT SHOULD OPEN</a:t>
            </a:r>
          </a:p>
        </p:txBody>
      </p:sp>
      <p:sp>
        <p:nvSpPr>
          <p:cNvPr id="11" name="TextBox 10"/>
          <p:cNvSpPr txBox="1"/>
          <p:nvPr/>
        </p:nvSpPr>
        <p:spPr>
          <a:xfrm>
            <a:off x="6574536" y="2286000"/>
            <a:ext cx="4526280" cy="2011680"/>
          </a:xfrm>
          <a:prstGeom prst="rect">
            <a:avLst/>
          </a:prstGeom>
          <a:noFill/>
        </p:spPr>
        <p:txBody>
          <a:bodyPr wrap="square" lIns="0" rIns="0" tIns="0" bIns="0" anchor="t">
            <a:spAutoFit/>
          </a:bodyPr>
          <a:lstStyle/>
          <a:p>
            <a:pPr algn="l"/>
            <a:r>
              <a:rPr sz="1350" b="0" i="0">
                <a:solidFill>
                  <a:srgbClr val="17151A"/>
                </a:solidFill>
                <a:latin typeface="Calibri"/>
              </a:rPr>
              <a:t>“Extend the contractor bridge through Q4 and defer two of the five open reqs to January. New hires ramp in eight weeks, which lands after the peak we are trying to cover, so hiring now costs about $180K more for the same coverage. I need your decision by August 15th.”</a:t>
            </a:r>
          </a:p>
        </p:txBody>
      </p:sp>
      <p:sp>
        <p:nvSpPr>
          <p:cNvPr id="12" name="TextBox 11"/>
          <p:cNvSpPr txBox="1"/>
          <p:nvPr/>
        </p:nvSpPr>
        <p:spPr>
          <a:xfrm>
            <a:off x="6574536" y="5029200"/>
            <a:ext cx="4526280" cy="457200"/>
          </a:xfrm>
          <a:prstGeom prst="rect">
            <a:avLst/>
          </a:prstGeom>
          <a:noFill/>
        </p:spPr>
        <p:txBody>
          <a:bodyPr wrap="square" lIns="0" rIns="0" tIns="0" bIns="0" anchor="t">
            <a:spAutoFit/>
          </a:bodyPr>
          <a:lstStyle/>
          <a:p>
            <a:pPr algn="l"/>
            <a:r>
              <a:rPr sz="1250" b="1" i="1">
                <a:solidFill>
                  <a:srgbClr val="BA0C2F"/>
                </a:solidFill>
                <a:latin typeface="Calibri"/>
              </a:rPr>
              <a:t>Recommendation, reason with a number, cost, and the ask. Three sentences.</a:t>
            </a:r>
          </a:p>
        </p:txBody>
      </p:sp>
      <p:sp>
        <p:nvSpPr>
          <p:cNvPr id="13" name="TextBox 12"/>
          <p:cNvSpPr txBox="1"/>
          <p:nvPr/>
        </p:nvSpPr>
        <p:spPr>
          <a:xfrm>
            <a:off x="640080" y="5897880"/>
            <a:ext cx="10789920" cy="365760"/>
          </a:xfrm>
          <a:prstGeom prst="rect">
            <a:avLst/>
          </a:prstGeom>
          <a:noFill/>
        </p:spPr>
        <p:txBody>
          <a:bodyPr wrap="square" lIns="0" rIns="0" tIns="0" bIns="0" anchor="t">
            <a:spAutoFit/>
          </a:bodyPr>
          <a:lstStyle/>
          <a:p>
            <a:pPr algn="l"/>
            <a:r>
              <a:rPr sz="1600" b="1" i="0">
                <a:solidFill>
                  <a:srgbClr val="17151A"/>
                </a:solidFill>
                <a:latin typeface="Calibri"/>
              </a:rPr>
              <a:t>Same analysis. Same author. Only the order 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AND EVERY GOOD ONE HAS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The two things most memos leave out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Oval 4"/>
          <p:cNvSpPr/>
          <p:nvPr/>
        </p:nvSpPr>
        <p:spPr>
          <a:xfrm>
            <a:off x="640080" y="1892807"/>
            <a:ext cx="457200" cy="45720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6" name="TextBox 5"/>
          <p:cNvSpPr txBox="1"/>
          <p:nvPr/>
        </p:nvSpPr>
        <p:spPr>
          <a:xfrm>
            <a:off x="1316736" y="1874519"/>
            <a:ext cx="9601200" cy="365760"/>
          </a:xfrm>
          <a:prstGeom prst="rect">
            <a:avLst/>
          </a:prstGeom>
          <a:noFill/>
        </p:spPr>
        <p:txBody>
          <a:bodyPr wrap="square" lIns="0" rIns="0" tIns="0" bIns="0" anchor="t">
            <a:spAutoFit/>
          </a:bodyPr>
          <a:lstStyle/>
          <a:p>
            <a:pPr algn="l"/>
            <a:r>
              <a:rPr sz="2200" b="1" i="0">
                <a:solidFill>
                  <a:srgbClr val="BA0C2F"/>
                </a:solidFill>
                <a:latin typeface="Cambria"/>
              </a:rPr>
              <a:t>The strongest case against you</a:t>
            </a:r>
          </a:p>
        </p:txBody>
      </p:sp>
      <p:sp>
        <p:nvSpPr>
          <p:cNvPr id="7" name="TextBox 6"/>
          <p:cNvSpPr txBox="1"/>
          <p:nvPr/>
        </p:nvSpPr>
        <p:spPr>
          <a:xfrm>
            <a:off x="1316736" y="2331720"/>
            <a:ext cx="9692640" cy="1371600"/>
          </a:xfrm>
          <a:prstGeom prst="rect">
            <a:avLst/>
          </a:prstGeom>
          <a:noFill/>
        </p:spPr>
        <p:txBody>
          <a:bodyPr wrap="square" lIns="0" rIns="0" tIns="0" bIns="0" anchor="t">
            <a:spAutoFit/>
          </a:bodyPr>
          <a:lstStyle/>
          <a:p>
            <a:pPr algn="l"/>
            <a:r>
              <a:rPr sz="1450" b="0" i="0">
                <a:solidFill>
                  <a:srgbClr val="17151A"/>
                </a:solidFill>
                <a:latin typeface="Calibri"/>
              </a:rPr>
              <a:t>Not buried. In the evidence section, on its own, stated fairly. This feels like weakening your argument and does the opposite. A reader who finds the counterargument themselves, afterward, discounts everything else you wrote.</a:t>
            </a:r>
          </a:p>
        </p:txBody>
      </p:sp>
      <p:sp>
        <p:nvSpPr>
          <p:cNvPr id="8" name="Oval 7"/>
          <p:cNvSpPr/>
          <p:nvPr/>
        </p:nvSpPr>
        <p:spPr>
          <a:xfrm>
            <a:off x="640080" y="3950207"/>
            <a:ext cx="457200" cy="45720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9" name="TextBox 8"/>
          <p:cNvSpPr txBox="1"/>
          <p:nvPr/>
        </p:nvSpPr>
        <p:spPr>
          <a:xfrm>
            <a:off x="1316736" y="3931920"/>
            <a:ext cx="9601200" cy="365760"/>
          </a:xfrm>
          <a:prstGeom prst="rect">
            <a:avLst/>
          </a:prstGeom>
          <a:noFill/>
        </p:spPr>
        <p:txBody>
          <a:bodyPr wrap="square" lIns="0" rIns="0" tIns="0" bIns="0" anchor="t">
            <a:spAutoFit/>
          </a:bodyPr>
          <a:lstStyle/>
          <a:p>
            <a:pPr algn="l"/>
            <a:r>
              <a:rPr sz="2200" b="1" i="0">
                <a:solidFill>
                  <a:srgbClr val="BA0C2F"/>
                </a:solidFill>
                <a:latin typeface="Cambria"/>
              </a:rPr>
              <a:t>What the analysis could not determine</a:t>
            </a:r>
          </a:p>
        </p:txBody>
      </p:sp>
      <p:sp>
        <p:nvSpPr>
          <p:cNvPr id="10" name="TextBox 9"/>
          <p:cNvSpPr txBox="1"/>
          <p:nvPr/>
        </p:nvSpPr>
        <p:spPr>
          <a:xfrm>
            <a:off x="1316736" y="4389120"/>
            <a:ext cx="9692640" cy="1371600"/>
          </a:xfrm>
          <a:prstGeom prst="rect">
            <a:avLst/>
          </a:prstGeom>
          <a:noFill/>
        </p:spPr>
        <p:txBody>
          <a:bodyPr wrap="square" lIns="0" rIns="0" tIns="0" bIns="0" anchor="t">
            <a:spAutoFit/>
          </a:bodyPr>
          <a:lstStyle/>
          <a:p>
            <a:pPr algn="l"/>
            <a:r>
              <a:rPr sz="1450" b="0" i="0">
                <a:solidFill>
                  <a:srgbClr val="17151A"/>
                </a:solidFill>
                <a:latin typeface="Calibri"/>
              </a:rPr>
              <a:t>Data that did not exist, a window too short, a comparison that was confounded. Stating limitations plainly makes a memo more persuasive, and it prevents the much worse outcome of someone else finding a limitation you did not disclose.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QUALITY CONTROL</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Four tests before you send it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74519"/>
            <a:ext cx="5294376" cy="173736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7" y="2167127"/>
            <a:ext cx="402336" cy="402336"/>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600200" y="2203703"/>
            <a:ext cx="4023360" cy="320040"/>
          </a:xfrm>
          <a:prstGeom prst="rect">
            <a:avLst/>
          </a:prstGeom>
          <a:noFill/>
        </p:spPr>
        <p:txBody>
          <a:bodyPr wrap="square" lIns="0" rIns="0" tIns="0" bIns="0" anchor="t">
            <a:spAutoFit/>
          </a:bodyPr>
          <a:lstStyle/>
          <a:p>
            <a:pPr algn="l"/>
            <a:r>
              <a:rPr sz="1700" b="1" i="0">
                <a:solidFill>
                  <a:srgbClr val="17151A"/>
                </a:solidFill>
                <a:latin typeface="Cambria"/>
              </a:rPr>
              <a:t>Ninety-second test</a:t>
            </a:r>
          </a:p>
        </p:txBody>
      </p:sp>
      <p:sp>
        <p:nvSpPr>
          <p:cNvPr id="8" name="TextBox 7"/>
          <p:cNvSpPr txBox="1"/>
          <p:nvPr/>
        </p:nvSpPr>
        <p:spPr>
          <a:xfrm>
            <a:off x="1024127" y="2743200"/>
            <a:ext cx="4572000" cy="777240"/>
          </a:xfrm>
          <a:prstGeom prst="rect">
            <a:avLst/>
          </a:prstGeom>
          <a:noFill/>
        </p:spPr>
        <p:txBody>
          <a:bodyPr wrap="square" lIns="0" rIns="0" tIns="0" bIns="0" anchor="t">
            <a:spAutoFit/>
          </a:bodyPr>
          <a:lstStyle/>
          <a:p>
            <a:pPr algn="l"/>
            <a:r>
              <a:rPr sz="1350" b="0" i="0">
                <a:solidFill>
                  <a:srgbClr val="17151A"/>
                </a:solidFill>
                <a:latin typeface="Calibri"/>
              </a:rPr>
              <a:t>Read only the first paragraph. Could they act correctly on that alone?</a:t>
            </a:r>
          </a:p>
        </p:txBody>
      </p:sp>
      <p:sp>
        <p:nvSpPr>
          <p:cNvPr id="9" name="Rounded Rectangle 8"/>
          <p:cNvSpPr/>
          <p:nvPr/>
        </p:nvSpPr>
        <p:spPr>
          <a:xfrm>
            <a:off x="6190488" y="1874519"/>
            <a:ext cx="5294376" cy="173736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74536" y="2167127"/>
            <a:ext cx="402336" cy="402336"/>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7150608" y="2203703"/>
            <a:ext cx="4023360" cy="320040"/>
          </a:xfrm>
          <a:prstGeom prst="rect">
            <a:avLst/>
          </a:prstGeom>
          <a:noFill/>
        </p:spPr>
        <p:txBody>
          <a:bodyPr wrap="square" lIns="0" rIns="0" tIns="0" bIns="0" anchor="t">
            <a:spAutoFit/>
          </a:bodyPr>
          <a:lstStyle/>
          <a:p>
            <a:pPr algn="l"/>
            <a:r>
              <a:rPr sz="1700" b="1" i="0">
                <a:solidFill>
                  <a:srgbClr val="17151A"/>
                </a:solidFill>
                <a:latin typeface="Cambria"/>
              </a:rPr>
              <a:t>Skeptic test</a:t>
            </a:r>
          </a:p>
        </p:txBody>
      </p:sp>
      <p:sp>
        <p:nvSpPr>
          <p:cNvPr id="12" name="TextBox 11"/>
          <p:cNvSpPr txBox="1"/>
          <p:nvPr/>
        </p:nvSpPr>
        <p:spPr>
          <a:xfrm>
            <a:off x="6574536" y="2743200"/>
            <a:ext cx="4572000" cy="777240"/>
          </a:xfrm>
          <a:prstGeom prst="rect">
            <a:avLst/>
          </a:prstGeom>
          <a:noFill/>
        </p:spPr>
        <p:txBody>
          <a:bodyPr wrap="square" lIns="0" rIns="0" tIns="0" bIns="0" anchor="t">
            <a:spAutoFit/>
          </a:bodyPr>
          <a:lstStyle/>
          <a:p>
            <a:pPr algn="l"/>
            <a:r>
              <a:rPr sz="1350" b="0" i="0">
                <a:solidFill>
                  <a:srgbClr val="17151A"/>
                </a:solidFill>
                <a:latin typeface="Calibri"/>
              </a:rPr>
              <a:t>The reader's sharpest colleague reads it. What is their first question? Is it answered?</a:t>
            </a:r>
          </a:p>
        </p:txBody>
      </p:sp>
      <p:sp>
        <p:nvSpPr>
          <p:cNvPr id="13" name="Rounded Rectangle 12"/>
          <p:cNvSpPr/>
          <p:nvPr/>
        </p:nvSpPr>
        <p:spPr>
          <a:xfrm>
            <a:off x="640080" y="3840479"/>
            <a:ext cx="5294376" cy="173736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7" y="4133087"/>
            <a:ext cx="402336" cy="402336"/>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5" name="TextBox 14"/>
          <p:cNvSpPr txBox="1"/>
          <p:nvPr/>
        </p:nvSpPr>
        <p:spPr>
          <a:xfrm>
            <a:off x="1600200" y="4169663"/>
            <a:ext cx="4023360" cy="320040"/>
          </a:xfrm>
          <a:prstGeom prst="rect">
            <a:avLst/>
          </a:prstGeom>
          <a:noFill/>
        </p:spPr>
        <p:txBody>
          <a:bodyPr wrap="square" lIns="0" rIns="0" tIns="0" bIns="0" anchor="t">
            <a:spAutoFit/>
          </a:bodyPr>
          <a:lstStyle/>
          <a:p>
            <a:pPr algn="l"/>
            <a:r>
              <a:rPr sz="1700" b="1" i="0">
                <a:solidFill>
                  <a:srgbClr val="17151A"/>
                </a:solidFill>
                <a:latin typeface="Cambria"/>
              </a:rPr>
              <a:t>Forward test</a:t>
            </a:r>
          </a:p>
        </p:txBody>
      </p:sp>
      <p:sp>
        <p:nvSpPr>
          <p:cNvPr id="16" name="TextBox 15"/>
          <p:cNvSpPr txBox="1"/>
          <p:nvPr/>
        </p:nvSpPr>
        <p:spPr>
          <a:xfrm>
            <a:off x="1024127" y="4709159"/>
            <a:ext cx="4572000" cy="777240"/>
          </a:xfrm>
          <a:prstGeom prst="rect">
            <a:avLst/>
          </a:prstGeom>
          <a:noFill/>
        </p:spPr>
        <p:txBody>
          <a:bodyPr wrap="square" lIns="0" rIns="0" tIns="0" bIns="0" anchor="t">
            <a:spAutoFit/>
          </a:bodyPr>
          <a:lstStyle/>
          <a:p>
            <a:pPr algn="l"/>
            <a:r>
              <a:rPr sz="1350" b="0" i="0">
                <a:solidFill>
                  <a:srgbClr val="17151A"/>
                </a:solidFill>
                <a:latin typeface="Calibri"/>
              </a:rPr>
              <a:t>Six months on it went badly and someone pulls this up. Does it hold? Did it name the risk?</a:t>
            </a:r>
          </a:p>
        </p:txBody>
      </p:sp>
      <p:sp>
        <p:nvSpPr>
          <p:cNvPr id="17" name="Rounded Rectangle 16"/>
          <p:cNvSpPr/>
          <p:nvPr/>
        </p:nvSpPr>
        <p:spPr>
          <a:xfrm>
            <a:off x="6190488" y="3840479"/>
            <a:ext cx="5294376" cy="173736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74536" y="4133087"/>
            <a:ext cx="402336" cy="402336"/>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9" name="TextBox 18"/>
          <p:cNvSpPr txBox="1"/>
          <p:nvPr/>
        </p:nvSpPr>
        <p:spPr>
          <a:xfrm>
            <a:off x="7150608" y="4169663"/>
            <a:ext cx="4023360" cy="320040"/>
          </a:xfrm>
          <a:prstGeom prst="rect">
            <a:avLst/>
          </a:prstGeom>
          <a:noFill/>
        </p:spPr>
        <p:txBody>
          <a:bodyPr wrap="square" lIns="0" rIns="0" tIns="0" bIns="0" anchor="t">
            <a:spAutoFit/>
          </a:bodyPr>
          <a:lstStyle/>
          <a:p>
            <a:pPr algn="l"/>
            <a:r>
              <a:rPr sz="1700" b="1" i="0">
                <a:solidFill>
                  <a:srgbClr val="17151A"/>
                </a:solidFill>
                <a:latin typeface="Cambria"/>
              </a:rPr>
              <a:t>Hostile-quote test</a:t>
            </a:r>
          </a:p>
        </p:txBody>
      </p:sp>
      <p:sp>
        <p:nvSpPr>
          <p:cNvPr id="20" name="TextBox 19"/>
          <p:cNvSpPr txBox="1"/>
          <p:nvPr/>
        </p:nvSpPr>
        <p:spPr>
          <a:xfrm>
            <a:off x="6574536" y="4709159"/>
            <a:ext cx="4572000" cy="777240"/>
          </a:xfrm>
          <a:prstGeom prst="rect">
            <a:avLst/>
          </a:prstGeom>
          <a:noFill/>
        </p:spPr>
        <p:txBody>
          <a:bodyPr wrap="square" lIns="0" rIns="0" tIns="0" bIns="0" anchor="t">
            <a:spAutoFit/>
          </a:bodyPr>
          <a:lstStyle/>
          <a:p>
            <a:pPr algn="l"/>
            <a:r>
              <a:rPr sz="1350" b="0" i="0">
                <a:solidFill>
                  <a:srgbClr val="17151A"/>
                </a:solidFill>
                <a:latin typeface="Calibri"/>
              </a:rPr>
              <a:t>Which sentence would someone pull out of context to misrepresent you? Rewrite it.</a:t>
            </a:r>
          </a:p>
        </p:txBody>
      </p:sp>
      <p:sp>
        <p:nvSpPr>
          <p:cNvPr id="21" name="TextBox 20"/>
          <p:cNvSpPr txBox="1"/>
          <p:nvPr/>
        </p:nvSpPr>
        <p:spPr>
          <a:xfrm>
            <a:off x="640080" y="5897880"/>
            <a:ext cx="10789920" cy="365760"/>
          </a:xfrm>
          <a:prstGeom prst="rect">
            <a:avLst/>
          </a:prstGeom>
          <a:noFill/>
        </p:spPr>
        <p:txBody>
          <a:bodyPr wrap="square" lIns="0" rIns="0" tIns="0" bIns="0" anchor="t">
            <a:spAutoFit/>
          </a:bodyPr>
          <a:lstStyle/>
          <a:p>
            <a:pPr algn="l"/>
            <a:r>
              <a:rPr sz="1500" b="1" i="0">
                <a:solidFill>
                  <a:srgbClr val="BA0C2F"/>
                </a:solidFill>
                <a:latin typeface="Calibri"/>
              </a:rPr>
              <a:t>Target 400 to 500 words. Over 600 and it is not finished.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25 MINUTES</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2743200" cy="274320"/>
          </a:xfrm>
          <a:prstGeom prst="rect">
            <a:avLst/>
          </a:prstGeom>
          <a:noFill/>
        </p:spPr>
        <p:txBody>
          <a:bodyPr wrap="square" lIns="0" rIns="0" tIns="0" bIns="0" anchor="t">
            <a:spAutoFit/>
          </a:bodyPr>
          <a:lstStyle/>
          <a:p>
            <a:pPr algn="l"/>
            <a:r>
              <a:rPr sz="1400" b="0" i="0">
                <a:solidFill>
                  <a:srgbClr val="54565B"/>
                </a:solidFill>
                <a:latin typeface="Calibri"/>
              </a:rPr>
              <a:t>Say:</a:t>
            </a:r>
          </a:p>
        </p:txBody>
      </p:sp>
      <p:sp>
        <p:nvSpPr>
          <p:cNvPr id="6" name="Rounded Rectangle 5"/>
          <p:cNvSpPr/>
          <p:nvPr/>
        </p:nvSpPr>
        <p:spPr>
          <a:xfrm>
            <a:off x="640080" y="2011680"/>
            <a:ext cx="676656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76272"/>
            <a:ext cx="6217920" cy="365760"/>
          </a:xfrm>
          <a:prstGeom prst="rect">
            <a:avLst/>
          </a:prstGeom>
          <a:noFill/>
        </p:spPr>
        <p:txBody>
          <a:bodyPr wrap="square" lIns="0" rIns="0" tIns="0" bIns="0" anchor="t">
            <a:spAutoFit/>
          </a:bodyPr>
          <a:lstStyle/>
          <a:p>
            <a:pPr algn="l"/>
            <a:r>
              <a:rPr sz="1700" b="0" i="0">
                <a:solidFill>
                  <a:srgbClr val="BA0C2F"/>
                </a:solidFill>
                <a:latin typeface="Consolas"/>
              </a:rPr>
              <a:t>write this up for my VP</a:t>
            </a:r>
          </a:p>
        </p:txBody>
      </p:sp>
      <p:sp>
        <p:nvSpPr>
          <p:cNvPr id="8" name="TextBox 7"/>
          <p:cNvSpPr txBox="1"/>
          <p:nvPr/>
        </p:nvSpPr>
        <p:spPr>
          <a:xfrm>
            <a:off x="640080" y="2926080"/>
            <a:ext cx="6766560" cy="1005840"/>
          </a:xfrm>
          <a:prstGeom prst="rect">
            <a:avLst/>
          </a:prstGeom>
          <a:noFill/>
        </p:spPr>
        <p:txBody>
          <a:bodyPr wrap="square" lIns="0" rIns="0" tIns="0" bIns="0" anchor="t">
            <a:spAutoFit/>
          </a:bodyPr>
          <a:lstStyle/>
          <a:p>
            <a:pPr algn="l"/>
            <a:r>
              <a:rPr sz="1400" b="0" i="0">
                <a:solidFill>
                  <a:srgbClr val="17151A"/>
                </a:solidFill>
                <a:latin typeface="Calibri"/>
              </a:rPr>
              <a:t>Fill in the reader block at the top of your template first. Who reads this, what they already believe, and what they optimize for. The same analysis produces a genuinely different memo for a CFO than for an operations director.</a:t>
            </a:r>
          </a:p>
        </p:txBody>
      </p:sp>
      <p:sp>
        <p:nvSpPr>
          <p:cNvPr id="9" name="TextBox 8"/>
          <p:cNvSpPr txBox="1"/>
          <p:nvPr/>
        </p:nvSpPr>
        <p:spPr>
          <a:xfrm>
            <a:off x="640080" y="4069080"/>
            <a:ext cx="6766560" cy="914400"/>
          </a:xfrm>
          <a:prstGeom prst="rect">
            <a:avLst/>
          </a:prstGeom>
          <a:noFill/>
        </p:spPr>
        <p:txBody>
          <a:bodyPr wrap="square" lIns="0" rIns="0" tIns="0" bIns="0" anchor="t">
            <a:spAutoFit/>
          </a:bodyPr>
          <a:lstStyle/>
          <a:p>
            <a:pPr algn="l"/>
            <a:r>
              <a:rPr sz="1400" b="0" i="0">
                <a:solidFill>
                  <a:srgbClr val="17151A"/>
                </a:solidFill>
                <a:latin typeface="Calibri"/>
              </a:rPr>
              <a:t>If your honest recommendation is “we do not know yet, here is what would settle it,” write that memo. It beats a confident answer the evidence does not support.</a:t>
            </a:r>
          </a:p>
        </p:txBody>
      </p:sp>
      <p:sp>
        <p:nvSpPr>
          <p:cNvPr id="10" name="Rounded Rectangle 9"/>
          <p:cNvSpPr/>
          <p:nvPr/>
        </p:nvSpPr>
        <p:spPr>
          <a:xfrm>
            <a:off x="7955279" y="2011680"/>
            <a:ext cx="3593592" cy="3383280"/>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7888" y="2286000"/>
            <a:ext cx="3017520" cy="292608"/>
          </a:xfrm>
          <a:prstGeom prst="rect">
            <a:avLst/>
          </a:prstGeom>
          <a:noFill/>
        </p:spPr>
        <p:txBody>
          <a:bodyPr wrap="square" lIns="0" rIns="0" tIns="0" bIns="0" anchor="t">
            <a:spAutoFit/>
          </a:bodyPr>
          <a:lstStyle/>
          <a:p>
            <a:pPr algn="l"/>
            <a:r>
              <a:rPr sz="1500" b="1" i="0">
                <a:solidFill>
                  <a:srgbClr val="BA0C2F"/>
                </a:solidFill>
                <a:latin typeface="Calibri"/>
              </a:rPr>
              <a:t>You sign this one</a:t>
            </a:r>
          </a:p>
        </p:txBody>
      </p:sp>
      <p:sp>
        <p:nvSpPr>
          <p:cNvPr id="12" name="TextBox 11"/>
          <p:cNvSpPr txBox="1"/>
          <p:nvPr/>
        </p:nvSpPr>
        <p:spPr>
          <a:xfrm>
            <a:off x="8247888" y="2670048"/>
            <a:ext cx="3017520" cy="292608"/>
          </a:xfrm>
          <a:prstGeom prst="rect">
            <a:avLst/>
          </a:prstGeom>
          <a:noFill/>
        </p:spPr>
        <p:txBody>
          <a:bodyPr wrap="square" lIns="0" rIns="0" tIns="0" bIns="0" anchor="t">
            <a:spAutoFit/>
          </a:bodyPr>
          <a:lstStyle/>
          <a:p>
            <a:pPr algn="l"/>
            <a:r>
              <a:rPr sz="1350" b="1" i="0">
                <a:solidFill>
                  <a:srgbClr val="17151A"/>
                </a:solidFill>
                <a:latin typeface="Calibri"/>
              </a:rPr>
              <a:t>It has to sound like you.</a:t>
            </a:r>
          </a:p>
        </p:txBody>
      </p:sp>
      <p:sp>
        <p:nvSpPr>
          <p:cNvPr id="13" name="TextBox 12"/>
          <p:cNvSpPr txBox="1"/>
          <p:nvPr/>
        </p:nvSpPr>
        <p:spPr>
          <a:xfrm>
            <a:off x="8247888" y="3017520"/>
            <a:ext cx="3017520" cy="822960"/>
          </a:xfrm>
          <a:prstGeom prst="rect">
            <a:avLst/>
          </a:prstGeom>
          <a:noFill/>
        </p:spPr>
        <p:txBody>
          <a:bodyPr wrap="square" lIns="0" rIns="0" tIns="0" bIns="0" anchor="t">
            <a:spAutoFit/>
          </a:bodyPr>
          <a:lstStyle/>
          <a:p>
            <a:pPr algn="l"/>
            <a:r>
              <a:rPr sz="1350" b="0" i="0">
                <a:solidFill>
                  <a:srgbClr val="17151A"/>
                </a:solidFill>
                <a:latin typeface="Calibri"/>
              </a:rPr>
              <a:t>And you have to be able to defend every line of it in a meeting the AI will not be in.</a:t>
            </a:r>
          </a:p>
        </p:txBody>
      </p:sp>
      <p:sp>
        <p:nvSpPr>
          <p:cNvPr id="14" name="Rectangle 13"/>
          <p:cNvSpPr/>
          <p:nvPr/>
        </p:nvSpPr>
        <p:spPr>
          <a:xfrm>
            <a:off x="8247888" y="3931920"/>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4114800"/>
            <a:ext cx="3017520" cy="1005840"/>
          </a:xfrm>
          <a:prstGeom prst="rect">
            <a:avLst/>
          </a:prstGeom>
          <a:noFill/>
        </p:spPr>
        <p:txBody>
          <a:bodyPr wrap="square" lIns="0" rIns="0" tIns="0" bIns="0" anchor="t">
            <a:spAutoFit/>
          </a:bodyPr>
          <a:lstStyle/>
          <a:p>
            <a:pPr algn="l"/>
            <a:r>
              <a:rPr sz="1300" b="0" i="1">
                <a:solidFill>
                  <a:srgbClr val="54565B"/>
                </a:solidFill>
                <a:latin typeface="Calibri"/>
              </a:rPr>
              <a:t>Read what it wrote. Change what does not sound like you. That edit is the 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THE DEMO</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Five minutes, four beats</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Oval 4"/>
          <p:cNvSpPr/>
          <p:nvPr/>
        </p:nvSpPr>
        <p:spPr>
          <a:xfrm>
            <a:off x="640080" y="1819656"/>
            <a:ext cx="402336" cy="40233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1234440" y="1783080"/>
            <a:ext cx="2651760" cy="292608"/>
          </a:xfrm>
          <a:prstGeom prst="rect">
            <a:avLst/>
          </a:prstGeom>
          <a:noFill/>
        </p:spPr>
        <p:txBody>
          <a:bodyPr wrap="square" lIns="0" rIns="0" tIns="0" bIns="0" anchor="t">
            <a:spAutoFit/>
          </a:bodyPr>
          <a:lstStyle/>
          <a:p>
            <a:pPr algn="l"/>
            <a:r>
              <a:rPr sz="1650" b="1" i="0">
                <a:solidFill>
                  <a:srgbClr val="17151A"/>
                </a:solidFill>
                <a:latin typeface="Calibri"/>
              </a:rPr>
              <a:t>The decision</a:t>
            </a:r>
          </a:p>
        </p:txBody>
      </p:sp>
      <p:sp>
        <p:nvSpPr>
          <p:cNvPr id="7" name="TextBox 6"/>
          <p:cNvSpPr txBox="1"/>
          <p:nvPr/>
        </p:nvSpPr>
        <p:spPr>
          <a:xfrm>
            <a:off x="3840480" y="1819656"/>
            <a:ext cx="640080" cy="256032"/>
          </a:xfrm>
          <a:prstGeom prst="rect">
            <a:avLst/>
          </a:prstGeom>
          <a:noFill/>
        </p:spPr>
        <p:txBody>
          <a:bodyPr wrap="square" lIns="0" rIns="0" tIns="0" bIns="0" anchor="t">
            <a:spAutoFit/>
          </a:bodyPr>
          <a:lstStyle/>
          <a:p>
            <a:pPr algn="l"/>
            <a:r>
              <a:rPr sz="1200" b="0" i="0">
                <a:solidFill>
                  <a:srgbClr val="54565B"/>
                </a:solidFill>
                <a:latin typeface="Consolas"/>
              </a:rPr>
              <a:t>0:00</a:t>
            </a:r>
          </a:p>
        </p:txBody>
      </p:sp>
      <p:sp>
        <p:nvSpPr>
          <p:cNvPr id="8" name="TextBox 7"/>
          <p:cNvSpPr txBox="1"/>
          <p:nvPr/>
        </p:nvSpPr>
        <p:spPr>
          <a:xfrm>
            <a:off x="4663440" y="1783080"/>
            <a:ext cx="6766560" cy="685800"/>
          </a:xfrm>
          <a:prstGeom prst="rect">
            <a:avLst/>
          </a:prstGeom>
          <a:noFill/>
        </p:spPr>
        <p:txBody>
          <a:bodyPr wrap="square" lIns="0" rIns="0" tIns="0" bIns="0" anchor="t">
            <a:spAutoFit/>
          </a:bodyPr>
          <a:lstStyle/>
          <a:p>
            <a:pPr algn="l"/>
            <a:r>
              <a:rPr sz="1350" b="0" i="0">
                <a:solidFill>
                  <a:srgbClr val="17151A"/>
                </a:solidFill>
                <a:latin typeface="Calibri"/>
              </a:rPr>
              <a:t>Open with the question and the stakes, not the artifact. Nobody cares what you built until they know what it is for.</a:t>
            </a:r>
          </a:p>
        </p:txBody>
      </p:sp>
      <p:sp>
        <p:nvSpPr>
          <p:cNvPr id="9" name="Oval 8"/>
          <p:cNvSpPr/>
          <p:nvPr/>
        </p:nvSpPr>
        <p:spPr>
          <a:xfrm>
            <a:off x="640080" y="2871215"/>
            <a:ext cx="402336" cy="40233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234440" y="2834639"/>
            <a:ext cx="2651760" cy="292608"/>
          </a:xfrm>
          <a:prstGeom prst="rect">
            <a:avLst/>
          </a:prstGeom>
          <a:noFill/>
        </p:spPr>
        <p:txBody>
          <a:bodyPr wrap="square" lIns="0" rIns="0" tIns="0" bIns="0" anchor="t">
            <a:spAutoFit/>
          </a:bodyPr>
          <a:lstStyle/>
          <a:p>
            <a:pPr algn="l"/>
            <a:r>
              <a:rPr sz="1650" b="1" i="0">
                <a:solidFill>
                  <a:srgbClr val="17151A"/>
                </a:solidFill>
                <a:latin typeface="Calibri"/>
              </a:rPr>
              <a:t>The answer</a:t>
            </a:r>
          </a:p>
        </p:txBody>
      </p:sp>
      <p:sp>
        <p:nvSpPr>
          <p:cNvPr id="11" name="TextBox 10"/>
          <p:cNvSpPr txBox="1"/>
          <p:nvPr/>
        </p:nvSpPr>
        <p:spPr>
          <a:xfrm>
            <a:off x="3840480" y="2871215"/>
            <a:ext cx="640080" cy="256032"/>
          </a:xfrm>
          <a:prstGeom prst="rect">
            <a:avLst/>
          </a:prstGeom>
          <a:noFill/>
        </p:spPr>
        <p:txBody>
          <a:bodyPr wrap="square" lIns="0" rIns="0" tIns="0" bIns="0" anchor="t">
            <a:spAutoFit/>
          </a:bodyPr>
          <a:lstStyle/>
          <a:p>
            <a:pPr algn="l"/>
            <a:r>
              <a:rPr sz="1200" b="0" i="0">
                <a:solidFill>
                  <a:srgbClr val="54565B"/>
                </a:solidFill>
                <a:latin typeface="Consolas"/>
              </a:rPr>
              <a:t>0:30</a:t>
            </a:r>
          </a:p>
        </p:txBody>
      </p:sp>
      <p:sp>
        <p:nvSpPr>
          <p:cNvPr id="12" name="TextBox 11"/>
          <p:cNvSpPr txBox="1"/>
          <p:nvPr/>
        </p:nvSpPr>
        <p:spPr>
          <a:xfrm>
            <a:off x="4663440" y="2834639"/>
            <a:ext cx="6766560" cy="685800"/>
          </a:xfrm>
          <a:prstGeom prst="rect">
            <a:avLst/>
          </a:prstGeom>
          <a:noFill/>
        </p:spPr>
        <p:txBody>
          <a:bodyPr wrap="square" lIns="0" rIns="0" tIns="0" bIns="0" anchor="t">
            <a:spAutoFit/>
          </a:bodyPr>
          <a:lstStyle/>
          <a:p>
            <a:pPr algn="l"/>
            <a:r>
              <a:rPr sz="1350" b="0" i="0">
                <a:solidFill>
                  <a:srgbClr val="17151A"/>
                </a:solidFill>
                <a:latin typeface="Calibri"/>
              </a:rPr>
              <a:t>The recommendation, with the number, before the tour. If the demo breaks at minute three, the room already has what it needs.</a:t>
            </a:r>
          </a:p>
        </p:txBody>
      </p:sp>
      <p:sp>
        <p:nvSpPr>
          <p:cNvPr id="13" name="Oval 12"/>
          <p:cNvSpPr/>
          <p:nvPr/>
        </p:nvSpPr>
        <p:spPr>
          <a:xfrm>
            <a:off x="640080" y="3922776"/>
            <a:ext cx="402336" cy="40233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4" name="TextBox 13"/>
          <p:cNvSpPr txBox="1"/>
          <p:nvPr/>
        </p:nvSpPr>
        <p:spPr>
          <a:xfrm>
            <a:off x="1234440" y="3886200"/>
            <a:ext cx="2651760" cy="292608"/>
          </a:xfrm>
          <a:prstGeom prst="rect">
            <a:avLst/>
          </a:prstGeom>
          <a:noFill/>
        </p:spPr>
        <p:txBody>
          <a:bodyPr wrap="square" lIns="0" rIns="0" tIns="0" bIns="0" anchor="t">
            <a:spAutoFit/>
          </a:bodyPr>
          <a:lstStyle/>
          <a:p>
            <a:pPr algn="l"/>
            <a:r>
              <a:rPr sz="1650" b="1" i="0">
                <a:solidFill>
                  <a:srgbClr val="17151A"/>
                </a:solidFill>
                <a:latin typeface="Calibri"/>
              </a:rPr>
              <a:t>The show</a:t>
            </a:r>
          </a:p>
        </p:txBody>
      </p:sp>
      <p:sp>
        <p:nvSpPr>
          <p:cNvPr id="15" name="TextBox 14"/>
          <p:cNvSpPr txBox="1"/>
          <p:nvPr/>
        </p:nvSpPr>
        <p:spPr>
          <a:xfrm>
            <a:off x="3840480" y="3922776"/>
            <a:ext cx="640080" cy="256032"/>
          </a:xfrm>
          <a:prstGeom prst="rect">
            <a:avLst/>
          </a:prstGeom>
          <a:noFill/>
        </p:spPr>
        <p:txBody>
          <a:bodyPr wrap="square" lIns="0" rIns="0" tIns="0" bIns="0" anchor="t">
            <a:spAutoFit/>
          </a:bodyPr>
          <a:lstStyle/>
          <a:p>
            <a:pPr algn="l"/>
            <a:r>
              <a:rPr sz="1200" b="0" i="0">
                <a:solidFill>
                  <a:srgbClr val="54565B"/>
                </a:solidFill>
                <a:latin typeface="Consolas"/>
              </a:rPr>
              <a:t>1:30</a:t>
            </a:r>
          </a:p>
        </p:txBody>
      </p:sp>
      <p:sp>
        <p:nvSpPr>
          <p:cNvPr id="16" name="TextBox 15"/>
          <p:cNvSpPr txBox="1"/>
          <p:nvPr/>
        </p:nvSpPr>
        <p:spPr>
          <a:xfrm>
            <a:off x="4663440" y="3886200"/>
            <a:ext cx="6766560" cy="685800"/>
          </a:xfrm>
          <a:prstGeom prst="rect">
            <a:avLst/>
          </a:prstGeom>
          <a:noFill/>
        </p:spPr>
        <p:txBody>
          <a:bodyPr wrap="square" lIns="0" rIns="0" tIns="0" bIns="0" anchor="t">
            <a:spAutoFit/>
          </a:bodyPr>
          <a:lstStyle/>
          <a:p>
            <a:pPr algn="l"/>
            <a:r>
              <a:rPr sz="1350" b="0" i="0">
                <a:solidFill>
                  <a:srgbClr val="17151A"/>
                </a:solidFill>
                <a:latin typeface="Calibri"/>
              </a:rPr>
              <a:t>Two or three interactions, each chosen because it proves something. Not a tour of the features.</a:t>
            </a:r>
          </a:p>
        </p:txBody>
      </p:sp>
      <p:sp>
        <p:nvSpPr>
          <p:cNvPr id="17" name="Oval 16"/>
          <p:cNvSpPr/>
          <p:nvPr/>
        </p:nvSpPr>
        <p:spPr>
          <a:xfrm>
            <a:off x="640080" y="4974336"/>
            <a:ext cx="402336" cy="402336"/>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8" name="TextBox 17"/>
          <p:cNvSpPr txBox="1"/>
          <p:nvPr/>
        </p:nvSpPr>
        <p:spPr>
          <a:xfrm>
            <a:off x="1234440" y="4937760"/>
            <a:ext cx="2651760" cy="292608"/>
          </a:xfrm>
          <a:prstGeom prst="rect">
            <a:avLst/>
          </a:prstGeom>
          <a:noFill/>
        </p:spPr>
        <p:txBody>
          <a:bodyPr wrap="square" lIns="0" rIns="0" tIns="0" bIns="0" anchor="t">
            <a:spAutoFit/>
          </a:bodyPr>
          <a:lstStyle/>
          <a:p>
            <a:pPr algn="l"/>
            <a:r>
              <a:rPr sz="1650" b="1" i="0">
                <a:solidFill>
                  <a:srgbClr val="BA0C2F"/>
                </a:solidFill>
                <a:latin typeface="Calibri"/>
              </a:rPr>
              <a:t>The honest part</a:t>
            </a:r>
          </a:p>
        </p:txBody>
      </p:sp>
      <p:sp>
        <p:nvSpPr>
          <p:cNvPr id="19" name="TextBox 18"/>
          <p:cNvSpPr txBox="1"/>
          <p:nvPr/>
        </p:nvSpPr>
        <p:spPr>
          <a:xfrm>
            <a:off x="3840480" y="4974336"/>
            <a:ext cx="640080" cy="256032"/>
          </a:xfrm>
          <a:prstGeom prst="rect">
            <a:avLst/>
          </a:prstGeom>
          <a:noFill/>
        </p:spPr>
        <p:txBody>
          <a:bodyPr wrap="square" lIns="0" rIns="0" tIns="0" bIns="0" anchor="t">
            <a:spAutoFit/>
          </a:bodyPr>
          <a:lstStyle/>
          <a:p>
            <a:pPr algn="l"/>
            <a:r>
              <a:rPr sz="1200" b="0" i="0">
                <a:solidFill>
                  <a:srgbClr val="54565B"/>
                </a:solidFill>
                <a:latin typeface="Consolas"/>
              </a:rPr>
              <a:t>3:30</a:t>
            </a:r>
          </a:p>
        </p:txBody>
      </p:sp>
      <p:sp>
        <p:nvSpPr>
          <p:cNvPr id="20" name="TextBox 19"/>
          <p:cNvSpPr txBox="1"/>
          <p:nvPr/>
        </p:nvSpPr>
        <p:spPr>
          <a:xfrm>
            <a:off x="4663440" y="4937760"/>
            <a:ext cx="6766560" cy="685800"/>
          </a:xfrm>
          <a:prstGeom prst="rect">
            <a:avLst/>
          </a:prstGeom>
          <a:noFill/>
        </p:spPr>
        <p:txBody>
          <a:bodyPr wrap="square" lIns="0" rIns="0" tIns="0" bIns="0" anchor="t">
            <a:spAutoFit/>
          </a:bodyPr>
          <a:lstStyle/>
          <a:p>
            <a:pPr algn="l"/>
            <a:r>
              <a:rPr sz="1350" b="0" i="0">
                <a:solidFill>
                  <a:srgbClr val="17151A"/>
                </a:solidFill>
                <a:latin typeface="Calibri"/>
              </a:rPr>
              <a:t>What it cannot do, and what you would do next. This beat earns the most credibility in the room.</a:t>
            </a:r>
          </a:p>
        </p:txBody>
      </p:sp>
      <p:sp>
        <p:nvSpPr>
          <p:cNvPr id="21" name="TextBox 20"/>
          <p:cNvSpPr txBox="1"/>
          <p:nvPr/>
        </p:nvSpPr>
        <p:spPr>
          <a:xfrm>
            <a:off x="640080" y="6035040"/>
            <a:ext cx="10789920" cy="320040"/>
          </a:xfrm>
          <a:prstGeom prst="rect">
            <a:avLst/>
          </a:prstGeom>
          <a:noFill/>
        </p:spPr>
        <p:txBody>
          <a:bodyPr wrap="square" lIns="0" rIns="0" tIns="0" bIns="0" anchor="t">
            <a:spAutoFit/>
          </a:bodyPr>
          <a:lstStyle/>
          <a:p>
            <a:pPr algn="l"/>
            <a:r>
              <a:rPr sz="1500" b="1" i="0">
                <a:solidFill>
                  <a:srgbClr val="BA0C2F"/>
                </a:solidFill>
                <a:latin typeface="Calibri"/>
              </a:rPr>
              <a:t>Beat four is what separates presenting analysis from presenting a demo.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8229600" cy="256032"/>
          </a:xfrm>
          <a:prstGeom prst="rect">
            <a:avLst/>
          </a:prstGeom>
          <a:noFill/>
        </p:spPr>
        <p:txBody>
          <a:bodyPr wrap="square" lIns="0" rIns="0" tIns="0" bIns="0" anchor="t">
            <a:spAutoFit/>
          </a:bodyPr>
          <a:lstStyle/>
          <a:p>
            <a:pPr algn="l"/>
            <a:r>
              <a:rPr sz="1100" b="1" i="0">
                <a:solidFill>
                  <a:srgbClr val="BA0C2F"/>
                </a:solidFill>
                <a:latin typeface="Calibri"/>
              </a:rPr>
              <a:t>BE READY</a:t>
            </a:r>
          </a:p>
        </p:txBody>
      </p:sp>
      <p:sp>
        <p:nvSpPr>
          <p:cNvPr id="3" name="TextBox 2"/>
          <p:cNvSpPr txBox="1"/>
          <p:nvPr/>
        </p:nvSpPr>
        <p:spPr>
          <a:xfrm>
            <a:off x="640080" y="658368"/>
            <a:ext cx="9265615" cy="777240"/>
          </a:xfrm>
          <a:prstGeom prst="rect">
            <a:avLst/>
          </a:prstGeom>
          <a:noFill/>
        </p:spPr>
        <p:txBody>
          <a:bodyPr wrap="square" lIns="0" rIns="0" tIns="0" bIns="0" anchor="t">
            <a:spAutoFit/>
          </a:bodyPr>
          <a:lstStyle/>
          <a:p>
            <a:pPr algn="l"/>
            <a:r>
              <a:rPr sz="3200" b="1" i="0">
                <a:solidFill>
                  <a:srgbClr val="17151A"/>
                </a:solidFill>
                <a:latin typeface="Cambria"/>
              </a:rPr>
              <a:t>The four questions you will get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737360"/>
            <a:ext cx="10911535" cy="91440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1892807"/>
            <a:ext cx="3931920" cy="292608"/>
          </a:xfrm>
          <a:prstGeom prst="rect">
            <a:avLst/>
          </a:prstGeom>
          <a:noFill/>
        </p:spPr>
        <p:txBody>
          <a:bodyPr wrap="square" lIns="0" rIns="0" tIns="0" bIns="0" anchor="t">
            <a:spAutoFit/>
          </a:bodyPr>
          <a:lstStyle/>
          <a:p>
            <a:pPr algn="l"/>
            <a:r>
              <a:rPr sz="1500" b="1" i="0">
                <a:solidFill>
                  <a:srgbClr val="BA0C2F"/>
                </a:solidFill>
                <a:latin typeface="Calibri"/>
              </a:rPr>
              <a:t>Where did the data come from?</a:t>
            </a:r>
          </a:p>
        </p:txBody>
      </p:sp>
      <p:sp>
        <p:nvSpPr>
          <p:cNvPr id="7" name="TextBox 6"/>
          <p:cNvSpPr txBox="1"/>
          <p:nvPr/>
        </p:nvSpPr>
        <p:spPr>
          <a:xfrm>
            <a:off x="5212080" y="1892807"/>
            <a:ext cx="6035040" cy="640080"/>
          </a:xfrm>
          <a:prstGeom prst="rect">
            <a:avLst/>
          </a:prstGeom>
          <a:noFill/>
        </p:spPr>
        <p:txBody>
          <a:bodyPr wrap="square" lIns="0" rIns="0" tIns="0" bIns="0" anchor="t">
            <a:spAutoFit/>
          </a:bodyPr>
          <a:lstStyle/>
          <a:p>
            <a:pPr algn="l"/>
            <a:r>
              <a:rPr sz="1350" b="0" i="0">
                <a:solidFill>
                  <a:srgbClr val="17151A"/>
                </a:solidFill>
                <a:latin typeface="Calibri"/>
              </a:rPr>
              <a:t>Source, extract date, row count, and what you cleaned. Point at your cleaning log. That ends the questioning.</a:t>
            </a:r>
          </a:p>
        </p:txBody>
      </p:sp>
      <p:sp>
        <p:nvSpPr>
          <p:cNvPr id="8" name="Rounded Rectangle 7"/>
          <p:cNvSpPr/>
          <p:nvPr/>
        </p:nvSpPr>
        <p:spPr>
          <a:xfrm>
            <a:off x="640080" y="2770632"/>
            <a:ext cx="10911535" cy="9144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2926079"/>
            <a:ext cx="3931920" cy="292608"/>
          </a:xfrm>
          <a:prstGeom prst="rect">
            <a:avLst/>
          </a:prstGeom>
          <a:noFill/>
        </p:spPr>
        <p:txBody>
          <a:bodyPr wrap="square" lIns="0" rIns="0" tIns="0" bIns="0" anchor="t">
            <a:spAutoFit/>
          </a:bodyPr>
          <a:lstStyle/>
          <a:p>
            <a:pPr algn="l"/>
            <a:r>
              <a:rPr sz="1500" b="1" i="0">
                <a:solidFill>
                  <a:srgbClr val="BA0C2F"/>
                </a:solidFill>
                <a:latin typeface="Calibri"/>
              </a:rPr>
              <a:t>How confident are you?</a:t>
            </a:r>
          </a:p>
        </p:txBody>
      </p:sp>
      <p:sp>
        <p:nvSpPr>
          <p:cNvPr id="10" name="TextBox 9"/>
          <p:cNvSpPr txBox="1"/>
          <p:nvPr/>
        </p:nvSpPr>
        <p:spPr>
          <a:xfrm>
            <a:off x="5212080" y="2926079"/>
            <a:ext cx="6035040" cy="640080"/>
          </a:xfrm>
          <a:prstGeom prst="rect">
            <a:avLst/>
          </a:prstGeom>
          <a:noFill/>
        </p:spPr>
        <p:txBody>
          <a:bodyPr wrap="square" lIns="0" rIns="0" tIns="0" bIns="0" anchor="t">
            <a:spAutoFit/>
          </a:bodyPr>
          <a:lstStyle/>
          <a:p>
            <a:pPr algn="l"/>
            <a:r>
              <a:rPr sz="1350" b="0" i="0">
                <a:solidFill>
                  <a:srgbClr val="17151A"/>
                </a:solidFill>
                <a:latin typeface="Calibri"/>
              </a:rPr>
              <a:t>The interval, the backtest, or the validation, in one sentence. Never answer this with “very.”</a:t>
            </a:r>
          </a:p>
        </p:txBody>
      </p:sp>
      <p:sp>
        <p:nvSpPr>
          <p:cNvPr id="11" name="Rounded Rectangle 10"/>
          <p:cNvSpPr/>
          <p:nvPr/>
        </p:nvSpPr>
        <p:spPr>
          <a:xfrm>
            <a:off x="640080" y="3803904"/>
            <a:ext cx="10911535" cy="91440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3959352"/>
            <a:ext cx="3931920" cy="292608"/>
          </a:xfrm>
          <a:prstGeom prst="rect">
            <a:avLst/>
          </a:prstGeom>
          <a:noFill/>
        </p:spPr>
        <p:txBody>
          <a:bodyPr wrap="square" lIns="0" rIns="0" tIns="0" bIns="0" anchor="t">
            <a:spAutoFit/>
          </a:bodyPr>
          <a:lstStyle/>
          <a:p>
            <a:pPr algn="l"/>
            <a:r>
              <a:rPr sz="1500" b="1" i="0">
                <a:solidFill>
                  <a:srgbClr val="BA0C2F"/>
                </a:solidFill>
                <a:latin typeface="Calibri"/>
              </a:rPr>
              <a:t>What if that assumption is wrong?</a:t>
            </a:r>
          </a:p>
        </p:txBody>
      </p:sp>
      <p:sp>
        <p:nvSpPr>
          <p:cNvPr id="13" name="TextBox 12"/>
          <p:cNvSpPr txBox="1"/>
          <p:nvPr/>
        </p:nvSpPr>
        <p:spPr>
          <a:xfrm>
            <a:off x="5212080" y="3959352"/>
            <a:ext cx="6035040" cy="640080"/>
          </a:xfrm>
          <a:prstGeom prst="rect">
            <a:avLst/>
          </a:prstGeom>
          <a:noFill/>
        </p:spPr>
        <p:txBody>
          <a:bodyPr wrap="square" lIns="0" rIns="0" tIns="0" bIns="0" anchor="t">
            <a:spAutoFit/>
          </a:bodyPr>
          <a:lstStyle/>
          <a:p>
            <a:pPr algn="l"/>
            <a:r>
              <a:rPr sz="1350" b="0" i="0">
                <a:solidFill>
                  <a:srgbClr val="17151A"/>
                </a:solidFill>
                <a:latin typeface="Calibri"/>
              </a:rPr>
              <a:t>Your sensitivity analysis. Know your break-even number.</a:t>
            </a:r>
          </a:p>
        </p:txBody>
      </p:sp>
      <p:sp>
        <p:nvSpPr>
          <p:cNvPr id="14" name="Rounded Rectangle 13"/>
          <p:cNvSpPr/>
          <p:nvPr/>
        </p:nvSpPr>
        <p:spPr>
          <a:xfrm>
            <a:off x="640080" y="4837176"/>
            <a:ext cx="10911535" cy="9144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7" y="4992624"/>
            <a:ext cx="3931920" cy="292608"/>
          </a:xfrm>
          <a:prstGeom prst="rect">
            <a:avLst/>
          </a:prstGeom>
          <a:noFill/>
        </p:spPr>
        <p:txBody>
          <a:bodyPr wrap="square" lIns="0" rIns="0" tIns="0" bIns="0" anchor="t">
            <a:spAutoFit/>
          </a:bodyPr>
          <a:lstStyle/>
          <a:p>
            <a:pPr algn="l"/>
            <a:r>
              <a:rPr sz="1500" b="1" i="0">
                <a:solidFill>
                  <a:srgbClr val="BA0C2F"/>
                </a:solidFill>
                <a:latin typeface="Calibri"/>
              </a:rPr>
              <a:t>Can we also see X?</a:t>
            </a:r>
          </a:p>
        </p:txBody>
      </p:sp>
      <p:sp>
        <p:nvSpPr>
          <p:cNvPr id="16" name="TextBox 15"/>
          <p:cNvSpPr txBox="1"/>
          <p:nvPr/>
        </p:nvSpPr>
        <p:spPr>
          <a:xfrm>
            <a:off x="5212080" y="4992624"/>
            <a:ext cx="6035040" cy="640080"/>
          </a:xfrm>
          <a:prstGeom prst="rect">
            <a:avLst/>
          </a:prstGeom>
          <a:noFill/>
        </p:spPr>
        <p:txBody>
          <a:bodyPr wrap="square" lIns="0" rIns="0" tIns="0" bIns="0" anchor="t">
            <a:spAutoFit/>
          </a:bodyPr>
          <a:lstStyle/>
          <a:p>
            <a:pPr algn="l"/>
            <a:r>
              <a:rPr sz="1350" b="0" i="0">
                <a:solidFill>
                  <a:srgbClr val="17151A"/>
                </a:solidFill>
                <a:latin typeface="Calibri"/>
              </a:rPr>
              <a:t>Know whether the data supports it. “Not with this data, and here is what we would need” is a strong answer.</a:t>
            </a:r>
          </a:p>
        </p:txBody>
      </p:sp>
      <p:sp>
        <p:nvSpPr>
          <p:cNvPr id="17" name="Rounded Rectangle 16"/>
          <p:cNvSpPr/>
          <p:nvPr/>
        </p:nvSpPr>
        <p:spPr>
          <a:xfrm>
            <a:off x="640080" y="5943600"/>
            <a:ext cx="10911535" cy="475488"/>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7" y="6062472"/>
            <a:ext cx="10241280" cy="292608"/>
          </a:xfrm>
          <a:prstGeom prst="rect">
            <a:avLst/>
          </a:prstGeom>
          <a:noFill/>
        </p:spPr>
        <p:txBody>
          <a:bodyPr wrap="square" lIns="0" rIns="0" tIns="0" bIns="0" anchor="t">
            <a:spAutoFit/>
          </a:bodyPr>
          <a:lstStyle/>
          <a:p>
            <a:pPr algn="l"/>
            <a:r>
              <a:rPr sz="1400" b="1" i="0">
                <a:solidFill>
                  <a:srgbClr val="17151A"/>
                </a:solidFill>
                <a:latin typeface="Calibri"/>
              </a:rPr>
              <a:t>And find the hostile question yourself, before the room does. Prepare a real answer, not a deflection.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80160"/>
            <a:ext cx="10058400" cy="777240"/>
          </a:xfrm>
          <a:prstGeom prst="rect">
            <a:avLst/>
          </a:prstGeom>
          <a:noFill/>
        </p:spPr>
        <p:txBody>
          <a:bodyPr wrap="square" lIns="0" rIns="0" tIns="0" bIns="0" anchor="t">
            <a:spAutoFit/>
          </a:bodyPr>
          <a:lstStyle/>
          <a:p>
            <a:pPr algn="l"/>
            <a:r>
              <a:rPr sz="4000" b="1" i="0">
                <a:solidFill>
                  <a:srgbClr val="FFFFFF"/>
                </a:solidFill>
                <a:latin typeface="Cambria"/>
              </a:rPr>
              <a:t>What to take back to work</a:t>
            </a:r>
          </a:p>
        </p:txBody>
      </p:sp>
      <p:sp>
        <p:nvSpPr>
          <p:cNvPr id="4" name="Oval 3"/>
          <p:cNvSpPr/>
          <p:nvPr/>
        </p:nvSpPr>
        <p:spPr>
          <a:xfrm>
            <a:off x="640080" y="228600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1</a:t>
            </a:r>
          </a:p>
        </p:txBody>
      </p:sp>
      <p:sp>
        <p:nvSpPr>
          <p:cNvPr id="5" name="TextBox 4"/>
          <p:cNvSpPr txBox="1"/>
          <p:nvPr/>
        </p:nvSpPr>
        <p:spPr>
          <a:xfrm>
            <a:off x="1261872" y="2295144"/>
            <a:ext cx="5669280" cy="329184"/>
          </a:xfrm>
          <a:prstGeom prst="rect">
            <a:avLst/>
          </a:prstGeom>
          <a:noFill/>
        </p:spPr>
        <p:txBody>
          <a:bodyPr wrap="square" lIns="0" rIns="0" tIns="0" bIns="0" anchor="t">
            <a:spAutoFit/>
          </a:bodyPr>
          <a:lstStyle/>
          <a:p>
            <a:pPr algn="l"/>
            <a:r>
              <a:rPr sz="1800" b="1" i="0">
                <a:solidFill>
                  <a:srgbClr val="FFFFFF"/>
                </a:solidFill>
                <a:latin typeface="Calibri"/>
              </a:rPr>
              <a:t>Start from the decision, not the data</a:t>
            </a:r>
          </a:p>
        </p:txBody>
      </p:sp>
      <p:sp>
        <p:nvSpPr>
          <p:cNvPr id="6" name="TextBox 5"/>
          <p:cNvSpPr txBox="1"/>
          <p:nvPr/>
        </p:nvSpPr>
        <p:spPr>
          <a:xfrm>
            <a:off x="7040880" y="2331720"/>
            <a:ext cx="4480560" cy="365760"/>
          </a:xfrm>
          <a:prstGeom prst="rect">
            <a:avLst/>
          </a:prstGeom>
          <a:noFill/>
        </p:spPr>
        <p:txBody>
          <a:bodyPr wrap="square" lIns="0" rIns="0" tIns="0" bIns="0" anchor="t">
            <a:spAutoFit/>
          </a:bodyPr>
          <a:lstStyle/>
          <a:p>
            <a:pPr algn="l"/>
            <a:r>
              <a:rPr sz="1350" b="0" i="0">
                <a:solidFill>
                  <a:srgbClr val="D5D2C5"/>
                </a:solidFill>
                <a:latin typeface="Calibri"/>
              </a:rPr>
              <a:t>The habit that makes everything else worth doing.</a:t>
            </a:r>
          </a:p>
        </p:txBody>
      </p:sp>
      <p:sp>
        <p:nvSpPr>
          <p:cNvPr id="7" name="Oval 6"/>
          <p:cNvSpPr/>
          <p:nvPr/>
        </p:nvSpPr>
        <p:spPr>
          <a:xfrm>
            <a:off x="640080" y="306324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2</a:t>
            </a:r>
          </a:p>
        </p:txBody>
      </p:sp>
      <p:sp>
        <p:nvSpPr>
          <p:cNvPr id="8" name="TextBox 7"/>
          <p:cNvSpPr txBox="1"/>
          <p:nvPr/>
        </p:nvSpPr>
        <p:spPr>
          <a:xfrm>
            <a:off x="1261872" y="3072384"/>
            <a:ext cx="5669280" cy="329184"/>
          </a:xfrm>
          <a:prstGeom prst="rect">
            <a:avLst/>
          </a:prstGeom>
          <a:noFill/>
        </p:spPr>
        <p:txBody>
          <a:bodyPr wrap="square" lIns="0" rIns="0" tIns="0" bIns="0" anchor="t">
            <a:spAutoFit/>
          </a:bodyPr>
          <a:lstStyle/>
          <a:p>
            <a:pPr algn="l"/>
            <a:r>
              <a:rPr sz="1800" b="1" i="0">
                <a:solidFill>
                  <a:srgbClr val="FFFFFF"/>
                </a:solidFill>
                <a:latin typeface="Calibri"/>
              </a:rPr>
              <a:t>Show the range, always</a:t>
            </a:r>
          </a:p>
        </p:txBody>
      </p:sp>
      <p:sp>
        <p:nvSpPr>
          <p:cNvPr id="9" name="TextBox 8"/>
          <p:cNvSpPr txBox="1"/>
          <p:nvPr/>
        </p:nvSpPr>
        <p:spPr>
          <a:xfrm>
            <a:off x="7040880" y="3108960"/>
            <a:ext cx="4480560" cy="365760"/>
          </a:xfrm>
          <a:prstGeom prst="rect">
            <a:avLst/>
          </a:prstGeom>
          <a:noFill/>
        </p:spPr>
        <p:txBody>
          <a:bodyPr wrap="square" lIns="0" rIns="0" tIns="0" bIns="0" anchor="t">
            <a:spAutoFit/>
          </a:bodyPr>
          <a:lstStyle/>
          <a:p>
            <a:pPr algn="l"/>
            <a:r>
              <a:rPr sz="1350" b="0" i="0">
                <a:solidFill>
                  <a:srgbClr val="D5D2C5"/>
                </a:solidFill>
                <a:latin typeface="Calibri"/>
              </a:rPr>
              <a:t>The width of it is the finding, not a hedge.</a:t>
            </a:r>
          </a:p>
        </p:txBody>
      </p:sp>
      <p:sp>
        <p:nvSpPr>
          <p:cNvPr id="10" name="Oval 9"/>
          <p:cNvSpPr/>
          <p:nvPr/>
        </p:nvSpPr>
        <p:spPr>
          <a:xfrm>
            <a:off x="640080" y="384048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3</a:t>
            </a:r>
          </a:p>
        </p:txBody>
      </p:sp>
      <p:sp>
        <p:nvSpPr>
          <p:cNvPr id="11" name="TextBox 10"/>
          <p:cNvSpPr txBox="1"/>
          <p:nvPr/>
        </p:nvSpPr>
        <p:spPr>
          <a:xfrm>
            <a:off x="1261872" y="3849624"/>
            <a:ext cx="5669280" cy="329184"/>
          </a:xfrm>
          <a:prstGeom prst="rect">
            <a:avLst/>
          </a:prstGeom>
          <a:noFill/>
        </p:spPr>
        <p:txBody>
          <a:bodyPr wrap="square" lIns="0" rIns="0" tIns="0" bIns="0" anchor="t">
            <a:spAutoFit/>
          </a:bodyPr>
          <a:lstStyle/>
          <a:p>
            <a:pPr algn="l"/>
            <a:r>
              <a:rPr sz="1800" b="1" i="0">
                <a:solidFill>
                  <a:srgbClr val="FFFFFF"/>
                </a:solidFill>
                <a:latin typeface="Calibri"/>
              </a:rPr>
              <a:t>Log what you changed and why</a:t>
            </a:r>
          </a:p>
        </p:txBody>
      </p:sp>
      <p:sp>
        <p:nvSpPr>
          <p:cNvPr id="12" name="TextBox 11"/>
          <p:cNvSpPr txBox="1"/>
          <p:nvPr/>
        </p:nvSpPr>
        <p:spPr>
          <a:xfrm>
            <a:off x="7040880" y="3886200"/>
            <a:ext cx="4480560" cy="365760"/>
          </a:xfrm>
          <a:prstGeom prst="rect">
            <a:avLst/>
          </a:prstGeom>
          <a:noFill/>
        </p:spPr>
        <p:txBody>
          <a:bodyPr wrap="square" lIns="0" rIns="0" tIns="0" bIns="0" anchor="t">
            <a:spAutoFit/>
          </a:bodyPr>
          <a:lstStyle/>
          <a:p>
            <a:pPr algn="l"/>
            <a:r>
              <a:rPr sz="1350" b="0" i="0">
                <a:solidFill>
                  <a:srgbClr val="D5D2C5"/>
                </a:solidFill>
                <a:latin typeface="Calibri"/>
              </a:rPr>
              <a:t>It is what you pull up when someone challenges a number.</a:t>
            </a:r>
          </a:p>
        </p:txBody>
      </p:sp>
      <p:sp>
        <p:nvSpPr>
          <p:cNvPr id="13" name="Oval 12"/>
          <p:cNvSpPr/>
          <p:nvPr/>
        </p:nvSpPr>
        <p:spPr>
          <a:xfrm>
            <a:off x="640080" y="461772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BA0C2F"/>
                </a:solidFill>
                <a:latin typeface="Calibri"/>
              </a:rPr>
              <a:t>4</a:t>
            </a:r>
          </a:p>
        </p:txBody>
      </p:sp>
      <p:sp>
        <p:nvSpPr>
          <p:cNvPr id="14" name="TextBox 13"/>
          <p:cNvSpPr txBox="1"/>
          <p:nvPr/>
        </p:nvSpPr>
        <p:spPr>
          <a:xfrm>
            <a:off x="1261872" y="4626864"/>
            <a:ext cx="5669280" cy="329184"/>
          </a:xfrm>
          <a:prstGeom prst="rect">
            <a:avLst/>
          </a:prstGeom>
          <a:noFill/>
        </p:spPr>
        <p:txBody>
          <a:bodyPr wrap="square" lIns="0" rIns="0" tIns="0" bIns="0" anchor="t">
            <a:spAutoFit/>
          </a:bodyPr>
          <a:lstStyle/>
          <a:p>
            <a:pPr algn="l"/>
            <a:r>
              <a:rPr sz="1800" b="1" i="0">
                <a:solidFill>
                  <a:srgbClr val="FFFFFF"/>
                </a:solidFill>
                <a:latin typeface="Calibri"/>
              </a:rPr>
              <a:t>Say what you could not determine</a:t>
            </a:r>
          </a:p>
        </p:txBody>
      </p:sp>
      <p:sp>
        <p:nvSpPr>
          <p:cNvPr id="15" name="TextBox 14"/>
          <p:cNvSpPr txBox="1"/>
          <p:nvPr/>
        </p:nvSpPr>
        <p:spPr>
          <a:xfrm>
            <a:off x="7040880" y="4663440"/>
            <a:ext cx="4480560" cy="365760"/>
          </a:xfrm>
          <a:prstGeom prst="rect">
            <a:avLst/>
          </a:prstGeom>
          <a:noFill/>
        </p:spPr>
        <p:txBody>
          <a:bodyPr wrap="square" lIns="0" rIns="0" tIns="0" bIns="0" anchor="t">
            <a:spAutoFit/>
          </a:bodyPr>
          <a:lstStyle/>
          <a:p>
            <a:pPr algn="l"/>
            <a:r>
              <a:rPr sz="1350" b="0" i="0">
                <a:solidFill>
                  <a:srgbClr val="D5D2C5"/>
                </a:solidFill>
                <a:latin typeface="Calibri"/>
              </a:rPr>
              <a:t>It makes you more persuasive, not less.</a:t>
            </a:r>
          </a:p>
        </p:txBody>
      </p:sp>
      <p:sp>
        <p:nvSpPr>
          <p:cNvPr id="16" name="Rectangle 15"/>
          <p:cNvSpPr/>
          <p:nvPr/>
        </p:nvSpPr>
        <p:spPr>
          <a:xfrm>
            <a:off x="640080" y="562356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897880"/>
            <a:ext cx="10789920" cy="320040"/>
          </a:xfrm>
          <a:prstGeom prst="rect">
            <a:avLst/>
          </a:prstGeom>
          <a:noFill/>
        </p:spPr>
        <p:txBody>
          <a:bodyPr wrap="square" lIns="0" rIns="0" tIns="0" bIns="0" anchor="t">
            <a:spAutoFit/>
          </a:bodyPr>
          <a:lstStyle/>
          <a:p>
            <a:pPr algn="l"/>
            <a:r>
              <a:rPr sz="1400" b="1" i="0">
                <a:solidFill>
                  <a:srgbClr val="FFFFFF"/>
                </a:solidFill>
                <a:latin typeface="Calibri"/>
              </a:rPr>
              <a:t>The workspace is yours to keep:  github.com/data-love-co/info4610-analytics-os</a:t>
            </a:r>
          </a:p>
        </p:txBody>
      </p:sp>
      <p:sp>
        <p:nvSpPr>
          <p:cNvPr id="18" name="TextBox 17"/>
          <p:cNvSpPr txBox="1"/>
          <p:nvPr/>
        </p:nvSpPr>
        <p:spPr>
          <a:xfrm>
            <a:off x="640080" y="6217920"/>
            <a:ext cx="10789920" cy="292608"/>
          </a:xfrm>
          <a:prstGeom prst="rect">
            <a:avLst/>
          </a:prstGeom>
          <a:noFill/>
        </p:spPr>
        <p:txBody>
          <a:bodyPr wrap="square" lIns="0" rIns="0" tIns="0" bIns="0" anchor="t">
            <a:spAutoFit/>
          </a:bodyPr>
          <a:lstStyle/>
          <a:p>
            <a:pPr algn="l"/>
            <a:r>
              <a:rPr sz="1300" b="0" i="0">
                <a:solidFill>
                  <a:srgbClr val="D5D2C5"/>
                </a:solidFill>
                <a:latin typeface="Calibri"/>
              </a:rPr>
              <a:t>Student guide:  data-love-co.github.io/info4610-analytics-os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